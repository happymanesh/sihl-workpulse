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20-minute walk-through of workPulse for everyone at SIHL. It is not a technical session. By the end you should know what it is, where to find it, what it asks of you, and what it gives back. Keep questions to the end — there is a Q&amp;A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how many places did you look this morning to work out what you owe someone today? This is not a criticism of anyone — it is how the company grew. But we are preparing for listing, and 'ask each department' does not survive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idea in one sentence. Everything else in this deck is detail hanging off it. Note 'one owner' — shared ownership is how things fall between people, so the system will not let you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stressing: this is not another system with another password. IT does not maintain a second list of users. Your Synapse account is the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desk card is the piece people find unfamiliar, so spend time here. It is not a job description for HR — it is an operating list. Your manager drafts it with you; you both agree it. It is also the honest basis for saying 'I am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promise here matters. Adoption dies when a tracking tool costs more time than it saves. Invite people to hold us to that last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blocked-clock rule is the single most reassuring thing for staff. People are afraid of being marked late for something that was never in their hands. It is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care about this slide for opposite reasons. Staff want to know their open work will not simply be closed or dumped on a colleague without a conversation — it is transferred to a named, active person. Managers and HR want to know the exit cannot quietly complete with a vacant desk card or an unapproved decision hanging. Both are true. The next slide covers internal moves: the same list, with different rules, and that is where handovers actually go wrong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managers should care most about, because internal moves are where handovers actually go wrong today — a resignation at least has a last working day forcing the issue, while a move across the floor has nothing. Two points to land: first, you do NOT lose your project roles by changing department, which is the fear people have; second, the move is not complete in the system until both managers have signed, so there is no window where nobody owns the work. A role change within the same department works the same way, with one manager instead of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Every work-tracking rollout that fails, fails here. Read the last line out loud. Then pause and take the question that is definitely coming.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audiences, one slide each. Tell people they only need to pay close attention to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slide: For everyone. If this is not your audience, move quickly — but read the lead lines aloud, because people care most about what the other functions can see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slide: For managers and department heads. If this is not your audience, move quickly — but read the lead lines aloud, because people care most about what the other functions can see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slide: For product and project heads. If this is not your audience, move quickly — but read the lead lines aloud, because people care most about what the other functions can see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slide: For HR. If this is not your audience, move quickly — but read the lead lines aloud, because people care most about what the other functions can see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slide: For the CEO and CXOs. If this is not your audience, move quickly — but read the lead lines aloud, because people care most about what the other functions can see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slide: For compliance and audit. If this is not your audience, move quickly — but read the lead lines aloud, because people care most about what the other functions can see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fear out loud before anyone has to raise their hand. A rollout that pretends this question does not exist gets it asked in the corridor instead, where you cannot answer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Protection 2 is the one people find hardest to believe, so give an example: if the system flags a task as closed without evidence, that task leaves your totals completely — it is not counted as a failure — until a department head or audit decides what it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no-score point is worth dwelling on because it is unusual and it is genuine — the software has no function that computes one, and a test fails the build if somebody adds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dates: the platform is ready; the sequencing depends on desk cards being written, which is the part that needs managers' time. Commit to a pilot date, not to a full rollout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with managers here. If desk cards are not written properly, the recurring work does not generate, and the whole thing degrades into a to-do list. Forty minutes per person, once, is the real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that come up every time. If a seventh comes up in your session, send it to us — we will add it and reissue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repeating the fairness route: if anyone thinks a figure about them is unfair, they go to HR or audit, not only to their manager. Saying that from the stage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F3C"/>
        </a:solidFill>
      </p:bgPr>
    </p:bg>
    <p:spTree>
      <p:nvGrpSpPr>
        <p:cNvPr id="1" name=""/>
        <p:cNvGrpSpPr/>
        <p:nvPr/>
      </p:nvGrpSpPr>
      <p:grpSpPr>
        <a:xfrm>
          <a:off x="0" y="0"/>
          <a:ext cx="0" cy="0"/>
          <a:chOff x="0" y="0"/>
          <a:chExt cx="0" cy="0"/>
        </a:xfrm>
      </p:grpSpPr>
      <p:sp>
        <p:nvSpPr>
          <p:cNvPr id="2" name="Shape 0"/>
          <p:cNvSpPr/>
          <p:nvPr/>
        </p:nvSpPr>
        <p:spPr>
          <a:xfrm>
            <a:off x="8595360" y="-1371600"/>
            <a:ext cx="5852160" cy="5852160"/>
          </a:xfrm>
          <a:prstGeom prst="ellipse">
            <a:avLst/>
          </a:prstGeom>
          <a:solidFill>
            <a:srgbClr val="16455A"/>
          </a:solidFill>
          <a:ln w="12700">
            <a:solidFill>
              <a:srgbClr val="16455A"/>
            </a:solidFill>
            <a:prstDash val="solid"/>
          </a:ln>
        </p:spPr>
      </p:sp>
      <p:sp>
        <p:nvSpPr>
          <p:cNvPr id="3" name="Shape 1"/>
          <p:cNvSpPr/>
          <p:nvPr/>
        </p:nvSpPr>
        <p:spPr>
          <a:xfrm>
            <a:off x="10149840" y="3291840"/>
            <a:ext cx="3291840" cy="3291840"/>
          </a:xfrm>
          <a:prstGeom prst="ellipse">
            <a:avLst/>
          </a:prstGeom>
          <a:solidFill>
            <a:srgbClr val="133D4E"/>
          </a:solidFill>
          <a:ln w="12700">
            <a:solidFill>
              <a:srgbClr val="133D4E"/>
            </a:solidFill>
            <a:prstDash val="solid"/>
          </a:ln>
        </p:spPr>
      </p:sp>
      <p:sp>
        <p:nvSpPr>
          <p:cNvPr id="4" name="Text 2"/>
          <p:cNvSpPr txBox="1"/>
          <p:nvPr/>
        </p:nvSpPr>
        <p:spPr>
          <a:xfrm>
            <a:off x="640080" y="1371600"/>
            <a:ext cx="7315200" cy="274320"/>
          </a:xfrm>
          <a:prstGeom prst="rect">
            <a:avLst/>
          </a:prstGeom>
          <a:noFill/>
          <a:ln/>
        </p:spPr>
        <p:txBody>
          <a:bodyPr wrap="square" lIns="0" tIns="0" rIns="0" bIns="0" rtlCol="0" anchor="ctr"/>
          <a:lstStyle/>
          <a:p>
            <a:pPr indent="0" marL="0">
              <a:buNone/>
            </a:pPr>
            <a:r>
              <a:rPr lang="en-US" sz="1150" b="1" spc="240" kern="0" dirty="0">
                <a:solidFill>
                  <a:srgbClr val="A9C3CC"/>
                </a:solidFill>
                <a:latin typeface="Calibri" pitchFamily="34" charset="0"/>
                <a:ea typeface="Calibri" pitchFamily="34" charset="-122"/>
                <a:cs typeface="Calibri" pitchFamily="34" charset="-120"/>
              </a:rPr>
              <a:t>SHAH INVESTORS HOME LIMITED</a:t>
            </a:r>
            <a:endParaRPr lang="en-US" sz="1150" dirty="0"/>
          </a:p>
        </p:txBody>
      </p:sp>
      <p:sp>
        <p:nvSpPr>
          <p:cNvPr id="5" name="Text 3"/>
          <p:cNvSpPr txBox="1"/>
          <p:nvPr/>
        </p:nvSpPr>
        <p:spPr>
          <a:xfrm>
            <a:off x="640080" y="1783080"/>
            <a:ext cx="7680960" cy="10515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workPulse</a:t>
            </a:r>
            <a:endParaRPr lang="en-US" sz="6000" dirty="0"/>
          </a:p>
        </p:txBody>
      </p:sp>
      <p:sp>
        <p:nvSpPr>
          <p:cNvPr id="6" name="Text 4"/>
          <p:cNvSpPr txBox="1"/>
          <p:nvPr/>
        </p:nvSpPr>
        <p:spPr>
          <a:xfrm>
            <a:off x="640080" y="2880360"/>
            <a:ext cx="7315200" cy="502920"/>
          </a:xfrm>
          <a:prstGeom prst="rect">
            <a:avLst/>
          </a:prstGeom>
          <a:noFill/>
          <a:ln/>
        </p:spPr>
        <p:txBody>
          <a:bodyPr wrap="square" lIns="0" tIns="0" rIns="0" bIns="0" rtlCol="0" anchor="ctr"/>
          <a:lstStyle/>
          <a:p>
            <a:pPr indent="0" marL="0">
              <a:buNone/>
            </a:pPr>
            <a:r>
              <a:rPr lang="en-US" sz="2200" i="1" dirty="0">
                <a:solidFill>
                  <a:srgbClr val="D9822B"/>
                </a:solidFill>
                <a:latin typeface="Cambria" pitchFamily="34" charset="0"/>
                <a:ea typeface="Cambria" pitchFamily="34" charset="-122"/>
                <a:cs typeface="Cambria" pitchFamily="34" charset="-120"/>
              </a:rPr>
              <a:t>One place for everything we are working on.</a:t>
            </a:r>
            <a:endParaRPr lang="en-US" sz="2200" dirty="0"/>
          </a:p>
        </p:txBody>
      </p:sp>
      <p:sp>
        <p:nvSpPr>
          <p:cNvPr id="7" name="Text 5"/>
          <p:cNvSpPr txBox="1"/>
          <p:nvPr/>
        </p:nvSpPr>
        <p:spPr>
          <a:xfrm>
            <a:off x="640080" y="3611880"/>
            <a:ext cx="6949440" cy="822960"/>
          </a:xfrm>
          <a:prstGeom prst="rect">
            <a:avLst/>
          </a:prstGeom>
          <a:noFill/>
          <a:ln/>
        </p:spPr>
        <p:txBody>
          <a:bodyPr wrap="square" lIns="0" tIns="0" rIns="0" bIns="0" rtlCol="0" anchor="ctr"/>
          <a:lstStyle/>
          <a:p>
            <a:pPr indent="0" marL="0">
              <a:lnSpc>
                <a:spcPct val="125000"/>
              </a:lnSpc>
              <a:buNone/>
            </a:pPr>
            <a:r>
              <a:rPr lang="en-US" sz="1500" dirty="0">
                <a:solidFill>
                  <a:srgbClr val="A9C3CC"/>
                </a:solidFill>
                <a:latin typeface="Calibri" pitchFamily="34" charset="0"/>
                <a:ea typeface="Calibri" pitchFamily="34" charset="-122"/>
                <a:cs typeface="Calibri" pitchFamily="34" charset="-120"/>
              </a:rPr>
              <a:t>A briefing for everyone at SIHL — what it is, how it works,</a:t>
            </a:r>
            <a:endParaRPr lang="en-US" sz="1500" dirty="0"/>
          </a:p>
          <a:p>
            <a:pPr indent="0" marL="0">
              <a:lnSpc>
                <a:spcPct val="125000"/>
              </a:lnSpc>
              <a:buNone/>
            </a:pPr>
            <a:r>
              <a:rPr lang="en-US" sz="1500" dirty="0">
                <a:solidFill>
                  <a:srgbClr val="A9C3CC"/>
                </a:solidFill>
                <a:latin typeface="Calibri" pitchFamily="34" charset="0"/>
                <a:ea typeface="Calibri" pitchFamily="34" charset="-122"/>
                <a:cs typeface="Calibri" pitchFamily="34" charset="-120"/>
              </a:rPr>
              <a:t>and what it does for you.</a:t>
            </a:r>
            <a:endParaRPr lang="en-US" sz="1500" dirty="0"/>
          </a:p>
        </p:txBody>
      </p:sp>
      <p:sp>
        <p:nvSpPr>
          <p:cNvPr id="8" name="Shape 6"/>
          <p:cNvSpPr/>
          <p:nvPr/>
        </p:nvSpPr>
        <p:spPr>
          <a:xfrm>
            <a:off x="640080" y="4709160"/>
            <a:ext cx="1920240" cy="18288"/>
          </a:xfrm>
          <a:prstGeom prst="rect">
            <a:avLst/>
          </a:prstGeom>
          <a:solidFill>
            <a:srgbClr val="2A5A6E"/>
          </a:solidFill>
          <a:ln w="12700">
            <a:solidFill>
              <a:srgbClr val="2A5A6E"/>
            </a:solidFill>
            <a:prstDash val="solid"/>
          </a:ln>
        </p:spPr>
      </p:sp>
      <p:sp>
        <p:nvSpPr>
          <p:cNvPr id="9" name="Text 7"/>
          <p:cNvSpPr txBox="1"/>
          <p:nvPr/>
        </p:nvSpPr>
        <p:spPr>
          <a:xfrm>
            <a:off x="640080" y="4937760"/>
            <a:ext cx="6400800" cy="274320"/>
          </a:xfrm>
          <a:prstGeom prst="rect">
            <a:avLst/>
          </a:prstGeom>
          <a:noFill/>
          <a:ln/>
        </p:spPr>
        <p:txBody>
          <a:bodyPr wrap="square" lIns="0" tIns="0" rIns="0" bIns="0" rtlCol="0" anchor="ctr"/>
          <a:lstStyle/>
          <a:p>
            <a:pPr indent="0" marL="0">
              <a:buNone/>
            </a:pPr>
            <a:r>
              <a:rPr lang="en-US" sz="1200" dirty="0">
                <a:solidFill>
                  <a:srgbClr val="A9C3CC"/>
                </a:solidFill>
                <a:latin typeface="Calibri" pitchFamily="34" charset="0"/>
                <a:ea typeface="Calibri" pitchFamily="34" charset="-122"/>
                <a:cs typeface="Calibri" pitchFamily="34" charset="-120"/>
              </a:rPr>
              <a:t>Prepared by the Product &amp; AI Office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WHY WE ARE DOING THIS</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Right now, our work lives in six different places</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None of them talk to each other, and none of them remember.</a:t>
            </a:r>
            <a:endParaRPr lang="en-US" sz="1500" dirty="0"/>
          </a:p>
        </p:txBody>
      </p:sp>
      <p:sp>
        <p:nvSpPr>
          <p:cNvPr id="5" name="Shape 3"/>
          <p:cNvSpPr/>
          <p:nvPr/>
        </p:nvSpPr>
        <p:spPr>
          <a:xfrm>
            <a:off x="640080" y="2148840"/>
            <a:ext cx="3429000" cy="1371600"/>
          </a:xfrm>
          <a:prstGeom prst="roundRect">
            <a:avLst>
              <a:gd name="adj" fmla="val 5333"/>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6" name="Shape 4"/>
          <p:cNvSpPr/>
          <p:nvPr/>
        </p:nvSpPr>
        <p:spPr>
          <a:xfrm>
            <a:off x="896112" y="2441448"/>
            <a:ext cx="475488" cy="475488"/>
          </a:xfrm>
          <a:prstGeom prst="ellipse">
            <a:avLst/>
          </a:prstGeom>
          <a:solidFill>
            <a:srgbClr val="E3EFF2"/>
          </a:solidFill>
          <a:ln w="12700">
            <a:solidFill>
              <a:srgbClr val="E3EFF2"/>
            </a:solidFill>
            <a:prstDash val="solid"/>
          </a:ln>
        </p:spPr>
      </p:sp>
      <p:pic>
        <p:nvPicPr>
          <p:cNvPr id="7" name="Image 0" descr="preencoded.png">    </p:cNvPr>
          <p:cNvPicPr>
            <a:picLocks noChangeAspect="1"/>
          </p:cNvPicPr>
          <p:nvPr/>
        </p:nvPicPr>
        <p:blipFill>
          <a:blip r:embed="rId1"/>
          <a:stretch>
            <a:fillRect/>
          </a:stretch>
        </p:blipFill>
        <p:spPr>
          <a:xfrm>
            <a:off x="967435" y="2508016"/>
            <a:ext cx="342351" cy="342351"/>
          </a:xfrm>
          <a:prstGeom prst="rect">
            <a:avLst/>
          </a:prstGeom>
        </p:spPr>
      </p:pic>
      <p:sp>
        <p:nvSpPr>
          <p:cNvPr id="8" name="Text 5"/>
          <p:cNvSpPr txBox="1"/>
          <p:nvPr/>
        </p:nvSpPr>
        <p:spPr>
          <a:xfrm>
            <a:off x="1508760" y="2423160"/>
            <a:ext cx="242316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Email</a:t>
            </a:r>
            <a:endParaRPr lang="en-US" sz="1450" dirty="0"/>
          </a:p>
        </p:txBody>
      </p:sp>
      <p:sp>
        <p:nvSpPr>
          <p:cNvPr id="9" name="Text 6"/>
          <p:cNvSpPr txBox="1"/>
          <p:nvPr/>
        </p:nvSpPr>
        <p:spPr>
          <a:xfrm>
            <a:off x="1508760" y="2715768"/>
            <a:ext cx="2423160" cy="658368"/>
          </a:xfrm>
          <a:prstGeom prst="rect">
            <a:avLst/>
          </a:prstGeom>
          <a:noFill/>
          <a:ln/>
        </p:spPr>
        <p:txBody>
          <a:bodyPr wrap="square" lIns="0" tIns="0" rIns="0" bIns="0" rtlCol="0" anchor="ctr"/>
          <a:lstStyle/>
          <a:p>
            <a:pPr indent="0" marL="0">
              <a:lnSpc>
                <a:spcPct val="110000"/>
              </a:lnSpc>
              <a:buNone/>
            </a:pPr>
            <a:r>
              <a:rPr lang="en-US" sz="1150" dirty="0">
                <a:solidFill>
                  <a:srgbClr val="5C6B73"/>
                </a:solidFill>
                <a:latin typeface="Calibri" pitchFamily="34" charset="0"/>
                <a:ea typeface="Calibri" pitchFamily="34" charset="-122"/>
                <a:cs typeface="Calibri" pitchFamily="34" charset="-120"/>
              </a:rPr>
              <a:t>Requests buried in a thread nobody else can see.</a:t>
            </a:r>
            <a:endParaRPr lang="en-US" sz="1150" dirty="0"/>
          </a:p>
        </p:txBody>
      </p:sp>
      <p:sp>
        <p:nvSpPr>
          <p:cNvPr id="10" name="Shape 7"/>
          <p:cNvSpPr/>
          <p:nvPr/>
        </p:nvSpPr>
        <p:spPr>
          <a:xfrm>
            <a:off x="4389120" y="2148840"/>
            <a:ext cx="3429000" cy="1371600"/>
          </a:xfrm>
          <a:prstGeom prst="roundRect">
            <a:avLst>
              <a:gd name="adj" fmla="val 5333"/>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1" name="Shape 8"/>
          <p:cNvSpPr/>
          <p:nvPr/>
        </p:nvSpPr>
        <p:spPr>
          <a:xfrm>
            <a:off x="4645152" y="2441448"/>
            <a:ext cx="475488" cy="475488"/>
          </a:xfrm>
          <a:prstGeom prst="ellipse">
            <a:avLst/>
          </a:prstGeom>
          <a:solidFill>
            <a:srgbClr val="E3EFF2"/>
          </a:solidFill>
          <a:ln w="12700">
            <a:solidFill>
              <a:srgbClr val="E3EFF2"/>
            </a:solidFill>
            <a:prstDash val="solid"/>
          </a:ln>
        </p:spPr>
      </p:sp>
      <p:pic>
        <p:nvPicPr>
          <p:cNvPr id="12" name="Image 1" descr="preencoded.png">    </p:cNvPr>
          <p:cNvPicPr>
            <a:picLocks noChangeAspect="1"/>
          </p:cNvPicPr>
          <p:nvPr/>
        </p:nvPicPr>
        <p:blipFill>
          <a:blip r:embed="rId2"/>
          <a:stretch>
            <a:fillRect/>
          </a:stretch>
        </p:blipFill>
        <p:spPr>
          <a:xfrm>
            <a:off x="4716475" y="2508016"/>
            <a:ext cx="342351" cy="342351"/>
          </a:xfrm>
          <a:prstGeom prst="rect">
            <a:avLst/>
          </a:prstGeom>
        </p:spPr>
      </p:pic>
      <p:sp>
        <p:nvSpPr>
          <p:cNvPr id="13" name="Text 9"/>
          <p:cNvSpPr txBox="1"/>
          <p:nvPr/>
        </p:nvSpPr>
        <p:spPr>
          <a:xfrm>
            <a:off x="5257800" y="2423160"/>
            <a:ext cx="242316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WhatsApp</a:t>
            </a:r>
            <a:endParaRPr lang="en-US" sz="1450" dirty="0"/>
          </a:p>
        </p:txBody>
      </p:sp>
      <p:sp>
        <p:nvSpPr>
          <p:cNvPr id="14" name="Text 10"/>
          <p:cNvSpPr txBox="1"/>
          <p:nvPr/>
        </p:nvSpPr>
        <p:spPr>
          <a:xfrm>
            <a:off x="5257800" y="2715768"/>
            <a:ext cx="2423160" cy="658368"/>
          </a:xfrm>
          <a:prstGeom prst="rect">
            <a:avLst/>
          </a:prstGeom>
          <a:noFill/>
          <a:ln/>
        </p:spPr>
        <p:txBody>
          <a:bodyPr wrap="square" lIns="0" tIns="0" rIns="0" bIns="0" rtlCol="0" anchor="ctr"/>
          <a:lstStyle/>
          <a:p>
            <a:pPr indent="0" marL="0">
              <a:lnSpc>
                <a:spcPct val="110000"/>
              </a:lnSpc>
              <a:buNone/>
            </a:pPr>
            <a:r>
              <a:rPr lang="en-US" sz="1150" dirty="0">
                <a:solidFill>
                  <a:srgbClr val="5C6B73"/>
                </a:solidFill>
                <a:latin typeface="Calibri" pitchFamily="34" charset="0"/>
                <a:ea typeface="Calibri" pitchFamily="34" charset="-122"/>
                <a:cs typeface="Calibri" pitchFamily="34" charset="-120"/>
              </a:rPr>
              <a:t>Decisions made in chats that vanish up the scroll.</a:t>
            </a:r>
            <a:endParaRPr lang="en-US" sz="1150" dirty="0"/>
          </a:p>
        </p:txBody>
      </p:sp>
      <p:sp>
        <p:nvSpPr>
          <p:cNvPr id="15" name="Shape 11"/>
          <p:cNvSpPr/>
          <p:nvPr/>
        </p:nvSpPr>
        <p:spPr>
          <a:xfrm>
            <a:off x="8138160" y="2148840"/>
            <a:ext cx="3429000" cy="1371600"/>
          </a:xfrm>
          <a:prstGeom prst="roundRect">
            <a:avLst>
              <a:gd name="adj" fmla="val 5333"/>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6" name="Shape 12"/>
          <p:cNvSpPr/>
          <p:nvPr/>
        </p:nvSpPr>
        <p:spPr>
          <a:xfrm>
            <a:off x="8394192" y="2441448"/>
            <a:ext cx="475488" cy="475488"/>
          </a:xfrm>
          <a:prstGeom prst="ellipse">
            <a:avLst/>
          </a:prstGeom>
          <a:solidFill>
            <a:srgbClr val="E3EFF2"/>
          </a:solidFill>
          <a:ln w="12700">
            <a:solidFill>
              <a:srgbClr val="E3EFF2"/>
            </a:solidFill>
            <a:prstDash val="solid"/>
          </a:ln>
        </p:spPr>
      </p:sp>
      <p:pic>
        <p:nvPicPr>
          <p:cNvPr id="17" name="Image 2" descr="preencoded.png">    </p:cNvPr>
          <p:cNvPicPr>
            <a:picLocks noChangeAspect="1"/>
          </p:cNvPicPr>
          <p:nvPr/>
        </p:nvPicPr>
        <p:blipFill>
          <a:blip r:embed="rId3"/>
          <a:stretch>
            <a:fillRect/>
          </a:stretch>
        </p:blipFill>
        <p:spPr>
          <a:xfrm>
            <a:off x="8465515" y="2508016"/>
            <a:ext cx="342351" cy="342351"/>
          </a:xfrm>
          <a:prstGeom prst="rect">
            <a:avLst/>
          </a:prstGeom>
        </p:spPr>
      </p:pic>
      <p:sp>
        <p:nvSpPr>
          <p:cNvPr id="18" name="Text 13"/>
          <p:cNvSpPr txBox="1"/>
          <p:nvPr/>
        </p:nvSpPr>
        <p:spPr>
          <a:xfrm>
            <a:off x="9006840" y="2423160"/>
            <a:ext cx="242316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Verbal instruction</a:t>
            </a:r>
            <a:endParaRPr lang="en-US" sz="1450" dirty="0"/>
          </a:p>
        </p:txBody>
      </p:sp>
      <p:sp>
        <p:nvSpPr>
          <p:cNvPr id="19" name="Text 14"/>
          <p:cNvSpPr txBox="1"/>
          <p:nvPr/>
        </p:nvSpPr>
        <p:spPr>
          <a:xfrm>
            <a:off x="9006840" y="2715768"/>
            <a:ext cx="2423160" cy="658368"/>
          </a:xfrm>
          <a:prstGeom prst="rect">
            <a:avLst/>
          </a:prstGeom>
          <a:noFill/>
          <a:ln/>
        </p:spPr>
        <p:txBody>
          <a:bodyPr wrap="square" lIns="0" tIns="0" rIns="0" bIns="0" rtlCol="0" anchor="ctr"/>
          <a:lstStyle/>
          <a:p>
            <a:pPr indent="0" marL="0">
              <a:lnSpc>
                <a:spcPct val="110000"/>
              </a:lnSpc>
              <a:buNone/>
            </a:pPr>
            <a:r>
              <a:rPr lang="en-US" sz="1150" dirty="0">
                <a:solidFill>
                  <a:srgbClr val="5C6B73"/>
                </a:solidFill>
                <a:latin typeface="Calibri" pitchFamily="34" charset="0"/>
                <a:ea typeface="Calibri" pitchFamily="34" charset="-122"/>
                <a:cs typeface="Calibri" pitchFamily="34" charset="-120"/>
              </a:rPr>
              <a:t>Agreed in a corridor. Remembered differently later.</a:t>
            </a:r>
            <a:endParaRPr lang="en-US" sz="1150" dirty="0"/>
          </a:p>
        </p:txBody>
      </p:sp>
      <p:sp>
        <p:nvSpPr>
          <p:cNvPr id="20" name="Shape 15"/>
          <p:cNvSpPr/>
          <p:nvPr/>
        </p:nvSpPr>
        <p:spPr>
          <a:xfrm>
            <a:off x="640080" y="3776472"/>
            <a:ext cx="3429000" cy="1371600"/>
          </a:xfrm>
          <a:prstGeom prst="roundRect">
            <a:avLst>
              <a:gd name="adj" fmla="val 5333"/>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21" name="Shape 16"/>
          <p:cNvSpPr/>
          <p:nvPr/>
        </p:nvSpPr>
        <p:spPr>
          <a:xfrm>
            <a:off x="896112" y="4069080"/>
            <a:ext cx="475488" cy="475488"/>
          </a:xfrm>
          <a:prstGeom prst="ellipse">
            <a:avLst/>
          </a:prstGeom>
          <a:solidFill>
            <a:srgbClr val="E3EFF2"/>
          </a:solidFill>
          <a:ln w="12700">
            <a:solidFill>
              <a:srgbClr val="E3EFF2"/>
            </a:solidFill>
            <a:prstDash val="solid"/>
          </a:ln>
        </p:spPr>
      </p:sp>
      <p:pic>
        <p:nvPicPr>
          <p:cNvPr id="22" name="Image 3" descr="preencoded.png">    </p:cNvPr>
          <p:cNvPicPr>
            <a:picLocks noChangeAspect="1"/>
          </p:cNvPicPr>
          <p:nvPr/>
        </p:nvPicPr>
        <p:blipFill>
          <a:blip r:embed="rId4"/>
          <a:stretch>
            <a:fillRect/>
          </a:stretch>
        </p:blipFill>
        <p:spPr>
          <a:xfrm>
            <a:off x="967435" y="4135648"/>
            <a:ext cx="342351" cy="342351"/>
          </a:xfrm>
          <a:prstGeom prst="rect">
            <a:avLst/>
          </a:prstGeom>
        </p:spPr>
      </p:pic>
      <p:sp>
        <p:nvSpPr>
          <p:cNvPr id="23" name="Text 17"/>
          <p:cNvSpPr txBox="1"/>
          <p:nvPr/>
        </p:nvSpPr>
        <p:spPr>
          <a:xfrm>
            <a:off x="1508760" y="4050792"/>
            <a:ext cx="242316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Spreadsheets</a:t>
            </a:r>
            <a:endParaRPr lang="en-US" sz="1450" dirty="0"/>
          </a:p>
        </p:txBody>
      </p:sp>
      <p:sp>
        <p:nvSpPr>
          <p:cNvPr id="24" name="Text 18"/>
          <p:cNvSpPr txBox="1"/>
          <p:nvPr/>
        </p:nvSpPr>
        <p:spPr>
          <a:xfrm>
            <a:off x="1508760" y="4343400"/>
            <a:ext cx="2423160" cy="658368"/>
          </a:xfrm>
          <a:prstGeom prst="rect">
            <a:avLst/>
          </a:prstGeom>
          <a:noFill/>
          <a:ln/>
        </p:spPr>
        <p:txBody>
          <a:bodyPr wrap="square" lIns="0" tIns="0" rIns="0" bIns="0" rtlCol="0" anchor="ctr"/>
          <a:lstStyle/>
          <a:p>
            <a:pPr indent="0" marL="0">
              <a:lnSpc>
                <a:spcPct val="110000"/>
              </a:lnSpc>
              <a:buNone/>
            </a:pPr>
            <a:r>
              <a:rPr lang="en-US" sz="1150" dirty="0">
                <a:solidFill>
                  <a:srgbClr val="5C6B73"/>
                </a:solidFill>
                <a:latin typeface="Calibri" pitchFamily="34" charset="0"/>
                <a:ea typeface="Calibri" pitchFamily="34" charset="-122"/>
                <a:cs typeface="Calibri" pitchFamily="34" charset="-120"/>
              </a:rPr>
              <a:t>One per team, each with its own version of the truth.</a:t>
            </a:r>
            <a:endParaRPr lang="en-US" sz="1150" dirty="0"/>
          </a:p>
        </p:txBody>
      </p:sp>
      <p:sp>
        <p:nvSpPr>
          <p:cNvPr id="25" name="Shape 19"/>
          <p:cNvSpPr/>
          <p:nvPr/>
        </p:nvSpPr>
        <p:spPr>
          <a:xfrm>
            <a:off x="4389120" y="3776472"/>
            <a:ext cx="3429000" cy="1371600"/>
          </a:xfrm>
          <a:prstGeom prst="roundRect">
            <a:avLst>
              <a:gd name="adj" fmla="val 5333"/>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26" name="Shape 20"/>
          <p:cNvSpPr/>
          <p:nvPr/>
        </p:nvSpPr>
        <p:spPr>
          <a:xfrm>
            <a:off x="4645152" y="4069080"/>
            <a:ext cx="475488" cy="475488"/>
          </a:xfrm>
          <a:prstGeom prst="ellipse">
            <a:avLst/>
          </a:prstGeom>
          <a:solidFill>
            <a:srgbClr val="E3EFF2"/>
          </a:solidFill>
          <a:ln w="12700">
            <a:solidFill>
              <a:srgbClr val="E3EFF2"/>
            </a:solidFill>
            <a:prstDash val="solid"/>
          </a:ln>
        </p:spPr>
      </p:sp>
      <p:pic>
        <p:nvPicPr>
          <p:cNvPr id="27" name="Image 4" descr="preencoded.png">    </p:cNvPr>
          <p:cNvPicPr>
            <a:picLocks noChangeAspect="1"/>
          </p:cNvPicPr>
          <p:nvPr/>
        </p:nvPicPr>
        <p:blipFill>
          <a:blip r:embed="rId5"/>
          <a:stretch>
            <a:fillRect/>
          </a:stretch>
        </p:blipFill>
        <p:spPr>
          <a:xfrm>
            <a:off x="4716475" y="4135648"/>
            <a:ext cx="342351" cy="342351"/>
          </a:xfrm>
          <a:prstGeom prst="rect">
            <a:avLst/>
          </a:prstGeom>
        </p:spPr>
      </p:pic>
      <p:sp>
        <p:nvSpPr>
          <p:cNvPr id="28" name="Text 21"/>
          <p:cNvSpPr txBox="1"/>
          <p:nvPr/>
        </p:nvSpPr>
        <p:spPr>
          <a:xfrm>
            <a:off x="5257800" y="4050792"/>
            <a:ext cx="242316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CRM and support desk</a:t>
            </a:r>
            <a:endParaRPr lang="en-US" sz="1450" dirty="0"/>
          </a:p>
        </p:txBody>
      </p:sp>
      <p:sp>
        <p:nvSpPr>
          <p:cNvPr id="29" name="Text 22"/>
          <p:cNvSpPr txBox="1"/>
          <p:nvPr/>
        </p:nvSpPr>
        <p:spPr>
          <a:xfrm>
            <a:off x="5257800" y="4343400"/>
            <a:ext cx="2423160" cy="658368"/>
          </a:xfrm>
          <a:prstGeom prst="rect">
            <a:avLst/>
          </a:prstGeom>
          <a:noFill/>
          <a:ln/>
        </p:spPr>
        <p:txBody>
          <a:bodyPr wrap="square" lIns="0" tIns="0" rIns="0" bIns="0" rtlCol="0" anchor="ctr"/>
          <a:lstStyle/>
          <a:p>
            <a:pPr indent="0" marL="0">
              <a:lnSpc>
                <a:spcPct val="110000"/>
              </a:lnSpc>
              <a:buNone/>
            </a:pPr>
            <a:r>
              <a:rPr lang="en-US" sz="1150" dirty="0">
                <a:solidFill>
                  <a:srgbClr val="5C6B73"/>
                </a:solidFill>
                <a:latin typeface="Calibri" pitchFamily="34" charset="0"/>
                <a:ea typeface="Calibri" pitchFamily="34" charset="-122"/>
                <a:cs typeface="Calibri" pitchFamily="34" charset="-120"/>
              </a:rPr>
              <a:t>Real work, invisible to everyone outside that system.</a:t>
            </a:r>
            <a:endParaRPr lang="en-US" sz="1150" dirty="0"/>
          </a:p>
        </p:txBody>
      </p:sp>
      <p:sp>
        <p:nvSpPr>
          <p:cNvPr id="30" name="Shape 23"/>
          <p:cNvSpPr/>
          <p:nvPr/>
        </p:nvSpPr>
        <p:spPr>
          <a:xfrm>
            <a:off x="8138160" y="3776472"/>
            <a:ext cx="3429000" cy="1371600"/>
          </a:xfrm>
          <a:prstGeom prst="roundRect">
            <a:avLst>
              <a:gd name="adj" fmla="val 5333"/>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31" name="Shape 24"/>
          <p:cNvSpPr/>
          <p:nvPr/>
        </p:nvSpPr>
        <p:spPr>
          <a:xfrm>
            <a:off x="8394192" y="4069080"/>
            <a:ext cx="475488" cy="475488"/>
          </a:xfrm>
          <a:prstGeom prst="ellipse">
            <a:avLst/>
          </a:prstGeom>
          <a:solidFill>
            <a:srgbClr val="E3EFF2"/>
          </a:solidFill>
          <a:ln w="12700">
            <a:solidFill>
              <a:srgbClr val="E3EFF2"/>
            </a:solidFill>
            <a:prstDash val="solid"/>
          </a:ln>
        </p:spPr>
      </p:sp>
      <p:pic>
        <p:nvPicPr>
          <p:cNvPr id="32" name="Image 5" descr="preencoded.png">    </p:cNvPr>
          <p:cNvPicPr>
            <a:picLocks noChangeAspect="1"/>
          </p:cNvPicPr>
          <p:nvPr/>
        </p:nvPicPr>
        <p:blipFill>
          <a:blip r:embed="rId6"/>
          <a:stretch>
            <a:fillRect/>
          </a:stretch>
        </p:blipFill>
        <p:spPr>
          <a:xfrm>
            <a:off x="8465515" y="4135648"/>
            <a:ext cx="342351" cy="342351"/>
          </a:xfrm>
          <a:prstGeom prst="rect">
            <a:avLst/>
          </a:prstGeom>
        </p:spPr>
      </p:pic>
      <p:sp>
        <p:nvSpPr>
          <p:cNvPr id="33" name="Text 25"/>
          <p:cNvSpPr txBox="1"/>
          <p:nvPr/>
        </p:nvSpPr>
        <p:spPr>
          <a:xfrm>
            <a:off x="9006840" y="4050792"/>
            <a:ext cx="242316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Somebody's memory</a:t>
            </a:r>
            <a:endParaRPr lang="en-US" sz="1450" dirty="0"/>
          </a:p>
        </p:txBody>
      </p:sp>
      <p:sp>
        <p:nvSpPr>
          <p:cNvPr id="34" name="Text 26"/>
          <p:cNvSpPr txBox="1"/>
          <p:nvPr/>
        </p:nvSpPr>
        <p:spPr>
          <a:xfrm>
            <a:off x="9006840" y="4343400"/>
            <a:ext cx="2423160" cy="658368"/>
          </a:xfrm>
          <a:prstGeom prst="rect">
            <a:avLst/>
          </a:prstGeom>
          <a:noFill/>
          <a:ln/>
        </p:spPr>
        <p:txBody>
          <a:bodyPr wrap="square" lIns="0" tIns="0" rIns="0" bIns="0" rtlCol="0" anchor="ctr"/>
          <a:lstStyle/>
          <a:p>
            <a:pPr indent="0" marL="0">
              <a:lnSpc>
                <a:spcPct val="110000"/>
              </a:lnSpc>
              <a:buNone/>
            </a:pPr>
            <a:r>
              <a:rPr lang="en-US" sz="1150" dirty="0">
                <a:solidFill>
                  <a:srgbClr val="5C6B73"/>
                </a:solidFill>
                <a:latin typeface="Calibri" pitchFamily="34" charset="0"/>
                <a:ea typeface="Calibri" pitchFamily="34" charset="-122"/>
                <a:cs typeface="Calibri" pitchFamily="34" charset="-120"/>
              </a:rPr>
              <a:t>Which works, until they are on leave.</a:t>
            </a:r>
            <a:endParaRPr lang="en-US" sz="1150" dirty="0"/>
          </a:p>
        </p:txBody>
      </p:sp>
      <p:sp>
        <p:nvSpPr>
          <p:cNvPr id="35" name="Text 27"/>
          <p:cNvSpPr txBox="1"/>
          <p:nvPr/>
        </p:nvSpPr>
        <p:spPr>
          <a:xfrm>
            <a:off x="640080" y="5623560"/>
            <a:ext cx="10911535" cy="457200"/>
          </a:xfrm>
          <a:prstGeom prst="rect">
            <a:avLst/>
          </a:prstGeom>
          <a:noFill/>
          <a:ln/>
        </p:spPr>
        <p:txBody>
          <a:bodyPr wrap="square" lIns="0" tIns="0" rIns="0" bIns="0" rtlCol="0" anchor="ctr"/>
          <a:lstStyle/>
          <a:p>
            <a:pPr indent="0" marL="0">
              <a:buNone/>
            </a:pPr>
            <a:r>
              <a:rPr lang="en-US" sz="1500" i="1" dirty="0">
                <a:solidFill>
                  <a:srgbClr val="0E2F3C"/>
                </a:solidFill>
                <a:latin typeface="Cambria" pitchFamily="34" charset="0"/>
                <a:ea typeface="Cambria" pitchFamily="34" charset="-122"/>
                <a:cs typeface="Cambria" pitchFamily="34" charset="-120"/>
              </a:rPr>
              <a:t>The cost: nobody can answer “what is committed, what is overdue, and who is blocked” without asking every department one by one.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2F3C"/>
        </a:solidFill>
      </p:bgPr>
    </p:bg>
    <p:spTree>
      <p:nvGrpSpPr>
        <p:cNvPr id="1" name=""/>
        <p:cNvGrpSpPr/>
        <p:nvPr/>
      </p:nvGrpSpPr>
      <p:grpSpPr>
        <a:xfrm>
          <a:off x="0" y="0"/>
          <a:ext cx="0" cy="0"/>
          <a:chOff x="0" y="0"/>
          <a:chExt cx="0" cy="0"/>
        </a:xfrm>
      </p:grpSpPr>
      <p:sp>
        <p:nvSpPr>
          <p:cNvPr id="2" name="Text 0"/>
          <p:cNvSpPr txBox="1"/>
          <p:nvPr/>
        </p:nvSpPr>
        <p:spPr>
          <a:xfrm>
            <a:off x="640080" y="1051560"/>
            <a:ext cx="7315200" cy="274320"/>
          </a:xfrm>
          <a:prstGeom prst="rect">
            <a:avLst/>
          </a:prstGeom>
          <a:noFill/>
          <a:ln/>
        </p:spPr>
        <p:txBody>
          <a:bodyPr wrap="square" lIns="0" tIns="0" rIns="0" bIns="0" rtlCol="0" anchor="ctr"/>
          <a:lstStyle/>
          <a:p>
            <a:pPr indent="0" marL="0">
              <a:buNone/>
            </a:pPr>
            <a:r>
              <a:rPr lang="en-US" sz="1150" b="1" spc="240" kern="0" dirty="0">
                <a:solidFill>
                  <a:srgbClr val="D9822B"/>
                </a:solidFill>
                <a:latin typeface="Calibri" pitchFamily="34" charset="0"/>
                <a:ea typeface="Calibri" pitchFamily="34" charset="-122"/>
                <a:cs typeface="Calibri" pitchFamily="34" charset="-120"/>
              </a:rPr>
              <a:t>WHAT WORKPULSE IS</a:t>
            </a:r>
            <a:endParaRPr lang="en-US" sz="1150" dirty="0"/>
          </a:p>
        </p:txBody>
      </p:sp>
      <p:sp>
        <p:nvSpPr>
          <p:cNvPr id="3" name="Text 1"/>
          <p:cNvSpPr txBox="1"/>
          <p:nvPr/>
        </p:nvSpPr>
        <p:spPr>
          <a:xfrm>
            <a:off x="640080" y="1554480"/>
            <a:ext cx="10424160" cy="2103120"/>
          </a:xfrm>
          <a:prstGeom prst="rect">
            <a:avLst/>
          </a:prstGeom>
          <a:noFill/>
          <a:ln/>
        </p:spPr>
        <p:txBody>
          <a:bodyPr wrap="square" lIns="0" tIns="0" rIns="0" bIns="0" rtlCol="0" anchor="ctr"/>
          <a:lstStyle/>
          <a:p>
            <a:pPr indent="0" marL="0">
              <a:lnSpc>
                <a:spcPct val="122000"/>
              </a:lnSpc>
              <a:buNone/>
            </a:pPr>
            <a:r>
              <a:rPr lang="en-US" sz="3400" b="1" dirty="0">
                <a:solidFill>
                  <a:srgbClr val="FFFFFF"/>
                </a:solidFill>
                <a:latin typeface="Cambria" pitchFamily="34" charset="0"/>
                <a:ea typeface="Cambria" pitchFamily="34" charset="-122"/>
                <a:cs typeface="Cambria" pitchFamily="34" charset="-120"/>
              </a:rPr>
              <a:t>Every important piece of work becomes a task</a:t>
            </a:r>
            <a:endParaRPr lang="en-US" sz="3400" dirty="0"/>
          </a:p>
          <a:p>
            <a:pPr indent="0" marL="0">
              <a:lnSpc>
                <a:spcPct val="122000"/>
              </a:lnSpc>
              <a:buNone/>
            </a:pPr>
            <a:r>
              <a:rPr lang="en-US" sz="3400" b="1" dirty="0">
                <a:solidFill>
                  <a:srgbClr val="FFFFFF"/>
                </a:solidFill>
                <a:latin typeface="Cambria" pitchFamily="34" charset="0"/>
                <a:ea typeface="Cambria" pitchFamily="34" charset="-122"/>
                <a:cs typeface="Cambria" pitchFamily="34" charset="-120"/>
              </a:rPr>
              <a:t>that somebody owns, with a due date</a:t>
            </a:r>
            <a:endParaRPr lang="en-US" sz="3400" dirty="0"/>
          </a:p>
          <a:p>
            <a:pPr indent="0" marL="0">
              <a:lnSpc>
                <a:spcPct val="122000"/>
              </a:lnSpc>
              <a:buNone/>
            </a:pPr>
            <a:r>
              <a:rPr lang="en-US" sz="3400" b="1" dirty="0">
                <a:solidFill>
                  <a:srgbClr val="FFFFFF"/>
                </a:solidFill>
                <a:latin typeface="Cambria" pitchFamily="34" charset="0"/>
                <a:ea typeface="Cambria" pitchFamily="34" charset="-122"/>
                <a:cs typeface="Cambria" pitchFamily="34" charset="-120"/>
              </a:rPr>
              <a:t>and a record of what happened to it.</a:t>
            </a:r>
            <a:endParaRPr lang="en-US" sz="3400" dirty="0"/>
          </a:p>
        </p:txBody>
      </p:sp>
      <p:sp>
        <p:nvSpPr>
          <p:cNvPr id="4" name="Text 2"/>
          <p:cNvSpPr txBox="1"/>
          <p:nvPr/>
        </p:nvSpPr>
        <p:spPr>
          <a:xfrm>
            <a:off x="640080" y="4069080"/>
            <a:ext cx="3291840" cy="310896"/>
          </a:xfrm>
          <a:prstGeom prst="rect">
            <a:avLst/>
          </a:prstGeom>
          <a:noFill/>
          <a:ln/>
        </p:spPr>
        <p:txBody>
          <a:bodyPr wrap="square" lIns="0" tIns="0" rIns="0" bIns="0" rtlCol="0" anchor="ctr"/>
          <a:lstStyle/>
          <a:p>
            <a:pPr indent="0" marL="0">
              <a:buNone/>
            </a:pPr>
            <a:r>
              <a:rPr lang="en-US" sz="1600" b="1" dirty="0">
                <a:solidFill>
                  <a:srgbClr val="D9822B"/>
                </a:solidFill>
                <a:latin typeface="Calibri" pitchFamily="34" charset="0"/>
                <a:ea typeface="Calibri" pitchFamily="34" charset="-122"/>
                <a:cs typeface="Calibri" pitchFamily="34" charset="-120"/>
              </a:rPr>
              <a:t>One place</a:t>
            </a:r>
            <a:endParaRPr lang="en-US" sz="1600" dirty="0"/>
          </a:p>
        </p:txBody>
      </p:sp>
      <p:sp>
        <p:nvSpPr>
          <p:cNvPr id="5" name="Text 3"/>
          <p:cNvSpPr txBox="1"/>
          <p:nvPr/>
        </p:nvSpPr>
        <p:spPr>
          <a:xfrm>
            <a:off x="640080" y="4434840"/>
            <a:ext cx="3291840" cy="914400"/>
          </a:xfrm>
          <a:prstGeom prst="rect">
            <a:avLst/>
          </a:prstGeom>
          <a:noFill/>
          <a:ln/>
        </p:spPr>
        <p:txBody>
          <a:bodyPr wrap="square" lIns="0" tIns="0" rIns="0" bIns="0" rtlCol="0" anchor="ctr"/>
          <a:lstStyle/>
          <a:p>
            <a:pPr indent="0" marL="0">
              <a:lnSpc>
                <a:spcPct val="118000"/>
              </a:lnSpc>
              <a:buNone/>
            </a:pPr>
            <a:r>
              <a:rPr lang="en-US" sz="1300" dirty="0">
                <a:solidFill>
                  <a:srgbClr val="A9C3CC"/>
                </a:solidFill>
                <a:latin typeface="Calibri" pitchFamily="34" charset="0"/>
                <a:ea typeface="Calibri" pitchFamily="34" charset="-122"/>
                <a:cs typeface="Calibri" pitchFamily="34" charset="-120"/>
              </a:rPr>
              <a:t>Routine work, projects, compliance, support tickets and ad-hoc requests all land here.</a:t>
            </a:r>
            <a:endParaRPr lang="en-US" sz="1300" dirty="0"/>
          </a:p>
        </p:txBody>
      </p:sp>
      <p:sp>
        <p:nvSpPr>
          <p:cNvPr id="6" name="Text 4"/>
          <p:cNvSpPr txBox="1"/>
          <p:nvPr/>
        </p:nvSpPr>
        <p:spPr>
          <a:xfrm>
            <a:off x="4297680" y="4069080"/>
            <a:ext cx="3291840" cy="310896"/>
          </a:xfrm>
          <a:prstGeom prst="rect">
            <a:avLst/>
          </a:prstGeom>
          <a:noFill/>
          <a:ln/>
        </p:spPr>
        <p:txBody>
          <a:bodyPr wrap="square" lIns="0" tIns="0" rIns="0" bIns="0" rtlCol="0" anchor="ctr"/>
          <a:lstStyle/>
          <a:p>
            <a:pPr indent="0" marL="0">
              <a:buNone/>
            </a:pPr>
            <a:r>
              <a:rPr lang="en-US" sz="1600" b="1" dirty="0">
                <a:solidFill>
                  <a:srgbClr val="D9822B"/>
                </a:solidFill>
                <a:latin typeface="Calibri" pitchFamily="34" charset="0"/>
                <a:ea typeface="Calibri" pitchFamily="34" charset="-122"/>
                <a:cs typeface="Calibri" pitchFamily="34" charset="-120"/>
              </a:rPr>
              <a:t>One owner</a:t>
            </a:r>
            <a:endParaRPr lang="en-US" sz="1600" dirty="0"/>
          </a:p>
        </p:txBody>
      </p:sp>
      <p:sp>
        <p:nvSpPr>
          <p:cNvPr id="7" name="Text 5"/>
          <p:cNvSpPr txBox="1"/>
          <p:nvPr/>
        </p:nvSpPr>
        <p:spPr>
          <a:xfrm>
            <a:off x="4297680" y="4434840"/>
            <a:ext cx="3291840" cy="914400"/>
          </a:xfrm>
          <a:prstGeom prst="rect">
            <a:avLst/>
          </a:prstGeom>
          <a:noFill/>
          <a:ln/>
        </p:spPr>
        <p:txBody>
          <a:bodyPr wrap="square" lIns="0" tIns="0" rIns="0" bIns="0" rtlCol="0" anchor="ctr"/>
          <a:lstStyle/>
          <a:p>
            <a:pPr indent="0" marL="0">
              <a:lnSpc>
                <a:spcPct val="118000"/>
              </a:lnSpc>
              <a:buNone/>
            </a:pPr>
            <a:r>
              <a:rPr lang="en-US" sz="1300" dirty="0">
                <a:solidFill>
                  <a:srgbClr val="A9C3CC"/>
                </a:solidFill>
                <a:latin typeface="Calibri" pitchFamily="34" charset="0"/>
                <a:ea typeface="Calibri" pitchFamily="34" charset="-122"/>
                <a:cs typeface="Calibri" pitchFamily="34" charset="-120"/>
              </a:rPr>
              <a:t>Every task has exactly one person accountable. Never two, never nobody.</a:t>
            </a:r>
            <a:endParaRPr lang="en-US" sz="1300" dirty="0"/>
          </a:p>
        </p:txBody>
      </p:sp>
      <p:sp>
        <p:nvSpPr>
          <p:cNvPr id="8" name="Text 6"/>
          <p:cNvSpPr txBox="1"/>
          <p:nvPr/>
        </p:nvSpPr>
        <p:spPr>
          <a:xfrm>
            <a:off x="7955280" y="4069080"/>
            <a:ext cx="3291840" cy="310896"/>
          </a:xfrm>
          <a:prstGeom prst="rect">
            <a:avLst/>
          </a:prstGeom>
          <a:noFill/>
          <a:ln/>
        </p:spPr>
        <p:txBody>
          <a:bodyPr wrap="square" lIns="0" tIns="0" rIns="0" bIns="0" rtlCol="0" anchor="ctr"/>
          <a:lstStyle/>
          <a:p>
            <a:pPr indent="0" marL="0">
              <a:buNone/>
            </a:pPr>
            <a:r>
              <a:rPr lang="en-US" sz="1600" b="1" dirty="0">
                <a:solidFill>
                  <a:srgbClr val="D9822B"/>
                </a:solidFill>
                <a:latin typeface="Calibri" pitchFamily="34" charset="0"/>
                <a:ea typeface="Calibri" pitchFamily="34" charset="-122"/>
                <a:cs typeface="Calibri" pitchFamily="34" charset="-120"/>
              </a:rPr>
              <a:t>One record</a:t>
            </a:r>
            <a:endParaRPr lang="en-US" sz="1600" dirty="0"/>
          </a:p>
        </p:txBody>
      </p:sp>
      <p:sp>
        <p:nvSpPr>
          <p:cNvPr id="9" name="Text 7"/>
          <p:cNvSpPr txBox="1"/>
          <p:nvPr/>
        </p:nvSpPr>
        <p:spPr>
          <a:xfrm>
            <a:off x="7955280" y="4434840"/>
            <a:ext cx="3291840" cy="914400"/>
          </a:xfrm>
          <a:prstGeom prst="rect">
            <a:avLst/>
          </a:prstGeom>
          <a:noFill/>
          <a:ln/>
        </p:spPr>
        <p:txBody>
          <a:bodyPr wrap="square" lIns="0" tIns="0" rIns="0" bIns="0" rtlCol="0" anchor="ctr"/>
          <a:lstStyle/>
          <a:p>
            <a:pPr indent="0" marL="0">
              <a:lnSpc>
                <a:spcPct val="118000"/>
              </a:lnSpc>
              <a:buNone/>
            </a:pPr>
            <a:r>
              <a:rPr lang="en-US" sz="1300" dirty="0">
                <a:solidFill>
                  <a:srgbClr val="A9C3CC"/>
                </a:solidFill>
                <a:latin typeface="Calibri" pitchFamily="34" charset="0"/>
                <a:ea typeface="Calibri" pitchFamily="34" charset="-122"/>
                <a:cs typeface="Calibri" pitchFamily="34" charset="-120"/>
              </a:rPr>
              <a:t>Who changed what, when, and why — kept automatically, for everything.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GETTING IN</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You already have an account</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workPulse sits inside Synapse. No new password, no separate login to remember.</a:t>
            </a:r>
            <a:endParaRPr lang="en-US" sz="1500" dirty="0"/>
          </a:p>
        </p:txBody>
      </p:sp>
      <p:sp>
        <p:nvSpPr>
          <p:cNvPr id="5" name="Shape 3"/>
          <p:cNvSpPr/>
          <p:nvPr/>
        </p:nvSpPr>
        <p:spPr>
          <a:xfrm>
            <a:off x="640080" y="2286000"/>
            <a:ext cx="3474720" cy="1737360"/>
          </a:xfrm>
          <a:prstGeom prst="roundRect">
            <a:avLst>
              <a:gd name="adj" fmla="val 4211"/>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6" name="Shape 4"/>
          <p:cNvSpPr/>
          <p:nvPr/>
        </p:nvSpPr>
        <p:spPr>
          <a:xfrm>
            <a:off x="932688" y="2560320"/>
            <a:ext cx="548640" cy="548640"/>
          </a:xfrm>
          <a:prstGeom prst="ellipse">
            <a:avLst/>
          </a:prstGeom>
          <a:solidFill>
            <a:srgbClr val="1F7A8C"/>
          </a:solidFill>
          <a:ln w="12700">
            <a:solidFill>
              <a:srgbClr val="1F7A8C"/>
            </a:solidFill>
            <a:prstDash val="solid"/>
          </a:ln>
        </p:spPr>
      </p:sp>
      <p:sp>
        <p:nvSpPr>
          <p:cNvPr id="7" name="Text 5"/>
          <p:cNvSpPr txBox="1"/>
          <p:nvPr/>
        </p:nvSpPr>
        <p:spPr>
          <a:xfrm>
            <a:off x="932688" y="2624328"/>
            <a:ext cx="548640" cy="40233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932688" y="3273552"/>
            <a:ext cx="2926080" cy="292608"/>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Log in to Synapse</a:t>
            </a:r>
            <a:endParaRPr lang="en-US" sz="1500" dirty="0"/>
          </a:p>
        </p:txBody>
      </p:sp>
      <p:sp>
        <p:nvSpPr>
          <p:cNvPr id="9" name="Text 7"/>
          <p:cNvSpPr txBox="1"/>
          <p:nvPr/>
        </p:nvSpPr>
        <p:spPr>
          <a:xfrm>
            <a:off x="932688" y="3566160"/>
            <a:ext cx="2926080" cy="384048"/>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Exactly as you do today.</a:t>
            </a:r>
            <a:endParaRPr lang="en-US" sz="1200" dirty="0"/>
          </a:p>
        </p:txBody>
      </p:sp>
      <p:sp>
        <p:nvSpPr>
          <p:cNvPr id="10" name="Text 8"/>
          <p:cNvSpPr txBox="1"/>
          <p:nvPr/>
        </p:nvSpPr>
        <p:spPr>
          <a:xfrm>
            <a:off x="4187952" y="2834640"/>
            <a:ext cx="274320" cy="457200"/>
          </a:xfrm>
          <a:prstGeom prst="rect">
            <a:avLst/>
          </a:prstGeom>
          <a:noFill/>
          <a:ln/>
        </p:spPr>
        <p:txBody>
          <a:bodyPr wrap="square" lIns="0" tIns="0" rIns="0" bIns="0" rtlCol="0" anchor="ctr"/>
          <a:lstStyle/>
          <a:p>
            <a:pPr algn="ctr" indent="0" marL="0">
              <a:buNone/>
            </a:pPr>
            <a:r>
              <a:rPr lang="en-US" sz="2800" dirty="0">
                <a:solidFill>
                  <a:srgbClr val="DCE4E7"/>
                </a:solidFill>
                <a:latin typeface="Calibri" pitchFamily="34" charset="0"/>
                <a:ea typeface="Calibri" pitchFamily="34" charset="-122"/>
                <a:cs typeface="Calibri" pitchFamily="34" charset="-120"/>
              </a:rPr>
              <a:t>›</a:t>
            </a:r>
            <a:endParaRPr lang="en-US" sz="2800" dirty="0"/>
          </a:p>
        </p:txBody>
      </p:sp>
      <p:sp>
        <p:nvSpPr>
          <p:cNvPr id="11" name="Shape 9"/>
          <p:cNvSpPr/>
          <p:nvPr/>
        </p:nvSpPr>
        <p:spPr>
          <a:xfrm>
            <a:off x="4434840" y="2286000"/>
            <a:ext cx="3474720" cy="1737360"/>
          </a:xfrm>
          <a:prstGeom prst="roundRect">
            <a:avLst>
              <a:gd name="adj" fmla="val 4211"/>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2" name="Shape 10"/>
          <p:cNvSpPr/>
          <p:nvPr/>
        </p:nvSpPr>
        <p:spPr>
          <a:xfrm>
            <a:off x="4727448" y="2560320"/>
            <a:ext cx="548640" cy="548640"/>
          </a:xfrm>
          <a:prstGeom prst="ellipse">
            <a:avLst/>
          </a:prstGeom>
          <a:solidFill>
            <a:srgbClr val="1F7A8C"/>
          </a:solidFill>
          <a:ln w="12700">
            <a:solidFill>
              <a:srgbClr val="1F7A8C"/>
            </a:solidFill>
            <a:prstDash val="solid"/>
          </a:ln>
        </p:spPr>
      </p:sp>
      <p:sp>
        <p:nvSpPr>
          <p:cNvPr id="13" name="Text 11"/>
          <p:cNvSpPr txBox="1"/>
          <p:nvPr/>
        </p:nvSpPr>
        <p:spPr>
          <a:xfrm>
            <a:off x="4727448" y="2624328"/>
            <a:ext cx="548640" cy="40233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txBox="1"/>
          <p:nvPr/>
        </p:nvSpPr>
        <p:spPr>
          <a:xfrm>
            <a:off x="4727448" y="3273552"/>
            <a:ext cx="2926080" cy="292608"/>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Open the Apps menu</a:t>
            </a:r>
            <a:endParaRPr lang="en-US" sz="1500" dirty="0"/>
          </a:p>
        </p:txBody>
      </p:sp>
      <p:sp>
        <p:nvSpPr>
          <p:cNvPr id="15" name="Text 13"/>
          <p:cNvSpPr txBox="1"/>
          <p:nvPr/>
        </p:nvSpPr>
        <p:spPr>
          <a:xfrm>
            <a:off x="4727448" y="3566160"/>
            <a:ext cx="2926080" cy="384048"/>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Top of the screen, where your other tools live.</a:t>
            </a:r>
            <a:endParaRPr lang="en-US" sz="1200" dirty="0"/>
          </a:p>
        </p:txBody>
      </p:sp>
      <p:sp>
        <p:nvSpPr>
          <p:cNvPr id="16" name="Text 14"/>
          <p:cNvSpPr txBox="1"/>
          <p:nvPr/>
        </p:nvSpPr>
        <p:spPr>
          <a:xfrm>
            <a:off x="7982712" y="2834640"/>
            <a:ext cx="274320" cy="457200"/>
          </a:xfrm>
          <a:prstGeom prst="rect">
            <a:avLst/>
          </a:prstGeom>
          <a:noFill/>
          <a:ln/>
        </p:spPr>
        <p:txBody>
          <a:bodyPr wrap="square" lIns="0" tIns="0" rIns="0" bIns="0" rtlCol="0" anchor="ctr"/>
          <a:lstStyle/>
          <a:p>
            <a:pPr algn="ctr" indent="0" marL="0">
              <a:buNone/>
            </a:pPr>
            <a:r>
              <a:rPr lang="en-US" sz="2800" dirty="0">
                <a:solidFill>
                  <a:srgbClr val="DCE4E7"/>
                </a:solidFill>
                <a:latin typeface="Calibri" pitchFamily="34" charset="0"/>
                <a:ea typeface="Calibri" pitchFamily="34" charset="-122"/>
                <a:cs typeface="Calibri" pitchFamily="34" charset="-120"/>
              </a:rPr>
              <a:t>›</a:t>
            </a:r>
            <a:endParaRPr lang="en-US" sz="2800" dirty="0"/>
          </a:p>
        </p:txBody>
      </p:sp>
      <p:sp>
        <p:nvSpPr>
          <p:cNvPr id="17" name="Shape 15"/>
          <p:cNvSpPr/>
          <p:nvPr/>
        </p:nvSpPr>
        <p:spPr>
          <a:xfrm>
            <a:off x="8229600" y="2286000"/>
            <a:ext cx="3474720" cy="1737360"/>
          </a:xfrm>
          <a:prstGeom prst="roundRect">
            <a:avLst>
              <a:gd name="adj" fmla="val 4211"/>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8" name="Shape 16"/>
          <p:cNvSpPr/>
          <p:nvPr/>
        </p:nvSpPr>
        <p:spPr>
          <a:xfrm>
            <a:off x="8522208" y="2560320"/>
            <a:ext cx="548640" cy="548640"/>
          </a:xfrm>
          <a:prstGeom prst="ellipse">
            <a:avLst/>
          </a:prstGeom>
          <a:solidFill>
            <a:srgbClr val="1F7A8C"/>
          </a:solidFill>
          <a:ln w="12700">
            <a:solidFill>
              <a:srgbClr val="1F7A8C"/>
            </a:solidFill>
            <a:prstDash val="solid"/>
          </a:ln>
        </p:spPr>
      </p:sp>
      <p:sp>
        <p:nvSpPr>
          <p:cNvPr id="19" name="Text 17"/>
          <p:cNvSpPr txBox="1"/>
          <p:nvPr/>
        </p:nvSpPr>
        <p:spPr>
          <a:xfrm>
            <a:off x="8522208" y="2624328"/>
            <a:ext cx="548640" cy="402336"/>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8"/>
          <p:cNvSpPr txBox="1"/>
          <p:nvPr/>
        </p:nvSpPr>
        <p:spPr>
          <a:xfrm>
            <a:off x="8522208" y="3273552"/>
            <a:ext cx="2926080" cy="292608"/>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Choose workPulse</a:t>
            </a:r>
            <a:endParaRPr lang="en-US" sz="1500" dirty="0"/>
          </a:p>
        </p:txBody>
      </p:sp>
      <p:sp>
        <p:nvSpPr>
          <p:cNvPr id="21" name="Text 19"/>
          <p:cNvSpPr txBox="1"/>
          <p:nvPr/>
        </p:nvSpPr>
        <p:spPr>
          <a:xfrm>
            <a:off x="8522208" y="3566160"/>
            <a:ext cx="2926080" cy="384048"/>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That's it. Your desk card and tasks are waiting.</a:t>
            </a:r>
            <a:endParaRPr lang="en-US" sz="1200" dirty="0"/>
          </a:p>
        </p:txBody>
      </p:sp>
      <p:sp>
        <p:nvSpPr>
          <p:cNvPr id="22" name="Shape 20"/>
          <p:cNvSpPr/>
          <p:nvPr/>
        </p:nvSpPr>
        <p:spPr>
          <a:xfrm>
            <a:off x="640080" y="4343400"/>
            <a:ext cx="10911535" cy="1143000"/>
          </a:xfrm>
          <a:prstGeom prst="roundRect">
            <a:avLst>
              <a:gd name="adj" fmla="val 6400"/>
            </a:avLst>
          </a:prstGeom>
          <a:solidFill>
            <a:srgbClr val="E3EFF2"/>
          </a:solidFill>
          <a:ln w="12700">
            <a:solidFill>
              <a:srgbClr val="E3EFF2"/>
            </a:solidFill>
            <a:prstDash val="solid"/>
          </a:ln>
          <a:effectLst>
            <a:outerShdw sx="100000" sy="100000" kx="0" ky="0" algn="bl" rotWithShape="0" blurRad="127000" dist="25400" dir="5400000">
              <a:srgbClr val="0E2F3C">
                <a:alpha val="10000"/>
              </a:srgbClr>
            </a:outerShdw>
          </a:effectLst>
        </p:spPr>
      </p:sp>
      <p:sp>
        <p:nvSpPr>
          <p:cNvPr id="23" name="Shape 21"/>
          <p:cNvSpPr/>
          <p:nvPr/>
        </p:nvSpPr>
        <p:spPr>
          <a:xfrm>
            <a:off x="960120" y="4709160"/>
            <a:ext cx="475488" cy="475488"/>
          </a:xfrm>
          <a:prstGeom prst="ellipse">
            <a:avLst/>
          </a:prstGeom>
          <a:solidFill>
            <a:srgbClr val="FFFFFF"/>
          </a:solidFill>
          <a:ln w="12700">
            <a:solidFill>
              <a:srgbClr val="FFFFFF"/>
            </a:solidFill>
            <a:prstDash val="solid"/>
          </a:ln>
        </p:spPr>
      </p:sp>
      <p:pic>
        <p:nvPicPr>
          <p:cNvPr id="24" name="Image 0" descr="preencoded.png">    </p:cNvPr>
          <p:cNvPicPr>
            <a:picLocks noChangeAspect="1"/>
          </p:cNvPicPr>
          <p:nvPr/>
        </p:nvPicPr>
        <p:blipFill>
          <a:blip r:embed="rId1"/>
          <a:stretch>
            <a:fillRect/>
          </a:stretch>
        </p:blipFill>
        <p:spPr>
          <a:xfrm>
            <a:off x="1031443" y="4775728"/>
            <a:ext cx="342351" cy="342351"/>
          </a:xfrm>
          <a:prstGeom prst="rect">
            <a:avLst/>
          </a:prstGeom>
        </p:spPr>
      </p:pic>
      <p:sp>
        <p:nvSpPr>
          <p:cNvPr id="25" name="Text 22"/>
          <p:cNvSpPr txBox="1"/>
          <p:nvPr/>
        </p:nvSpPr>
        <p:spPr>
          <a:xfrm>
            <a:off x="1600200" y="4590288"/>
            <a:ext cx="9509760" cy="274320"/>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Your access follows your Synapse account</a:t>
            </a:r>
            <a:endParaRPr lang="en-US" sz="1500" dirty="0"/>
          </a:p>
        </p:txBody>
      </p:sp>
      <p:sp>
        <p:nvSpPr>
          <p:cNvPr id="26" name="Text 23"/>
          <p:cNvSpPr txBox="1"/>
          <p:nvPr/>
        </p:nvSpPr>
        <p:spPr>
          <a:xfrm>
            <a:off x="1600200" y="4892040"/>
            <a:ext cx="9509760" cy="457200"/>
          </a:xfrm>
          <a:prstGeom prst="rect">
            <a:avLst/>
          </a:prstGeom>
          <a:noFill/>
          <a:ln/>
        </p:spPr>
        <p:txBody>
          <a:bodyPr wrap="square" lIns="0" tIns="0" rIns="0" bIns="0" rtlCol="0" anchor="ctr"/>
          <a:lstStyle/>
          <a:p>
            <a:pPr indent="0" marL="0">
              <a:lnSpc>
                <a:spcPct val="110000"/>
              </a:lnSpc>
              <a:buNone/>
            </a:pPr>
            <a:r>
              <a:rPr lang="en-US" sz="1250" dirty="0">
                <a:solidFill>
                  <a:srgbClr val="5C6B73"/>
                </a:solidFill>
                <a:latin typeface="Calibri" pitchFamily="34" charset="0"/>
                <a:ea typeface="Calibri" pitchFamily="34" charset="-122"/>
                <a:cs typeface="Calibri" pitchFamily="34" charset="-120"/>
              </a:rPr>
              <a:t>If your Synapse account is disabled, workPulse stops working for you immediately — not at the end of the day. There is no separate user list to fall out of step.</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THE ONE IDEA TO TAKE AWAY</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Your Desk Card: your job, written down</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Before workPulse can help you, it needs to know what your job actually involves.</a:t>
            </a:r>
            <a:endParaRPr lang="en-US" sz="1500" dirty="0"/>
          </a:p>
        </p:txBody>
      </p:sp>
      <p:sp>
        <p:nvSpPr>
          <p:cNvPr id="5" name="Text 3"/>
          <p:cNvSpPr txBox="1"/>
          <p:nvPr/>
        </p:nvSpPr>
        <p:spPr>
          <a:xfrm>
            <a:off x="640080" y="2103120"/>
            <a:ext cx="5669280" cy="1188720"/>
          </a:xfrm>
          <a:prstGeom prst="rect">
            <a:avLst/>
          </a:prstGeom>
          <a:noFill/>
          <a:ln/>
        </p:spPr>
        <p:txBody>
          <a:bodyPr wrap="square" lIns="0" tIns="0" rIns="0" bIns="0" rtlCol="0" anchor="ctr"/>
          <a:lstStyle/>
          <a:p>
            <a:pPr indent="0" marL="0">
              <a:lnSpc>
                <a:spcPct val="125000"/>
              </a:lnSpc>
              <a:buNone/>
            </a:pPr>
            <a:r>
              <a:rPr lang="en-US" sz="1400" dirty="0">
                <a:solidFill>
                  <a:srgbClr val="16232A"/>
                </a:solidFill>
                <a:latin typeface="Calibri" pitchFamily="34" charset="0"/>
                <a:ea typeface="Calibri" pitchFamily="34" charset="-122"/>
                <a:cs typeface="Calibri" pitchFamily="34" charset="-120"/>
              </a:rPr>
              <a:t>A Desk Card lists the things you are responsible for — the monthly filing, the daily reconciliation, the weekly review. For each one it records how often it happens, roughly how long it takes, and who checks it.</a:t>
            </a:r>
            <a:endParaRPr lang="en-US" sz="1400" dirty="0"/>
          </a:p>
        </p:txBody>
      </p:sp>
      <p:sp>
        <p:nvSpPr>
          <p:cNvPr id="6" name="Shape 4"/>
          <p:cNvSpPr/>
          <p:nvPr/>
        </p:nvSpPr>
        <p:spPr>
          <a:xfrm>
            <a:off x="640080" y="3410712"/>
            <a:ext cx="420624" cy="420624"/>
          </a:xfrm>
          <a:prstGeom prst="ellipse">
            <a:avLst/>
          </a:prstGeom>
          <a:solidFill>
            <a:srgbClr val="E3F0EA"/>
          </a:solidFill>
          <a:ln w="12700">
            <a:solidFill>
              <a:srgbClr val="E3F0EA"/>
            </a:solidFill>
            <a:prstDash val="solid"/>
          </a:ln>
        </p:spPr>
      </p:sp>
      <p:pic>
        <p:nvPicPr>
          <p:cNvPr id="7" name="Image 0" descr="preencoded.png">    </p:cNvPr>
          <p:cNvPicPr>
            <a:picLocks noChangeAspect="1"/>
          </p:cNvPicPr>
          <p:nvPr/>
        </p:nvPicPr>
        <p:blipFill>
          <a:blip r:embed="rId1"/>
          <a:stretch>
            <a:fillRect/>
          </a:stretch>
        </p:blipFill>
        <p:spPr>
          <a:xfrm>
            <a:off x="703174" y="3469599"/>
            <a:ext cx="302849" cy="302849"/>
          </a:xfrm>
          <a:prstGeom prst="rect">
            <a:avLst/>
          </a:prstGeom>
        </p:spPr>
      </p:pic>
      <p:sp>
        <p:nvSpPr>
          <p:cNvPr id="8" name="Text 5"/>
          <p:cNvSpPr txBox="1"/>
          <p:nvPr/>
        </p:nvSpPr>
        <p:spPr>
          <a:xfrm>
            <a:off x="1243584" y="3392424"/>
            <a:ext cx="5120640" cy="256032"/>
          </a:xfrm>
          <a:prstGeom prst="rect">
            <a:avLst/>
          </a:prstGeom>
          <a:noFill/>
          <a:ln/>
        </p:spPr>
        <p:txBody>
          <a:bodyPr wrap="square" lIns="0" tIns="0" rIns="0" bIns="0" rtlCol="0" anchor="ctr"/>
          <a:lstStyle/>
          <a:p>
            <a:pPr indent="0" marL="0">
              <a:buNone/>
            </a:pPr>
            <a:r>
              <a:rPr lang="en-US" sz="1350" b="1" dirty="0">
                <a:solidFill>
                  <a:srgbClr val="0E2F3C"/>
                </a:solidFill>
                <a:latin typeface="Calibri" pitchFamily="34" charset="0"/>
                <a:ea typeface="Calibri" pitchFamily="34" charset="-122"/>
                <a:cs typeface="Calibri" pitchFamily="34" charset="-120"/>
              </a:rPr>
              <a:t>Your recurring work appears by itself.</a:t>
            </a:r>
            <a:endParaRPr lang="en-US" sz="1350" dirty="0"/>
          </a:p>
        </p:txBody>
      </p:sp>
      <p:sp>
        <p:nvSpPr>
          <p:cNvPr id="9" name="Text 6"/>
          <p:cNvSpPr txBox="1"/>
          <p:nvPr/>
        </p:nvSpPr>
        <p:spPr>
          <a:xfrm>
            <a:off x="1243584" y="3666744"/>
            <a:ext cx="5120640" cy="36576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No more remembering that the 7th is a filing day.</a:t>
            </a:r>
            <a:endParaRPr lang="en-US" sz="1200" dirty="0"/>
          </a:p>
        </p:txBody>
      </p:sp>
      <p:sp>
        <p:nvSpPr>
          <p:cNvPr id="10" name="Shape 7"/>
          <p:cNvSpPr/>
          <p:nvPr/>
        </p:nvSpPr>
        <p:spPr>
          <a:xfrm>
            <a:off x="640080" y="4187952"/>
            <a:ext cx="420624" cy="420624"/>
          </a:xfrm>
          <a:prstGeom prst="ellipse">
            <a:avLst/>
          </a:prstGeom>
          <a:solidFill>
            <a:srgbClr val="E3F0EA"/>
          </a:solidFill>
          <a:ln w="12700">
            <a:solidFill>
              <a:srgbClr val="E3F0EA"/>
            </a:solidFill>
            <a:prstDash val="solid"/>
          </a:ln>
        </p:spPr>
      </p:sp>
      <p:pic>
        <p:nvPicPr>
          <p:cNvPr id="11" name="Image 1" descr="preencoded.png">    </p:cNvPr>
          <p:cNvPicPr>
            <a:picLocks noChangeAspect="1"/>
          </p:cNvPicPr>
          <p:nvPr/>
        </p:nvPicPr>
        <p:blipFill>
          <a:blip r:embed="rId2"/>
          <a:stretch>
            <a:fillRect/>
          </a:stretch>
        </p:blipFill>
        <p:spPr>
          <a:xfrm>
            <a:off x="703174" y="4246839"/>
            <a:ext cx="302849" cy="302849"/>
          </a:xfrm>
          <a:prstGeom prst="rect">
            <a:avLst/>
          </a:prstGeom>
        </p:spPr>
      </p:pic>
      <p:sp>
        <p:nvSpPr>
          <p:cNvPr id="12" name="Text 8"/>
          <p:cNvSpPr txBox="1"/>
          <p:nvPr/>
        </p:nvSpPr>
        <p:spPr>
          <a:xfrm>
            <a:off x="1243584" y="4169664"/>
            <a:ext cx="5120640" cy="256032"/>
          </a:xfrm>
          <a:prstGeom prst="rect">
            <a:avLst/>
          </a:prstGeom>
          <a:noFill/>
          <a:ln/>
        </p:spPr>
        <p:txBody>
          <a:bodyPr wrap="square" lIns="0" tIns="0" rIns="0" bIns="0" rtlCol="0" anchor="ctr"/>
          <a:lstStyle/>
          <a:p>
            <a:pPr indent="0" marL="0">
              <a:buNone/>
            </a:pPr>
            <a:r>
              <a:rPr lang="en-US" sz="1350" b="1" dirty="0">
                <a:solidFill>
                  <a:srgbClr val="0E2F3C"/>
                </a:solidFill>
                <a:latin typeface="Calibri" pitchFamily="34" charset="0"/>
                <a:ea typeface="Calibri" pitchFamily="34" charset="-122"/>
                <a:cs typeface="Calibri" pitchFamily="34" charset="-120"/>
              </a:rPr>
              <a:t>Your workload becomes visible.</a:t>
            </a:r>
            <a:endParaRPr lang="en-US" sz="1350" dirty="0"/>
          </a:p>
        </p:txBody>
      </p:sp>
      <p:sp>
        <p:nvSpPr>
          <p:cNvPr id="13" name="Text 9"/>
          <p:cNvSpPr txBox="1"/>
          <p:nvPr/>
        </p:nvSpPr>
        <p:spPr>
          <a:xfrm>
            <a:off x="1243584" y="4443984"/>
            <a:ext cx="5120640" cy="36576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If you are carrying too much, it shows — with evidence, not a complaint.</a:t>
            </a:r>
            <a:endParaRPr lang="en-US" sz="1200" dirty="0"/>
          </a:p>
        </p:txBody>
      </p:sp>
      <p:sp>
        <p:nvSpPr>
          <p:cNvPr id="14" name="Shape 10"/>
          <p:cNvSpPr/>
          <p:nvPr/>
        </p:nvSpPr>
        <p:spPr>
          <a:xfrm>
            <a:off x="640080" y="4965192"/>
            <a:ext cx="420624" cy="420624"/>
          </a:xfrm>
          <a:prstGeom prst="ellipse">
            <a:avLst/>
          </a:prstGeom>
          <a:solidFill>
            <a:srgbClr val="E3F0EA"/>
          </a:solidFill>
          <a:ln w="12700">
            <a:solidFill>
              <a:srgbClr val="E3F0EA"/>
            </a:solidFill>
            <a:prstDash val="solid"/>
          </a:ln>
        </p:spPr>
      </p:sp>
      <p:pic>
        <p:nvPicPr>
          <p:cNvPr id="15" name="Image 2" descr="preencoded.png">    </p:cNvPr>
          <p:cNvPicPr>
            <a:picLocks noChangeAspect="1"/>
          </p:cNvPicPr>
          <p:nvPr/>
        </p:nvPicPr>
        <p:blipFill>
          <a:blip r:embed="rId3"/>
          <a:stretch>
            <a:fillRect/>
          </a:stretch>
        </p:blipFill>
        <p:spPr>
          <a:xfrm>
            <a:off x="703174" y="5024079"/>
            <a:ext cx="302849" cy="302849"/>
          </a:xfrm>
          <a:prstGeom prst="rect">
            <a:avLst/>
          </a:prstGeom>
        </p:spPr>
      </p:pic>
      <p:sp>
        <p:nvSpPr>
          <p:cNvPr id="16" name="Text 11"/>
          <p:cNvSpPr txBox="1"/>
          <p:nvPr/>
        </p:nvSpPr>
        <p:spPr>
          <a:xfrm>
            <a:off x="1243584" y="4946904"/>
            <a:ext cx="5120640" cy="256032"/>
          </a:xfrm>
          <a:prstGeom prst="rect">
            <a:avLst/>
          </a:prstGeom>
          <a:noFill/>
          <a:ln/>
        </p:spPr>
        <p:txBody>
          <a:bodyPr wrap="square" lIns="0" tIns="0" rIns="0" bIns="0" rtlCol="0" anchor="ctr"/>
          <a:lstStyle/>
          <a:p>
            <a:pPr indent="0" marL="0">
              <a:buNone/>
            </a:pPr>
            <a:r>
              <a:rPr lang="en-US" sz="1350" b="1" dirty="0">
                <a:solidFill>
                  <a:srgbClr val="0E2F3C"/>
                </a:solidFill>
                <a:latin typeface="Calibri" pitchFamily="34" charset="0"/>
                <a:ea typeface="Calibri" pitchFamily="34" charset="-122"/>
                <a:cs typeface="Calibri" pitchFamily="34" charset="-120"/>
              </a:rPr>
              <a:t>Handover stops being folklore.</a:t>
            </a:r>
            <a:endParaRPr lang="en-US" sz="1350" dirty="0"/>
          </a:p>
        </p:txBody>
      </p:sp>
      <p:sp>
        <p:nvSpPr>
          <p:cNvPr id="17" name="Text 12"/>
          <p:cNvSpPr txBox="1"/>
          <p:nvPr/>
        </p:nvSpPr>
        <p:spPr>
          <a:xfrm>
            <a:off x="1243584" y="5221224"/>
            <a:ext cx="5120640" cy="365760"/>
          </a:xfrm>
          <a:prstGeom prst="rect">
            <a:avLst/>
          </a:prstGeom>
          <a:noFill/>
          <a:ln/>
        </p:spPr>
        <p:txBody>
          <a:bodyPr wrap="square" lIns="0" tIns="0" rIns="0" bIns="0" rtlCol="0" anchor="ctr"/>
          <a:lstStyle/>
          <a:p>
            <a:pPr indent="0" marL="0">
              <a:buNone/>
            </a:pPr>
            <a:r>
              <a:rPr lang="en-US" sz="1200" dirty="0">
                <a:solidFill>
                  <a:srgbClr val="5C6B73"/>
                </a:solidFill>
                <a:latin typeface="Calibri" pitchFamily="34" charset="0"/>
                <a:ea typeface="Calibri" pitchFamily="34" charset="-122"/>
                <a:cs typeface="Calibri" pitchFamily="34" charset="-120"/>
              </a:rPr>
              <a:t>When you are on leave, your cover knows exactly what falls due.</a:t>
            </a:r>
            <a:endParaRPr lang="en-US" sz="1200" dirty="0"/>
          </a:p>
        </p:txBody>
      </p:sp>
      <p:sp>
        <p:nvSpPr>
          <p:cNvPr id="18" name="Shape 13"/>
          <p:cNvSpPr/>
          <p:nvPr/>
        </p:nvSpPr>
        <p:spPr>
          <a:xfrm>
            <a:off x="6858000" y="2057400"/>
            <a:ext cx="4690872" cy="3977640"/>
          </a:xfrm>
          <a:prstGeom prst="roundRect">
            <a:avLst>
              <a:gd name="adj" fmla="val 1839"/>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9" name="Text 14"/>
          <p:cNvSpPr txBox="1"/>
          <p:nvPr/>
        </p:nvSpPr>
        <p:spPr>
          <a:xfrm>
            <a:off x="7178040" y="2286000"/>
            <a:ext cx="4050792" cy="237744"/>
          </a:xfrm>
          <a:prstGeom prst="rect">
            <a:avLst/>
          </a:prstGeom>
          <a:noFill/>
          <a:ln/>
        </p:spPr>
        <p:txBody>
          <a:bodyPr wrap="square" lIns="0" tIns="0" rIns="0" bIns="0" rtlCol="0" anchor="ctr"/>
          <a:lstStyle/>
          <a:p>
            <a:pPr indent="0" marL="0">
              <a:buNone/>
            </a:pPr>
            <a:r>
              <a:rPr lang="en-US" sz="1000" b="1" spc="180" kern="0" dirty="0">
                <a:solidFill>
                  <a:srgbClr val="1F7A8C"/>
                </a:solidFill>
                <a:latin typeface="Calibri" pitchFamily="34" charset="0"/>
                <a:ea typeface="Calibri" pitchFamily="34" charset="-122"/>
                <a:cs typeface="Calibri" pitchFamily="34" charset="-120"/>
              </a:rPr>
              <a:t>DESK CARD — EXAMPLE</a:t>
            </a:r>
            <a:endParaRPr lang="en-US" sz="1000" dirty="0"/>
          </a:p>
        </p:txBody>
      </p:sp>
      <p:sp>
        <p:nvSpPr>
          <p:cNvPr id="20" name="Text 15"/>
          <p:cNvSpPr txBox="1"/>
          <p:nvPr/>
        </p:nvSpPr>
        <p:spPr>
          <a:xfrm>
            <a:off x="7178040" y="2542032"/>
            <a:ext cx="4050792" cy="329184"/>
          </a:xfrm>
          <a:prstGeom prst="rect">
            <a:avLst/>
          </a:prstGeom>
          <a:noFill/>
          <a:ln/>
        </p:spPr>
        <p:txBody>
          <a:bodyPr wrap="square" lIns="0" tIns="0" rIns="0" bIns="0" rtlCol="0" anchor="ctr"/>
          <a:lstStyle/>
          <a:p>
            <a:pPr indent="0" marL="0">
              <a:buNone/>
            </a:pPr>
            <a:r>
              <a:rPr lang="en-US" sz="1900" b="1" dirty="0">
                <a:solidFill>
                  <a:srgbClr val="0E2F3C"/>
                </a:solidFill>
                <a:latin typeface="Cambria" pitchFamily="34" charset="0"/>
                <a:ea typeface="Cambria" pitchFamily="34" charset="-122"/>
                <a:cs typeface="Cambria" pitchFamily="34" charset="-120"/>
              </a:rPr>
              <a:t>Compliance Officer</a:t>
            </a:r>
            <a:endParaRPr lang="en-US" sz="1900" dirty="0"/>
          </a:p>
        </p:txBody>
      </p:sp>
      <p:sp>
        <p:nvSpPr>
          <p:cNvPr id="21" name="Shape 16"/>
          <p:cNvSpPr/>
          <p:nvPr/>
        </p:nvSpPr>
        <p:spPr>
          <a:xfrm>
            <a:off x="7178040" y="2990088"/>
            <a:ext cx="4050792" cy="9144"/>
          </a:xfrm>
          <a:prstGeom prst="rect">
            <a:avLst/>
          </a:prstGeom>
          <a:solidFill>
            <a:srgbClr val="DCE4E7"/>
          </a:solidFill>
          <a:ln w="12700">
            <a:solidFill>
              <a:srgbClr val="DCE4E7"/>
            </a:solidFill>
            <a:prstDash val="solid"/>
          </a:ln>
        </p:spPr>
      </p:sp>
      <p:sp>
        <p:nvSpPr>
          <p:cNvPr id="22" name="Text 17"/>
          <p:cNvSpPr txBox="1"/>
          <p:nvPr/>
        </p:nvSpPr>
        <p:spPr>
          <a:xfrm>
            <a:off x="7178040" y="3081528"/>
            <a:ext cx="2743200" cy="256032"/>
          </a:xfrm>
          <a:prstGeom prst="rect">
            <a:avLst/>
          </a:prstGeom>
          <a:noFill/>
          <a:ln/>
        </p:spPr>
        <p:txBody>
          <a:bodyPr wrap="square" lIns="0" tIns="0" rIns="0" bIns="0" rtlCol="0" anchor="ctr"/>
          <a:lstStyle/>
          <a:p>
            <a:pPr indent="0" marL="0">
              <a:buNone/>
            </a:pPr>
            <a:r>
              <a:rPr lang="en-US" sz="1250" b="1" dirty="0">
                <a:solidFill>
                  <a:srgbClr val="0E2F3C"/>
                </a:solidFill>
                <a:latin typeface="Calibri" pitchFamily="34" charset="0"/>
                <a:ea typeface="Calibri" pitchFamily="34" charset="-122"/>
                <a:cs typeface="Calibri" pitchFamily="34" charset="-120"/>
              </a:rPr>
              <a:t>Monthly SEBI filing</a:t>
            </a:r>
            <a:endParaRPr lang="en-US" sz="1250" dirty="0"/>
          </a:p>
        </p:txBody>
      </p:sp>
      <p:sp>
        <p:nvSpPr>
          <p:cNvPr id="23" name="Text 18"/>
          <p:cNvSpPr txBox="1"/>
          <p:nvPr/>
        </p:nvSpPr>
        <p:spPr>
          <a:xfrm>
            <a:off x="7178040" y="3319272"/>
            <a:ext cx="2743200" cy="237744"/>
          </a:xfrm>
          <a:prstGeom prst="rect">
            <a:avLst/>
          </a:prstGeom>
          <a:noFill/>
          <a:ln/>
        </p:spPr>
        <p:txBody>
          <a:bodyPr wrap="square" lIns="0" tIns="0" rIns="0" bIns="0" rtlCol="0" anchor="ctr"/>
          <a:lstStyle/>
          <a:p>
            <a:pPr indent="0" marL="0">
              <a:buNone/>
            </a:pPr>
            <a:r>
              <a:rPr lang="en-US" sz="1100" dirty="0">
                <a:solidFill>
                  <a:srgbClr val="5C6B73"/>
                </a:solidFill>
                <a:latin typeface="Calibri" pitchFamily="34" charset="0"/>
                <a:ea typeface="Calibri" pitchFamily="34" charset="-122"/>
                <a:cs typeface="Calibri" pitchFamily="34" charset="-120"/>
              </a:rPr>
              <a:t>Monthly · 7th</a:t>
            </a:r>
            <a:endParaRPr lang="en-US" sz="1100" dirty="0"/>
          </a:p>
        </p:txBody>
      </p:sp>
      <p:sp>
        <p:nvSpPr>
          <p:cNvPr id="24" name="Text 19"/>
          <p:cNvSpPr txBox="1"/>
          <p:nvPr/>
        </p:nvSpPr>
        <p:spPr>
          <a:xfrm>
            <a:off x="10314432" y="3154680"/>
            <a:ext cx="914400" cy="256032"/>
          </a:xfrm>
          <a:prstGeom prst="rect">
            <a:avLst/>
          </a:prstGeom>
          <a:noFill/>
          <a:ln/>
        </p:spPr>
        <p:txBody>
          <a:bodyPr wrap="square" lIns="0" tIns="0" rIns="0" bIns="0" rtlCol="0" anchor="ctr"/>
          <a:lstStyle/>
          <a:p>
            <a:pPr algn="r" indent="0" marL="0">
              <a:buNone/>
            </a:pPr>
            <a:r>
              <a:rPr lang="en-US" sz="1150" dirty="0">
                <a:solidFill>
                  <a:srgbClr val="1F7A8C"/>
                </a:solidFill>
                <a:latin typeface="Calibri" pitchFamily="34" charset="0"/>
                <a:ea typeface="Calibri" pitchFamily="34" charset="-122"/>
                <a:cs typeface="Calibri" pitchFamily="34" charset="-120"/>
              </a:rPr>
              <a:t>120 min</a:t>
            </a:r>
            <a:endParaRPr lang="en-US" sz="1150" dirty="0"/>
          </a:p>
        </p:txBody>
      </p:sp>
      <p:sp>
        <p:nvSpPr>
          <p:cNvPr id="25" name="Shape 20"/>
          <p:cNvSpPr/>
          <p:nvPr/>
        </p:nvSpPr>
        <p:spPr>
          <a:xfrm>
            <a:off x="7178040" y="3593592"/>
            <a:ext cx="4050792" cy="9144"/>
          </a:xfrm>
          <a:prstGeom prst="rect">
            <a:avLst/>
          </a:prstGeom>
          <a:solidFill>
            <a:srgbClr val="DCE4E7"/>
          </a:solidFill>
          <a:ln w="12700">
            <a:solidFill>
              <a:srgbClr val="DCE4E7"/>
            </a:solidFill>
            <a:prstDash val="solid"/>
          </a:ln>
        </p:spPr>
      </p:sp>
      <p:sp>
        <p:nvSpPr>
          <p:cNvPr id="26" name="Text 21"/>
          <p:cNvSpPr txBox="1"/>
          <p:nvPr/>
        </p:nvSpPr>
        <p:spPr>
          <a:xfrm>
            <a:off x="7178040" y="3685032"/>
            <a:ext cx="2743200" cy="256032"/>
          </a:xfrm>
          <a:prstGeom prst="rect">
            <a:avLst/>
          </a:prstGeom>
          <a:noFill/>
          <a:ln/>
        </p:spPr>
        <p:txBody>
          <a:bodyPr wrap="square" lIns="0" tIns="0" rIns="0" bIns="0" rtlCol="0" anchor="ctr"/>
          <a:lstStyle/>
          <a:p>
            <a:pPr indent="0" marL="0">
              <a:buNone/>
            </a:pPr>
            <a:r>
              <a:rPr lang="en-US" sz="1250" b="1" dirty="0">
                <a:solidFill>
                  <a:srgbClr val="0E2F3C"/>
                </a:solidFill>
                <a:latin typeface="Calibri" pitchFamily="34" charset="0"/>
                <a:ea typeface="Calibri" pitchFamily="34" charset="-122"/>
                <a:cs typeface="Calibri" pitchFamily="34" charset="-120"/>
              </a:rPr>
              <a:t>Client complaint register</a:t>
            </a:r>
            <a:endParaRPr lang="en-US" sz="1250" dirty="0"/>
          </a:p>
        </p:txBody>
      </p:sp>
      <p:sp>
        <p:nvSpPr>
          <p:cNvPr id="27" name="Text 22"/>
          <p:cNvSpPr txBox="1"/>
          <p:nvPr/>
        </p:nvSpPr>
        <p:spPr>
          <a:xfrm>
            <a:off x="7178040" y="3922776"/>
            <a:ext cx="2743200" cy="237744"/>
          </a:xfrm>
          <a:prstGeom prst="rect">
            <a:avLst/>
          </a:prstGeom>
          <a:noFill/>
          <a:ln/>
        </p:spPr>
        <p:txBody>
          <a:bodyPr wrap="square" lIns="0" tIns="0" rIns="0" bIns="0" rtlCol="0" anchor="ctr"/>
          <a:lstStyle/>
          <a:p>
            <a:pPr indent="0" marL="0">
              <a:buNone/>
            </a:pPr>
            <a:r>
              <a:rPr lang="en-US" sz="1100" dirty="0">
                <a:solidFill>
                  <a:srgbClr val="5C6B73"/>
                </a:solidFill>
                <a:latin typeface="Calibri" pitchFamily="34" charset="0"/>
                <a:ea typeface="Calibri" pitchFamily="34" charset="-122"/>
                <a:cs typeface="Calibri" pitchFamily="34" charset="-120"/>
              </a:rPr>
              <a:t>Weekly · Mon</a:t>
            </a:r>
            <a:endParaRPr lang="en-US" sz="1100" dirty="0"/>
          </a:p>
        </p:txBody>
      </p:sp>
      <p:sp>
        <p:nvSpPr>
          <p:cNvPr id="28" name="Text 23"/>
          <p:cNvSpPr txBox="1"/>
          <p:nvPr/>
        </p:nvSpPr>
        <p:spPr>
          <a:xfrm>
            <a:off x="10314432" y="3758184"/>
            <a:ext cx="914400" cy="256032"/>
          </a:xfrm>
          <a:prstGeom prst="rect">
            <a:avLst/>
          </a:prstGeom>
          <a:noFill/>
          <a:ln/>
        </p:spPr>
        <p:txBody>
          <a:bodyPr wrap="square" lIns="0" tIns="0" rIns="0" bIns="0" rtlCol="0" anchor="ctr"/>
          <a:lstStyle/>
          <a:p>
            <a:pPr algn="r" indent="0" marL="0">
              <a:buNone/>
            </a:pPr>
            <a:r>
              <a:rPr lang="en-US" sz="1150" dirty="0">
                <a:solidFill>
                  <a:srgbClr val="1F7A8C"/>
                </a:solidFill>
                <a:latin typeface="Calibri" pitchFamily="34" charset="0"/>
                <a:ea typeface="Calibri" pitchFamily="34" charset="-122"/>
                <a:cs typeface="Calibri" pitchFamily="34" charset="-120"/>
              </a:rPr>
              <a:t>45 min</a:t>
            </a:r>
            <a:endParaRPr lang="en-US" sz="1150" dirty="0"/>
          </a:p>
        </p:txBody>
      </p:sp>
      <p:sp>
        <p:nvSpPr>
          <p:cNvPr id="29" name="Shape 24"/>
          <p:cNvSpPr/>
          <p:nvPr/>
        </p:nvSpPr>
        <p:spPr>
          <a:xfrm>
            <a:off x="7178040" y="4197096"/>
            <a:ext cx="4050792" cy="9144"/>
          </a:xfrm>
          <a:prstGeom prst="rect">
            <a:avLst/>
          </a:prstGeom>
          <a:solidFill>
            <a:srgbClr val="DCE4E7"/>
          </a:solidFill>
          <a:ln w="12700">
            <a:solidFill>
              <a:srgbClr val="DCE4E7"/>
            </a:solidFill>
            <a:prstDash val="solid"/>
          </a:ln>
        </p:spPr>
      </p:sp>
      <p:sp>
        <p:nvSpPr>
          <p:cNvPr id="30" name="Text 25"/>
          <p:cNvSpPr txBox="1"/>
          <p:nvPr/>
        </p:nvSpPr>
        <p:spPr>
          <a:xfrm>
            <a:off x="7178040" y="4288536"/>
            <a:ext cx="2743200" cy="256032"/>
          </a:xfrm>
          <a:prstGeom prst="rect">
            <a:avLst/>
          </a:prstGeom>
          <a:noFill/>
          <a:ln/>
        </p:spPr>
        <p:txBody>
          <a:bodyPr wrap="square" lIns="0" tIns="0" rIns="0" bIns="0" rtlCol="0" anchor="ctr"/>
          <a:lstStyle/>
          <a:p>
            <a:pPr indent="0" marL="0">
              <a:buNone/>
            </a:pPr>
            <a:r>
              <a:rPr lang="en-US" sz="1250" b="1" dirty="0">
                <a:solidFill>
                  <a:srgbClr val="0E2F3C"/>
                </a:solidFill>
                <a:latin typeface="Calibri" pitchFamily="34" charset="0"/>
                <a:ea typeface="Calibri" pitchFamily="34" charset="-122"/>
                <a:cs typeface="Calibri" pitchFamily="34" charset="-120"/>
              </a:rPr>
              <a:t>Daily margin reporting</a:t>
            </a:r>
            <a:endParaRPr lang="en-US" sz="1250" dirty="0"/>
          </a:p>
        </p:txBody>
      </p:sp>
      <p:sp>
        <p:nvSpPr>
          <p:cNvPr id="31" name="Text 26"/>
          <p:cNvSpPr txBox="1"/>
          <p:nvPr/>
        </p:nvSpPr>
        <p:spPr>
          <a:xfrm>
            <a:off x="7178040" y="4526280"/>
            <a:ext cx="2743200" cy="237744"/>
          </a:xfrm>
          <a:prstGeom prst="rect">
            <a:avLst/>
          </a:prstGeom>
          <a:noFill/>
          <a:ln/>
        </p:spPr>
        <p:txBody>
          <a:bodyPr wrap="square" lIns="0" tIns="0" rIns="0" bIns="0" rtlCol="0" anchor="ctr"/>
          <a:lstStyle/>
          <a:p>
            <a:pPr indent="0" marL="0">
              <a:buNone/>
            </a:pPr>
            <a:r>
              <a:rPr lang="en-US" sz="1100" dirty="0">
                <a:solidFill>
                  <a:srgbClr val="5C6B73"/>
                </a:solidFill>
                <a:latin typeface="Calibri" pitchFamily="34" charset="0"/>
                <a:ea typeface="Calibri" pitchFamily="34" charset="-122"/>
                <a:cs typeface="Calibri" pitchFamily="34" charset="-120"/>
              </a:rPr>
              <a:t>Daily</a:t>
            </a:r>
            <a:endParaRPr lang="en-US" sz="1100" dirty="0"/>
          </a:p>
        </p:txBody>
      </p:sp>
      <p:sp>
        <p:nvSpPr>
          <p:cNvPr id="32" name="Text 27"/>
          <p:cNvSpPr txBox="1"/>
          <p:nvPr/>
        </p:nvSpPr>
        <p:spPr>
          <a:xfrm>
            <a:off x="10314432" y="4361688"/>
            <a:ext cx="914400" cy="256032"/>
          </a:xfrm>
          <a:prstGeom prst="rect">
            <a:avLst/>
          </a:prstGeom>
          <a:noFill/>
          <a:ln/>
        </p:spPr>
        <p:txBody>
          <a:bodyPr wrap="square" lIns="0" tIns="0" rIns="0" bIns="0" rtlCol="0" anchor="ctr"/>
          <a:lstStyle/>
          <a:p>
            <a:pPr algn="r" indent="0" marL="0">
              <a:buNone/>
            </a:pPr>
            <a:r>
              <a:rPr lang="en-US" sz="1150" dirty="0">
                <a:solidFill>
                  <a:srgbClr val="1F7A8C"/>
                </a:solidFill>
                <a:latin typeface="Calibri" pitchFamily="34" charset="0"/>
                <a:ea typeface="Calibri" pitchFamily="34" charset="-122"/>
                <a:cs typeface="Calibri" pitchFamily="34" charset="-120"/>
              </a:rPr>
              <a:t>30 min</a:t>
            </a:r>
            <a:endParaRPr lang="en-US" sz="1150" dirty="0"/>
          </a:p>
        </p:txBody>
      </p:sp>
      <p:sp>
        <p:nvSpPr>
          <p:cNvPr id="33" name="Shape 28"/>
          <p:cNvSpPr/>
          <p:nvPr/>
        </p:nvSpPr>
        <p:spPr>
          <a:xfrm>
            <a:off x="7178040" y="4800600"/>
            <a:ext cx="4050792" cy="9144"/>
          </a:xfrm>
          <a:prstGeom prst="rect">
            <a:avLst/>
          </a:prstGeom>
          <a:solidFill>
            <a:srgbClr val="DCE4E7"/>
          </a:solidFill>
          <a:ln w="12700">
            <a:solidFill>
              <a:srgbClr val="DCE4E7"/>
            </a:solidFill>
            <a:prstDash val="solid"/>
          </a:ln>
        </p:spPr>
      </p:sp>
      <p:sp>
        <p:nvSpPr>
          <p:cNvPr id="34" name="Text 29"/>
          <p:cNvSpPr txBox="1"/>
          <p:nvPr/>
        </p:nvSpPr>
        <p:spPr>
          <a:xfrm>
            <a:off x="7178040" y="4892040"/>
            <a:ext cx="2743200" cy="256032"/>
          </a:xfrm>
          <a:prstGeom prst="rect">
            <a:avLst/>
          </a:prstGeom>
          <a:noFill/>
          <a:ln/>
        </p:spPr>
        <p:txBody>
          <a:bodyPr wrap="square" lIns="0" tIns="0" rIns="0" bIns="0" rtlCol="0" anchor="ctr"/>
          <a:lstStyle/>
          <a:p>
            <a:pPr indent="0" marL="0">
              <a:buNone/>
            </a:pPr>
            <a:r>
              <a:rPr lang="en-US" sz="1250" b="1" dirty="0">
                <a:solidFill>
                  <a:srgbClr val="0E2F3C"/>
                </a:solidFill>
                <a:latin typeface="Calibri" pitchFamily="34" charset="0"/>
                <a:ea typeface="Calibri" pitchFamily="34" charset="-122"/>
                <a:cs typeface="Calibri" pitchFamily="34" charset="-120"/>
              </a:rPr>
              <a:t>Quarterly internal audit pack</a:t>
            </a:r>
            <a:endParaRPr lang="en-US" sz="1250" dirty="0"/>
          </a:p>
        </p:txBody>
      </p:sp>
      <p:sp>
        <p:nvSpPr>
          <p:cNvPr id="35" name="Text 30"/>
          <p:cNvSpPr txBox="1"/>
          <p:nvPr/>
        </p:nvSpPr>
        <p:spPr>
          <a:xfrm>
            <a:off x="7178040" y="5129784"/>
            <a:ext cx="2743200" cy="237744"/>
          </a:xfrm>
          <a:prstGeom prst="rect">
            <a:avLst/>
          </a:prstGeom>
          <a:noFill/>
          <a:ln/>
        </p:spPr>
        <p:txBody>
          <a:bodyPr wrap="square" lIns="0" tIns="0" rIns="0" bIns="0" rtlCol="0" anchor="ctr"/>
          <a:lstStyle/>
          <a:p>
            <a:pPr indent="0" marL="0">
              <a:buNone/>
            </a:pPr>
            <a:r>
              <a:rPr lang="en-US" sz="1100" dirty="0">
                <a:solidFill>
                  <a:srgbClr val="5C6B73"/>
                </a:solidFill>
                <a:latin typeface="Calibri" pitchFamily="34" charset="0"/>
                <a:ea typeface="Calibri" pitchFamily="34" charset="-122"/>
                <a:cs typeface="Calibri" pitchFamily="34" charset="-120"/>
              </a:rPr>
              <a:t>Quarterly</a:t>
            </a:r>
            <a:endParaRPr lang="en-US" sz="1100" dirty="0"/>
          </a:p>
        </p:txBody>
      </p:sp>
      <p:sp>
        <p:nvSpPr>
          <p:cNvPr id="36" name="Text 31"/>
          <p:cNvSpPr txBox="1"/>
          <p:nvPr/>
        </p:nvSpPr>
        <p:spPr>
          <a:xfrm>
            <a:off x="10314432" y="4965192"/>
            <a:ext cx="914400" cy="256032"/>
          </a:xfrm>
          <a:prstGeom prst="rect">
            <a:avLst/>
          </a:prstGeom>
          <a:noFill/>
          <a:ln/>
        </p:spPr>
        <p:txBody>
          <a:bodyPr wrap="square" lIns="0" tIns="0" rIns="0" bIns="0" rtlCol="0" anchor="ctr"/>
          <a:lstStyle/>
          <a:p>
            <a:pPr algn="r" indent="0" marL="0">
              <a:buNone/>
            </a:pPr>
            <a:r>
              <a:rPr lang="en-US" sz="1150" dirty="0">
                <a:solidFill>
                  <a:srgbClr val="1F7A8C"/>
                </a:solidFill>
                <a:latin typeface="Calibri" pitchFamily="34" charset="0"/>
                <a:ea typeface="Calibri" pitchFamily="34" charset="-122"/>
                <a:cs typeface="Calibri" pitchFamily="34" charset="-120"/>
              </a:rPr>
              <a:t>240 min</a:t>
            </a:r>
            <a:endParaRPr lang="en-US" sz="1150" dirty="0"/>
          </a:p>
        </p:txBody>
      </p:sp>
      <p:sp>
        <p:nvSpPr>
          <p:cNvPr id="37" name="Shape 32"/>
          <p:cNvSpPr/>
          <p:nvPr/>
        </p:nvSpPr>
        <p:spPr>
          <a:xfrm>
            <a:off x="7178040" y="5413248"/>
            <a:ext cx="4050792" cy="9144"/>
          </a:xfrm>
          <a:prstGeom prst="rect">
            <a:avLst/>
          </a:prstGeom>
          <a:solidFill>
            <a:srgbClr val="DCE4E7"/>
          </a:solidFill>
          <a:ln w="12700">
            <a:solidFill>
              <a:srgbClr val="DCE4E7"/>
            </a:solidFill>
            <a:prstDash val="solid"/>
          </a:ln>
        </p:spPr>
      </p:sp>
      <p:sp>
        <p:nvSpPr>
          <p:cNvPr id="38" name="Text 33"/>
          <p:cNvSpPr txBox="1"/>
          <p:nvPr/>
        </p:nvSpPr>
        <p:spPr>
          <a:xfrm>
            <a:off x="7178040" y="5541264"/>
            <a:ext cx="4050792" cy="274320"/>
          </a:xfrm>
          <a:prstGeom prst="rect">
            <a:avLst/>
          </a:prstGeom>
          <a:noFill/>
          <a:ln/>
        </p:spPr>
        <p:txBody>
          <a:bodyPr wrap="square" lIns="0" tIns="0" rIns="0" bIns="0" rtlCol="0" anchor="ctr"/>
          <a:lstStyle/>
          <a:p>
            <a:pPr indent="0" marL="0">
              <a:buNone/>
            </a:pPr>
            <a:r>
              <a:rPr lang="en-US" sz="1150" i="1" dirty="0">
                <a:solidFill>
                  <a:srgbClr val="5C6B73"/>
                </a:solidFill>
                <a:latin typeface="Calibri" pitchFamily="34" charset="0"/>
                <a:ea typeface="Calibri" pitchFamily="34" charset="-122"/>
                <a:cs typeface="Calibri" pitchFamily="34" charset="-120"/>
              </a:rPr>
              <a:t>workPulse creates each of these as a task, on time, every time.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WHAT IT FEELS LIKE TO USE</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A normal day, start to finish</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Four moments. None of them takes more than a minute.</a:t>
            </a:r>
            <a:endParaRPr lang="en-US" sz="1500" dirty="0"/>
          </a:p>
        </p:txBody>
      </p:sp>
      <p:sp>
        <p:nvSpPr>
          <p:cNvPr id="5" name="Shape 3"/>
          <p:cNvSpPr/>
          <p:nvPr/>
        </p:nvSpPr>
        <p:spPr>
          <a:xfrm>
            <a:off x="640080" y="2148840"/>
            <a:ext cx="10911535" cy="786384"/>
          </a:xfrm>
          <a:prstGeom prst="roundRect">
            <a:avLst>
              <a:gd name="adj" fmla="val 9302"/>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6" name="Shape 4"/>
          <p:cNvSpPr/>
          <p:nvPr/>
        </p:nvSpPr>
        <p:spPr>
          <a:xfrm>
            <a:off x="914400" y="2276856"/>
            <a:ext cx="530352" cy="530352"/>
          </a:xfrm>
          <a:prstGeom prst="ellipse">
            <a:avLst/>
          </a:prstGeom>
          <a:solidFill>
            <a:srgbClr val="E3EFF2"/>
          </a:solidFill>
          <a:ln w="12700">
            <a:solidFill>
              <a:srgbClr val="E3EFF2"/>
            </a:solidFill>
            <a:prstDash val="solid"/>
          </a:ln>
        </p:spPr>
      </p:sp>
      <p:pic>
        <p:nvPicPr>
          <p:cNvPr id="7" name="Image 0" descr="preencoded.png">    </p:cNvPr>
          <p:cNvPicPr>
            <a:picLocks noChangeAspect="1"/>
          </p:cNvPicPr>
          <p:nvPr/>
        </p:nvPicPr>
        <p:blipFill>
          <a:blip r:embed="rId1"/>
          <a:stretch>
            <a:fillRect/>
          </a:stretch>
        </p:blipFill>
        <p:spPr>
          <a:xfrm>
            <a:off x="993953" y="2351105"/>
            <a:ext cx="381853" cy="381853"/>
          </a:xfrm>
          <a:prstGeom prst="rect">
            <a:avLst/>
          </a:prstGeom>
        </p:spPr>
      </p:pic>
      <p:sp>
        <p:nvSpPr>
          <p:cNvPr id="8" name="Text 5"/>
          <p:cNvSpPr txBox="1"/>
          <p:nvPr/>
        </p:nvSpPr>
        <p:spPr>
          <a:xfrm>
            <a:off x="1600200" y="2267712"/>
            <a:ext cx="274320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9:15 — My Tasks</a:t>
            </a:r>
            <a:endParaRPr lang="en-US" sz="1450" dirty="0"/>
          </a:p>
        </p:txBody>
      </p:sp>
      <p:sp>
        <p:nvSpPr>
          <p:cNvPr id="9" name="Text 6"/>
          <p:cNvSpPr txBox="1"/>
          <p:nvPr/>
        </p:nvSpPr>
        <p:spPr>
          <a:xfrm>
            <a:off x="4434840" y="2286000"/>
            <a:ext cx="6766560" cy="548640"/>
          </a:xfrm>
          <a:prstGeom prst="rect">
            <a:avLst/>
          </a:prstGeom>
          <a:noFill/>
          <a:ln/>
        </p:spPr>
        <p:txBody>
          <a:bodyPr wrap="square" lIns="0" tIns="0" rIns="0" bIns="0" rtlCol="0" anchor="ctr"/>
          <a:lstStyle/>
          <a:p>
            <a:pPr indent="0" marL="0">
              <a:lnSpc>
                <a:spcPct val="110000"/>
              </a:lnSpc>
              <a:buNone/>
            </a:pPr>
            <a:r>
              <a:rPr lang="en-US" sz="1250" dirty="0">
                <a:solidFill>
                  <a:srgbClr val="5C6B73"/>
                </a:solidFill>
                <a:latin typeface="Calibri" pitchFamily="34" charset="0"/>
                <a:ea typeface="Calibri" pitchFamily="34" charset="-122"/>
                <a:cs typeface="Calibri" pitchFamily="34" charset="-120"/>
              </a:rPr>
              <a:t>Everything due today, in one list, most urgent first. Nothing to hunt for.</a:t>
            </a:r>
            <a:endParaRPr lang="en-US" sz="1250" dirty="0"/>
          </a:p>
        </p:txBody>
      </p:sp>
      <p:sp>
        <p:nvSpPr>
          <p:cNvPr id="10" name="Shape 7"/>
          <p:cNvSpPr/>
          <p:nvPr/>
        </p:nvSpPr>
        <p:spPr>
          <a:xfrm>
            <a:off x="640080" y="3081528"/>
            <a:ext cx="10911535" cy="786384"/>
          </a:xfrm>
          <a:prstGeom prst="roundRect">
            <a:avLst>
              <a:gd name="adj" fmla="val 9302"/>
            </a:avLst>
          </a:prstGeom>
          <a:solidFill>
            <a:srgbClr val="FFFFFF"/>
          </a:solidFill>
          <a:ln w="12700">
            <a:solidFill>
              <a:srgbClr val="FFFFFF"/>
            </a:solidFill>
            <a:prstDash val="solid"/>
          </a:ln>
          <a:effectLst>
            <a:outerShdw sx="100000" sy="100000" kx="0" ky="0" algn="bl" rotWithShape="0" blurRad="127000" dist="25400" dir="5400000">
              <a:srgbClr val="0E2F3C">
                <a:alpha val="10000"/>
              </a:srgbClr>
            </a:outerShdw>
          </a:effectLst>
        </p:spPr>
      </p:sp>
      <p:sp>
        <p:nvSpPr>
          <p:cNvPr id="11" name="Shape 8"/>
          <p:cNvSpPr/>
          <p:nvPr/>
        </p:nvSpPr>
        <p:spPr>
          <a:xfrm>
            <a:off x="914400" y="3209544"/>
            <a:ext cx="530352" cy="530352"/>
          </a:xfrm>
          <a:prstGeom prst="ellipse">
            <a:avLst/>
          </a:prstGeom>
          <a:solidFill>
            <a:srgbClr val="E3EFF2"/>
          </a:solidFill>
          <a:ln w="12700">
            <a:solidFill>
              <a:srgbClr val="E3EFF2"/>
            </a:solidFill>
            <a:prstDash val="solid"/>
          </a:ln>
        </p:spPr>
      </p:sp>
      <p:pic>
        <p:nvPicPr>
          <p:cNvPr id="12" name="Image 1" descr="preencoded.png">    </p:cNvPr>
          <p:cNvPicPr>
            <a:picLocks noChangeAspect="1"/>
          </p:cNvPicPr>
          <p:nvPr/>
        </p:nvPicPr>
        <p:blipFill>
          <a:blip r:embed="rId2"/>
          <a:stretch>
            <a:fillRect/>
          </a:stretch>
        </p:blipFill>
        <p:spPr>
          <a:xfrm>
            <a:off x="993953" y="3283793"/>
            <a:ext cx="381853" cy="381853"/>
          </a:xfrm>
          <a:prstGeom prst="rect">
            <a:avLst/>
          </a:prstGeom>
        </p:spPr>
      </p:pic>
      <p:sp>
        <p:nvSpPr>
          <p:cNvPr id="13" name="Text 9"/>
          <p:cNvSpPr txBox="1"/>
          <p:nvPr/>
        </p:nvSpPr>
        <p:spPr>
          <a:xfrm>
            <a:off x="1600200" y="3200400"/>
            <a:ext cx="274320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9:20 — Plan the day</a:t>
            </a:r>
            <a:endParaRPr lang="en-US" sz="1450" dirty="0"/>
          </a:p>
        </p:txBody>
      </p:sp>
      <p:sp>
        <p:nvSpPr>
          <p:cNvPr id="14" name="Text 10"/>
          <p:cNvSpPr txBox="1"/>
          <p:nvPr/>
        </p:nvSpPr>
        <p:spPr>
          <a:xfrm>
            <a:off x="4434840" y="3218688"/>
            <a:ext cx="6766560" cy="548640"/>
          </a:xfrm>
          <a:prstGeom prst="rect">
            <a:avLst/>
          </a:prstGeom>
          <a:noFill/>
          <a:ln/>
        </p:spPr>
        <p:txBody>
          <a:bodyPr wrap="square" lIns="0" tIns="0" rIns="0" bIns="0" rtlCol="0" anchor="ctr"/>
          <a:lstStyle/>
          <a:p>
            <a:pPr indent="0" marL="0">
              <a:lnSpc>
                <a:spcPct val="110000"/>
              </a:lnSpc>
              <a:buNone/>
            </a:pPr>
            <a:r>
              <a:rPr lang="en-US" sz="1250" dirty="0">
                <a:solidFill>
                  <a:srgbClr val="5C6B73"/>
                </a:solidFill>
                <a:latin typeface="Calibri" pitchFamily="34" charset="0"/>
                <a:ea typeface="Calibri" pitchFamily="34" charset="-122"/>
                <a:cs typeface="Calibri" pitchFamily="34" charset="-120"/>
              </a:rPr>
              <a:t>Drag tasks onto your calendar. You can see if you have committed to more hours than the day holds.</a:t>
            </a:r>
            <a:endParaRPr lang="en-US" sz="1250" dirty="0"/>
          </a:p>
        </p:txBody>
      </p:sp>
      <p:sp>
        <p:nvSpPr>
          <p:cNvPr id="15" name="Shape 11"/>
          <p:cNvSpPr/>
          <p:nvPr/>
        </p:nvSpPr>
        <p:spPr>
          <a:xfrm>
            <a:off x="640080" y="4014216"/>
            <a:ext cx="10911535" cy="786384"/>
          </a:xfrm>
          <a:prstGeom prst="roundRect">
            <a:avLst>
              <a:gd name="adj" fmla="val 9302"/>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6" name="Shape 12"/>
          <p:cNvSpPr/>
          <p:nvPr/>
        </p:nvSpPr>
        <p:spPr>
          <a:xfrm>
            <a:off x="914400" y="4142232"/>
            <a:ext cx="530352" cy="530352"/>
          </a:xfrm>
          <a:prstGeom prst="ellipse">
            <a:avLst/>
          </a:prstGeom>
          <a:solidFill>
            <a:srgbClr val="E3EFF2"/>
          </a:solidFill>
          <a:ln w="12700">
            <a:solidFill>
              <a:srgbClr val="E3EFF2"/>
            </a:solidFill>
            <a:prstDash val="solid"/>
          </a:ln>
        </p:spPr>
      </p:sp>
      <p:pic>
        <p:nvPicPr>
          <p:cNvPr id="17" name="Image 2" descr="preencoded.png">    </p:cNvPr>
          <p:cNvPicPr>
            <a:picLocks noChangeAspect="1"/>
          </p:cNvPicPr>
          <p:nvPr/>
        </p:nvPicPr>
        <p:blipFill>
          <a:blip r:embed="rId3"/>
          <a:stretch>
            <a:fillRect/>
          </a:stretch>
        </p:blipFill>
        <p:spPr>
          <a:xfrm>
            <a:off x="993953" y="4216481"/>
            <a:ext cx="381853" cy="381853"/>
          </a:xfrm>
          <a:prstGeom prst="rect">
            <a:avLst/>
          </a:prstGeom>
        </p:spPr>
      </p:pic>
      <p:sp>
        <p:nvSpPr>
          <p:cNvPr id="18" name="Text 13"/>
          <p:cNvSpPr txBox="1"/>
          <p:nvPr/>
        </p:nvSpPr>
        <p:spPr>
          <a:xfrm>
            <a:off x="1600200" y="4133088"/>
            <a:ext cx="274320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Through the day</a:t>
            </a:r>
            <a:endParaRPr lang="en-US" sz="1450" dirty="0"/>
          </a:p>
        </p:txBody>
      </p:sp>
      <p:sp>
        <p:nvSpPr>
          <p:cNvPr id="19" name="Text 14"/>
          <p:cNvSpPr txBox="1"/>
          <p:nvPr/>
        </p:nvSpPr>
        <p:spPr>
          <a:xfrm>
            <a:off x="4434840" y="4151376"/>
            <a:ext cx="6766560" cy="548640"/>
          </a:xfrm>
          <a:prstGeom prst="rect">
            <a:avLst/>
          </a:prstGeom>
          <a:noFill/>
          <a:ln/>
        </p:spPr>
        <p:txBody>
          <a:bodyPr wrap="square" lIns="0" tIns="0" rIns="0" bIns="0" rtlCol="0" anchor="ctr"/>
          <a:lstStyle/>
          <a:p>
            <a:pPr indent="0" marL="0">
              <a:lnSpc>
                <a:spcPct val="110000"/>
              </a:lnSpc>
              <a:buNone/>
            </a:pPr>
            <a:r>
              <a:rPr lang="en-US" sz="1250" dirty="0">
                <a:solidFill>
                  <a:srgbClr val="5C6B73"/>
                </a:solidFill>
                <a:latin typeface="Calibri" pitchFamily="34" charset="0"/>
                <a:ea typeface="Calibri" pitchFamily="34" charset="-122"/>
                <a:cs typeface="Calibri" pitchFamily="34" charset="-120"/>
              </a:rPr>
              <a:t>Move a card as you go. If you get stuck, mark it blocked and name who can unblock it.</a:t>
            </a:r>
            <a:endParaRPr lang="en-US" sz="1250" dirty="0"/>
          </a:p>
        </p:txBody>
      </p:sp>
      <p:sp>
        <p:nvSpPr>
          <p:cNvPr id="20" name="Shape 15"/>
          <p:cNvSpPr/>
          <p:nvPr/>
        </p:nvSpPr>
        <p:spPr>
          <a:xfrm>
            <a:off x="640080" y="4946904"/>
            <a:ext cx="10911535" cy="786384"/>
          </a:xfrm>
          <a:prstGeom prst="roundRect">
            <a:avLst>
              <a:gd name="adj" fmla="val 9302"/>
            </a:avLst>
          </a:prstGeom>
          <a:solidFill>
            <a:srgbClr val="FFFFFF"/>
          </a:solidFill>
          <a:ln w="12700">
            <a:solidFill>
              <a:srgbClr val="FFFFFF"/>
            </a:solidFill>
            <a:prstDash val="solid"/>
          </a:ln>
          <a:effectLst>
            <a:outerShdw sx="100000" sy="100000" kx="0" ky="0" algn="bl" rotWithShape="0" blurRad="127000" dist="25400" dir="5400000">
              <a:srgbClr val="0E2F3C">
                <a:alpha val="10000"/>
              </a:srgbClr>
            </a:outerShdw>
          </a:effectLst>
        </p:spPr>
      </p:sp>
      <p:sp>
        <p:nvSpPr>
          <p:cNvPr id="21" name="Shape 16"/>
          <p:cNvSpPr/>
          <p:nvPr/>
        </p:nvSpPr>
        <p:spPr>
          <a:xfrm>
            <a:off x="914400" y="5074920"/>
            <a:ext cx="530352" cy="530352"/>
          </a:xfrm>
          <a:prstGeom prst="ellipse">
            <a:avLst/>
          </a:prstGeom>
          <a:solidFill>
            <a:srgbClr val="E3EFF2"/>
          </a:solidFill>
          <a:ln w="12700">
            <a:solidFill>
              <a:srgbClr val="E3EFF2"/>
            </a:solidFill>
            <a:prstDash val="solid"/>
          </a:ln>
        </p:spPr>
      </p:sp>
      <p:pic>
        <p:nvPicPr>
          <p:cNvPr id="22" name="Image 3" descr="preencoded.png">    </p:cNvPr>
          <p:cNvPicPr>
            <a:picLocks noChangeAspect="1"/>
          </p:cNvPicPr>
          <p:nvPr/>
        </p:nvPicPr>
        <p:blipFill>
          <a:blip r:embed="rId4"/>
          <a:stretch>
            <a:fillRect/>
          </a:stretch>
        </p:blipFill>
        <p:spPr>
          <a:xfrm>
            <a:off x="993953" y="5149169"/>
            <a:ext cx="381853" cy="381853"/>
          </a:xfrm>
          <a:prstGeom prst="rect">
            <a:avLst/>
          </a:prstGeom>
        </p:spPr>
      </p:pic>
      <p:sp>
        <p:nvSpPr>
          <p:cNvPr id="23" name="Text 17"/>
          <p:cNvSpPr txBox="1"/>
          <p:nvPr/>
        </p:nvSpPr>
        <p:spPr>
          <a:xfrm>
            <a:off x="1600200" y="5065776"/>
            <a:ext cx="274320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Before you leave</a:t>
            </a:r>
            <a:endParaRPr lang="en-US" sz="1450" dirty="0"/>
          </a:p>
        </p:txBody>
      </p:sp>
      <p:sp>
        <p:nvSpPr>
          <p:cNvPr id="24" name="Text 18"/>
          <p:cNvSpPr txBox="1"/>
          <p:nvPr/>
        </p:nvSpPr>
        <p:spPr>
          <a:xfrm>
            <a:off x="4434840" y="5084064"/>
            <a:ext cx="6766560" cy="548640"/>
          </a:xfrm>
          <a:prstGeom prst="rect">
            <a:avLst/>
          </a:prstGeom>
          <a:noFill/>
          <a:ln/>
        </p:spPr>
        <p:txBody>
          <a:bodyPr wrap="square" lIns="0" tIns="0" rIns="0" bIns="0" rtlCol="0" anchor="ctr"/>
          <a:lstStyle/>
          <a:p>
            <a:pPr indent="0" marL="0">
              <a:lnSpc>
                <a:spcPct val="110000"/>
              </a:lnSpc>
              <a:buNone/>
            </a:pPr>
            <a:r>
              <a:rPr lang="en-US" sz="1250" dirty="0">
                <a:solidFill>
                  <a:srgbClr val="5C6B73"/>
                </a:solidFill>
                <a:latin typeface="Calibri" pitchFamily="34" charset="0"/>
                <a:ea typeface="Calibri" pitchFamily="34" charset="-122"/>
                <a:cs typeface="Calibri" pitchFamily="34" charset="-120"/>
              </a:rPr>
              <a:t>Tick the checklist, attach what you produced, send it for review if it needs one.</a:t>
            </a:r>
            <a:endParaRPr lang="en-US" sz="1250" dirty="0"/>
          </a:p>
        </p:txBody>
      </p:sp>
      <p:sp>
        <p:nvSpPr>
          <p:cNvPr id="25" name="Text 19"/>
          <p:cNvSpPr txBox="1"/>
          <p:nvPr/>
        </p:nvSpPr>
        <p:spPr>
          <a:xfrm>
            <a:off x="640080" y="5989320"/>
            <a:ext cx="10911535" cy="365760"/>
          </a:xfrm>
          <a:prstGeom prst="rect">
            <a:avLst/>
          </a:prstGeom>
          <a:noFill/>
          <a:ln/>
        </p:spPr>
        <p:txBody>
          <a:bodyPr wrap="square" lIns="0" tIns="0" rIns="0" bIns="0" rtlCol="0" anchor="ctr"/>
          <a:lstStyle/>
          <a:p>
            <a:pPr indent="0" marL="0">
              <a:buNone/>
            </a:pPr>
            <a:r>
              <a:rPr lang="en-US" sz="1400" i="1" dirty="0">
                <a:solidFill>
                  <a:srgbClr val="0E2F3C"/>
                </a:solidFill>
                <a:latin typeface="Cambria" pitchFamily="34" charset="0"/>
                <a:ea typeface="Cambria" pitchFamily="34" charset="-122"/>
                <a:cs typeface="Cambria" pitchFamily="34" charset="-120"/>
              </a:rPr>
              <a:t>That is the whole daily ask. If workPulse ever needs more of your day than this, we have built it wrong — tell us.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HOW WORK MOVES</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A task's life, in plain words</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Six steps. The system will not let a task jump a step or go backwards without a reason.</a:t>
            </a:r>
            <a:endParaRPr lang="en-US" sz="1500" dirty="0"/>
          </a:p>
        </p:txBody>
      </p:sp>
      <p:sp>
        <p:nvSpPr>
          <p:cNvPr id="5" name="Shape 3"/>
          <p:cNvSpPr/>
          <p:nvPr/>
        </p:nvSpPr>
        <p:spPr>
          <a:xfrm>
            <a:off x="640080" y="2194560"/>
            <a:ext cx="1700784" cy="1078992"/>
          </a:xfrm>
          <a:prstGeom prst="roundRect">
            <a:avLst>
              <a:gd name="adj" fmla="val 6780"/>
            </a:avLst>
          </a:prstGeom>
          <a:solidFill>
            <a:srgbClr val="E3EFF2"/>
          </a:solidFill>
          <a:ln w="12700">
            <a:solidFill>
              <a:srgbClr val="E3EFF2"/>
            </a:solidFill>
            <a:prstDash val="solid"/>
          </a:ln>
          <a:effectLst>
            <a:outerShdw sx="100000" sy="100000" kx="0" ky="0" algn="bl" rotWithShape="0" blurRad="127000" dist="25400" dir="5400000">
              <a:srgbClr val="0E2F3C">
                <a:alpha val="10000"/>
              </a:srgbClr>
            </a:outerShdw>
          </a:effectLst>
        </p:spPr>
      </p:sp>
      <p:sp>
        <p:nvSpPr>
          <p:cNvPr id="6" name="Text 4"/>
          <p:cNvSpPr txBox="1"/>
          <p:nvPr/>
        </p:nvSpPr>
        <p:spPr>
          <a:xfrm>
            <a:off x="749808" y="2395728"/>
            <a:ext cx="1481328" cy="274320"/>
          </a:xfrm>
          <a:prstGeom prst="rect">
            <a:avLst/>
          </a:prstGeom>
          <a:noFill/>
          <a:ln/>
        </p:spPr>
        <p:txBody>
          <a:bodyPr wrap="square" lIns="0" tIns="0" rIns="0" bIns="0" rtlCol="0" anchor="ctr"/>
          <a:lstStyle/>
          <a:p>
            <a:pPr algn="ctr" indent="0" marL="0">
              <a:buNone/>
            </a:pPr>
            <a:r>
              <a:rPr lang="en-US" sz="1350" b="1" dirty="0">
                <a:solidFill>
                  <a:srgbClr val="0E2F3C"/>
                </a:solidFill>
                <a:latin typeface="Calibri" pitchFamily="34" charset="0"/>
                <a:ea typeface="Calibri" pitchFamily="34" charset="-122"/>
                <a:cs typeface="Calibri" pitchFamily="34" charset="-120"/>
              </a:rPr>
              <a:t>Assigned</a:t>
            </a:r>
            <a:endParaRPr lang="en-US" sz="1350" dirty="0"/>
          </a:p>
        </p:txBody>
      </p:sp>
      <p:sp>
        <p:nvSpPr>
          <p:cNvPr id="7" name="Text 5"/>
          <p:cNvSpPr txBox="1"/>
          <p:nvPr/>
        </p:nvSpPr>
        <p:spPr>
          <a:xfrm>
            <a:off x="749808" y="2697480"/>
            <a:ext cx="1481328" cy="411480"/>
          </a:xfrm>
          <a:prstGeom prst="rect">
            <a:avLst/>
          </a:prstGeom>
          <a:noFill/>
          <a:ln/>
        </p:spPr>
        <p:txBody>
          <a:bodyPr wrap="square" lIns="0" tIns="0" rIns="0" bIns="0" rtlCol="0" anchor="ctr"/>
          <a:lstStyle/>
          <a:p>
            <a:pPr algn="ctr" indent="0" marL="0">
              <a:buNone/>
            </a:pPr>
            <a:r>
              <a:rPr lang="en-US" sz="1100" dirty="0">
                <a:solidFill>
                  <a:srgbClr val="5C6B73"/>
                </a:solidFill>
                <a:latin typeface="Calibri" pitchFamily="34" charset="0"/>
                <a:ea typeface="Calibri" pitchFamily="34" charset="-122"/>
                <a:cs typeface="Calibri" pitchFamily="34" charset="-120"/>
              </a:rPr>
              <a:t>It's yours</a:t>
            </a:r>
            <a:endParaRPr lang="en-US" sz="1100" dirty="0"/>
          </a:p>
        </p:txBody>
      </p:sp>
      <p:sp>
        <p:nvSpPr>
          <p:cNvPr id="8" name="Shape 6"/>
          <p:cNvSpPr/>
          <p:nvPr/>
        </p:nvSpPr>
        <p:spPr>
          <a:xfrm>
            <a:off x="2459736" y="2194560"/>
            <a:ext cx="1700784" cy="1078992"/>
          </a:xfrm>
          <a:prstGeom prst="roundRect">
            <a:avLst>
              <a:gd name="adj" fmla="val 6780"/>
            </a:avLst>
          </a:prstGeom>
          <a:solidFill>
            <a:srgbClr val="E3EFF2"/>
          </a:solidFill>
          <a:ln w="12700">
            <a:solidFill>
              <a:srgbClr val="E3EFF2"/>
            </a:solidFill>
            <a:prstDash val="solid"/>
          </a:ln>
          <a:effectLst>
            <a:outerShdw sx="100000" sy="100000" kx="0" ky="0" algn="bl" rotWithShape="0" blurRad="127000" dist="25400" dir="5400000">
              <a:srgbClr val="0E2F3C">
                <a:alpha val="10000"/>
              </a:srgbClr>
            </a:outerShdw>
          </a:effectLst>
        </p:spPr>
      </p:sp>
      <p:sp>
        <p:nvSpPr>
          <p:cNvPr id="9" name="Text 7"/>
          <p:cNvSpPr txBox="1"/>
          <p:nvPr/>
        </p:nvSpPr>
        <p:spPr>
          <a:xfrm>
            <a:off x="2569464" y="2395728"/>
            <a:ext cx="1481328" cy="274320"/>
          </a:xfrm>
          <a:prstGeom prst="rect">
            <a:avLst/>
          </a:prstGeom>
          <a:noFill/>
          <a:ln/>
        </p:spPr>
        <p:txBody>
          <a:bodyPr wrap="square" lIns="0" tIns="0" rIns="0" bIns="0" rtlCol="0" anchor="ctr"/>
          <a:lstStyle/>
          <a:p>
            <a:pPr algn="ctr" indent="0" marL="0">
              <a:buNone/>
            </a:pPr>
            <a:r>
              <a:rPr lang="en-US" sz="1350" b="1" dirty="0">
                <a:solidFill>
                  <a:srgbClr val="0E2F3C"/>
                </a:solidFill>
                <a:latin typeface="Calibri" pitchFamily="34" charset="0"/>
                <a:ea typeface="Calibri" pitchFamily="34" charset="-122"/>
                <a:cs typeface="Calibri" pitchFamily="34" charset="-120"/>
              </a:rPr>
              <a:t>Accepted</a:t>
            </a:r>
            <a:endParaRPr lang="en-US" sz="1350" dirty="0"/>
          </a:p>
        </p:txBody>
      </p:sp>
      <p:sp>
        <p:nvSpPr>
          <p:cNvPr id="10" name="Text 8"/>
          <p:cNvSpPr txBox="1"/>
          <p:nvPr/>
        </p:nvSpPr>
        <p:spPr>
          <a:xfrm>
            <a:off x="2569464" y="2697480"/>
            <a:ext cx="1481328" cy="411480"/>
          </a:xfrm>
          <a:prstGeom prst="rect">
            <a:avLst/>
          </a:prstGeom>
          <a:noFill/>
          <a:ln/>
        </p:spPr>
        <p:txBody>
          <a:bodyPr wrap="square" lIns="0" tIns="0" rIns="0" bIns="0" rtlCol="0" anchor="ctr"/>
          <a:lstStyle/>
          <a:p>
            <a:pPr algn="ctr" indent="0" marL="0">
              <a:buNone/>
            </a:pPr>
            <a:r>
              <a:rPr lang="en-US" sz="1100" dirty="0">
                <a:solidFill>
                  <a:srgbClr val="5C6B73"/>
                </a:solidFill>
                <a:latin typeface="Calibri" pitchFamily="34" charset="0"/>
                <a:ea typeface="Calibri" pitchFamily="34" charset="-122"/>
                <a:cs typeface="Calibri" pitchFamily="34" charset="-120"/>
              </a:rPr>
              <a:t>You've seen it</a:t>
            </a:r>
            <a:endParaRPr lang="en-US" sz="1100" dirty="0"/>
          </a:p>
        </p:txBody>
      </p:sp>
      <p:sp>
        <p:nvSpPr>
          <p:cNvPr id="11" name="Shape 9"/>
          <p:cNvSpPr/>
          <p:nvPr/>
        </p:nvSpPr>
        <p:spPr>
          <a:xfrm>
            <a:off x="4279392" y="2194560"/>
            <a:ext cx="1700784" cy="1078992"/>
          </a:xfrm>
          <a:prstGeom prst="roundRect">
            <a:avLst>
              <a:gd name="adj" fmla="val 6780"/>
            </a:avLst>
          </a:prstGeom>
          <a:solidFill>
            <a:srgbClr val="E3EFF2"/>
          </a:solidFill>
          <a:ln w="12700">
            <a:solidFill>
              <a:srgbClr val="E3EFF2"/>
            </a:solidFill>
            <a:prstDash val="solid"/>
          </a:ln>
          <a:effectLst>
            <a:outerShdw sx="100000" sy="100000" kx="0" ky="0" algn="bl" rotWithShape="0" blurRad="127000" dist="25400" dir="5400000">
              <a:srgbClr val="0E2F3C">
                <a:alpha val="10000"/>
              </a:srgbClr>
            </a:outerShdw>
          </a:effectLst>
        </p:spPr>
      </p:sp>
      <p:sp>
        <p:nvSpPr>
          <p:cNvPr id="12" name="Text 10"/>
          <p:cNvSpPr txBox="1"/>
          <p:nvPr/>
        </p:nvSpPr>
        <p:spPr>
          <a:xfrm>
            <a:off x="4389120" y="2395728"/>
            <a:ext cx="1481328" cy="274320"/>
          </a:xfrm>
          <a:prstGeom prst="rect">
            <a:avLst/>
          </a:prstGeom>
          <a:noFill/>
          <a:ln/>
        </p:spPr>
        <p:txBody>
          <a:bodyPr wrap="square" lIns="0" tIns="0" rIns="0" bIns="0" rtlCol="0" anchor="ctr"/>
          <a:lstStyle/>
          <a:p>
            <a:pPr algn="ctr" indent="0" marL="0">
              <a:buNone/>
            </a:pPr>
            <a:r>
              <a:rPr lang="en-US" sz="1350" b="1" dirty="0">
                <a:solidFill>
                  <a:srgbClr val="0E2F3C"/>
                </a:solidFill>
                <a:latin typeface="Calibri" pitchFamily="34" charset="0"/>
                <a:ea typeface="Calibri" pitchFamily="34" charset="-122"/>
                <a:cs typeface="Calibri" pitchFamily="34" charset="-120"/>
              </a:rPr>
              <a:t>In progress</a:t>
            </a:r>
            <a:endParaRPr lang="en-US" sz="1350" dirty="0"/>
          </a:p>
        </p:txBody>
      </p:sp>
      <p:sp>
        <p:nvSpPr>
          <p:cNvPr id="13" name="Text 11"/>
          <p:cNvSpPr txBox="1"/>
          <p:nvPr/>
        </p:nvSpPr>
        <p:spPr>
          <a:xfrm>
            <a:off x="4389120" y="2697480"/>
            <a:ext cx="1481328" cy="411480"/>
          </a:xfrm>
          <a:prstGeom prst="rect">
            <a:avLst/>
          </a:prstGeom>
          <a:noFill/>
          <a:ln/>
        </p:spPr>
        <p:txBody>
          <a:bodyPr wrap="square" lIns="0" tIns="0" rIns="0" bIns="0" rtlCol="0" anchor="ctr"/>
          <a:lstStyle/>
          <a:p>
            <a:pPr algn="ctr" indent="0" marL="0">
              <a:buNone/>
            </a:pPr>
            <a:r>
              <a:rPr lang="en-US" sz="1100" dirty="0">
                <a:solidFill>
                  <a:srgbClr val="5C6B73"/>
                </a:solidFill>
                <a:latin typeface="Calibri" pitchFamily="34" charset="0"/>
                <a:ea typeface="Calibri" pitchFamily="34" charset="-122"/>
                <a:cs typeface="Calibri" pitchFamily="34" charset="-120"/>
              </a:rPr>
              <a:t>You're on it</a:t>
            </a:r>
            <a:endParaRPr lang="en-US" sz="1100" dirty="0"/>
          </a:p>
        </p:txBody>
      </p:sp>
      <p:sp>
        <p:nvSpPr>
          <p:cNvPr id="14" name="Shape 12"/>
          <p:cNvSpPr/>
          <p:nvPr/>
        </p:nvSpPr>
        <p:spPr>
          <a:xfrm>
            <a:off x="6099048" y="2194560"/>
            <a:ext cx="1700784" cy="1078992"/>
          </a:xfrm>
          <a:prstGeom prst="roundRect">
            <a:avLst>
              <a:gd name="adj" fmla="val 6780"/>
            </a:avLst>
          </a:prstGeom>
          <a:solidFill>
            <a:srgbClr val="E3EFF2"/>
          </a:solidFill>
          <a:ln w="12700">
            <a:solidFill>
              <a:srgbClr val="E3EFF2"/>
            </a:solidFill>
            <a:prstDash val="solid"/>
          </a:ln>
          <a:effectLst>
            <a:outerShdw sx="100000" sy="100000" kx="0" ky="0" algn="bl" rotWithShape="0" blurRad="127000" dist="25400" dir="5400000">
              <a:srgbClr val="0E2F3C">
                <a:alpha val="10000"/>
              </a:srgbClr>
            </a:outerShdw>
          </a:effectLst>
        </p:spPr>
      </p:sp>
      <p:sp>
        <p:nvSpPr>
          <p:cNvPr id="15" name="Text 13"/>
          <p:cNvSpPr txBox="1"/>
          <p:nvPr/>
        </p:nvSpPr>
        <p:spPr>
          <a:xfrm>
            <a:off x="6208776" y="2395728"/>
            <a:ext cx="1481328" cy="274320"/>
          </a:xfrm>
          <a:prstGeom prst="rect">
            <a:avLst/>
          </a:prstGeom>
          <a:noFill/>
          <a:ln/>
        </p:spPr>
        <p:txBody>
          <a:bodyPr wrap="square" lIns="0" tIns="0" rIns="0" bIns="0" rtlCol="0" anchor="ctr"/>
          <a:lstStyle/>
          <a:p>
            <a:pPr algn="ctr" indent="0" marL="0">
              <a:buNone/>
            </a:pPr>
            <a:r>
              <a:rPr lang="en-US" sz="1350" b="1" dirty="0">
                <a:solidFill>
                  <a:srgbClr val="0E2F3C"/>
                </a:solidFill>
                <a:latin typeface="Calibri" pitchFamily="34" charset="0"/>
                <a:ea typeface="Calibri" pitchFamily="34" charset="-122"/>
                <a:cs typeface="Calibri" pitchFamily="34" charset="-120"/>
              </a:rPr>
              <a:t>Done</a:t>
            </a:r>
            <a:endParaRPr lang="en-US" sz="1350" dirty="0"/>
          </a:p>
        </p:txBody>
      </p:sp>
      <p:sp>
        <p:nvSpPr>
          <p:cNvPr id="16" name="Text 14"/>
          <p:cNvSpPr txBox="1"/>
          <p:nvPr/>
        </p:nvSpPr>
        <p:spPr>
          <a:xfrm>
            <a:off x="6208776" y="2697480"/>
            <a:ext cx="1481328" cy="411480"/>
          </a:xfrm>
          <a:prstGeom prst="rect">
            <a:avLst/>
          </a:prstGeom>
          <a:noFill/>
          <a:ln/>
        </p:spPr>
        <p:txBody>
          <a:bodyPr wrap="square" lIns="0" tIns="0" rIns="0" bIns="0" rtlCol="0" anchor="ctr"/>
          <a:lstStyle/>
          <a:p>
            <a:pPr algn="ctr" indent="0" marL="0">
              <a:buNone/>
            </a:pPr>
            <a:r>
              <a:rPr lang="en-US" sz="1100" dirty="0">
                <a:solidFill>
                  <a:srgbClr val="5C6B73"/>
                </a:solidFill>
                <a:latin typeface="Calibri" pitchFamily="34" charset="0"/>
                <a:ea typeface="Calibri" pitchFamily="34" charset="-122"/>
                <a:cs typeface="Calibri" pitchFamily="34" charset="-120"/>
              </a:rPr>
              <a:t>Work finished</a:t>
            </a:r>
            <a:endParaRPr lang="en-US" sz="1100" dirty="0"/>
          </a:p>
        </p:txBody>
      </p:sp>
      <p:sp>
        <p:nvSpPr>
          <p:cNvPr id="17" name="Shape 15"/>
          <p:cNvSpPr/>
          <p:nvPr/>
        </p:nvSpPr>
        <p:spPr>
          <a:xfrm>
            <a:off x="7918704" y="2194560"/>
            <a:ext cx="1700784" cy="1078992"/>
          </a:xfrm>
          <a:prstGeom prst="roundRect">
            <a:avLst>
              <a:gd name="adj" fmla="val 6780"/>
            </a:avLst>
          </a:prstGeom>
          <a:solidFill>
            <a:srgbClr val="E3F0EA"/>
          </a:solidFill>
          <a:ln w="12700">
            <a:solidFill>
              <a:srgbClr val="E3F0EA"/>
            </a:solidFill>
            <a:prstDash val="solid"/>
          </a:ln>
          <a:effectLst>
            <a:outerShdw sx="100000" sy="100000" kx="0" ky="0" algn="bl" rotWithShape="0" blurRad="127000" dist="25400" dir="5400000">
              <a:srgbClr val="0E2F3C">
                <a:alpha val="10000"/>
              </a:srgbClr>
            </a:outerShdw>
          </a:effectLst>
        </p:spPr>
      </p:sp>
      <p:sp>
        <p:nvSpPr>
          <p:cNvPr id="18" name="Text 16"/>
          <p:cNvSpPr txBox="1"/>
          <p:nvPr/>
        </p:nvSpPr>
        <p:spPr>
          <a:xfrm>
            <a:off x="8028432" y="2395728"/>
            <a:ext cx="1481328" cy="274320"/>
          </a:xfrm>
          <a:prstGeom prst="rect">
            <a:avLst/>
          </a:prstGeom>
          <a:noFill/>
          <a:ln/>
        </p:spPr>
        <p:txBody>
          <a:bodyPr wrap="square" lIns="0" tIns="0" rIns="0" bIns="0" rtlCol="0" anchor="ctr"/>
          <a:lstStyle/>
          <a:p>
            <a:pPr algn="ctr" indent="0" marL="0">
              <a:buNone/>
            </a:pPr>
            <a:r>
              <a:rPr lang="en-US" sz="1350" b="1" dirty="0">
                <a:solidFill>
                  <a:srgbClr val="0E2F3C"/>
                </a:solidFill>
                <a:latin typeface="Calibri" pitchFamily="34" charset="0"/>
                <a:ea typeface="Calibri" pitchFamily="34" charset="-122"/>
                <a:cs typeface="Calibri" pitchFamily="34" charset="-120"/>
              </a:rPr>
              <a:t>Checked</a:t>
            </a:r>
            <a:endParaRPr lang="en-US" sz="1350" dirty="0"/>
          </a:p>
        </p:txBody>
      </p:sp>
      <p:sp>
        <p:nvSpPr>
          <p:cNvPr id="19" name="Text 17"/>
          <p:cNvSpPr txBox="1"/>
          <p:nvPr/>
        </p:nvSpPr>
        <p:spPr>
          <a:xfrm>
            <a:off x="8028432" y="2697480"/>
            <a:ext cx="1481328" cy="411480"/>
          </a:xfrm>
          <a:prstGeom prst="rect">
            <a:avLst/>
          </a:prstGeom>
          <a:noFill/>
          <a:ln/>
        </p:spPr>
        <p:txBody>
          <a:bodyPr wrap="square" lIns="0" tIns="0" rIns="0" bIns="0" rtlCol="0" anchor="ctr"/>
          <a:lstStyle/>
          <a:p>
            <a:pPr algn="ctr" indent="0" marL="0">
              <a:buNone/>
            </a:pPr>
            <a:r>
              <a:rPr lang="en-US" sz="1100" dirty="0">
                <a:solidFill>
                  <a:srgbClr val="5C6B73"/>
                </a:solidFill>
                <a:latin typeface="Calibri" pitchFamily="34" charset="0"/>
                <a:ea typeface="Calibri" pitchFamily="34" charset="-122"/>
                <a:cs typeface="Calibri" pitchFamily="34" charset="-120"/>
              </a:rPr>
              <a:t>Someone verified</a:t>
            </a:r>
            <a:endParaRPr lang="en-US" sz="1100" dirty="0"/>
          </a:p>
        </p:txBody>
      </p:sp>
      <p:sp>
        <p:nvSpPr>
          <p:cNvPr id="20" name="Shape 18"/>
          <p:cNvSpPr/>
          <p:nvPr/>
        </p:nvSpPr>
        <p:spPr>
          <a:xfrm>
            <a:off x="9738360" y="2194560"/>
            <a:ext cx="1700784" cy="1078992"/>
          </a:xfrm>
          <a:prstGeom prst="roundRect">
            <a:avLst>
              <a:gd name="adj" fmla="val 6780"/>
            </a:avLst>
          </a:prstGeom>
          <a:solidFill>
            <a:srgbClr val="E3F0EA"/>
          </a:solidFill>
          <a:ln w="12700">
            <a:solidFill>
              <a:srgbClr val="E3F0EA"/>
            </a:solidFill>
            <a:prstDash val="solid"/>
          </a:ln>
          <a:effectLst>
            <a:outerShdw sx="100000" sy="100000" kx="0" ky="0" algn="bl" rotWithShape="0" blurRad="127000" dist="25400" dir="5400000">
              <a:srgbClr val="0E2F3C">
                <a:alpha val="10000"/>
              </a:srgbClr>
            </a:outerShdw>
          </a:effectLst>
        </p:spPr>
      </p:sp>
      <p:sp>
        <p:nvSpPr>
          <p:cNvPr id="21" name="Text 19"/>
          <p:cNvSpPr txBox="1"/>
          <p:nvPr/>
        </p:nvSpPr>
        <p:spPr>
          <a:xfrm>
            <a:off x="9848088" y="2395728"/>
            <a:ext cx="1481328" cy="274320"/>
          </a:xfrm>
          <a:prstGeom prst="rect">
            <a:avLst/>
          </a:prstGeom>
          <a:noFill/>
          <a:ln/>
        </p:spPr>
        <p:txBody>
          <a:bodyPr wrap="square" lIns="0" tIns="0" rIns="0" bIns="0" rtlCol="0" anchor="ctr"/>
          <a:lstStyle/>
          <a:p>
            <a:pPr algn="ctr" indent="0" marL="0">
              <a:buNone/>
            </a:pPr>
            <a:r>
              <a:rPr lang="en-US" sz="1350" b="1" dirty="0">
                <a:solidFill>
                  <a:srgbClr val="0E2F3C"/>
                </a:solidFill>
                <a:latin typeface="Calibri" pitchFamily="34" charset="0"/>
                <a:ea typeface="Calibri" pitchFamily="34" charset="-122"/>
                <a:cs typeface="Calibri" pitchFamily="34" charset="-120"/>
              </a:rPr>
              <a:t>Closed</a:t>
            </a:r>
            <a:endParaRPr lang="en-US" sz="1350" dirty="0"/>
          </a:p>
        </p:txBody>
      </p:sp>
      <p:sp>
        <p:nvSpPr>
          <p:cNvPr id="22" name="Text 20"/>
          <p:cNvSpPr txBox="1"/>
          <p:nvPr/>
        </p:nvSpPr>
        <p:spPr>
          <a:xfrm>
            <a:off x="9848088" y="2697480"/>
            <a:ext cx="1481328" cy="411480"/>
          </a:xfrm>
          <a:prstGeom prst="rect">
            <a:avLst/>
          </a:prstGeom>
          <a:noFill/>
          <a:ln/>
        </p:spPr>
        <p:txBody>
          <a:bodyPr wrap="square" lIns="0" tIns="0" rIns="0" bIns="0" rtlCol="0" anchor="ctr"/>
          <a:lstStyle/>
          <a:p>
            <a:pPr algn="ctr" indent="0" marL="0">
              <a:buNone/>
            </a:pPr>
            <a:r>
              <a:rPr lang="en-US" sz="1100" dirty="0">
                <a:solidFill>
                  <a:srgbClr val="5C6B73"/>
                </a:solidFill>
                <a:latin typeface="Calibri" pitchFamily="34" charset="0"/>
                <a:ea typeface="Calibri" pitchFamily="34" charset="-122"/>
                <a:cs typeface="Calibri" pitchFamily="34" charset="-120"/>
              </a:rPr>
              <a:t>Off the books</a:t>
            </a:r>
            <a:endParaRPr lang="en-US" sz="1100" dirty="0"/>
          </a:p>
        </p:txBody>
      </p:sp>
      <p:sp>
        <p:nvSpPr>
          <p:cNvPr id="23" name="Shape 21"/>
          <p:cNvSpPr/>
          <p:nvPr/>
        </p:nvSpPr>
        <p:spPr>
          <a:xfrm>
            <a:off x="640080" y="3657600"/>
            <a:ext cx="5669280" cy="1920240"/>
          </a:xfrm>
          <a:prstGeom prst="roundRect">
            <a:avLst>
              <a:gd name="adj" fmla="val 3810"/>
            </a:avLst>
          </a:prstGeom>
          <a:solidFill>
            <a:srgbClr val="FBEEDC"/>
          </a:solidFill>
          <a:ln w="12700">
            <a:solidFill>
              <a:srgbClr val="FBEEDC"/>
            </a:solidFill>
            <a:prstDash val="solid"/>
          </a:ln>
          <a:effectLst>
            <a:outerShdw sx="100000" sy="100000" kx="0" ky="0" algn="bl" rotWithShape="0" blurRad="127000" dist="25400" dir="5400000">
              <a:srgbClr val="0E2F3C">
                <a:alpha val="10000"/>
              </a:srgbClr>
            </a:outerShdw>
          </a:effectLst>
        </p:spPr>
      </p:sp>
      <p:sp>
        <p:nvSpPr>
          <p:cNvPr id="24" name="Shape 22"/>
          <p:cNvSpPr/>
          <p:nvPr/>
        </p:nvSpPr>
        <p:spPr>
          <a:xfrm>
            <a:off x="960120" y="3931920"/>
            <a:ext cx="493776" cy="493776"/>
          </a:xfrm>
          <a:prstGeom prst="ellipse">
            <a:avLst/>
          </a:prstGeom>
          <a:solidFill>
            <a:srgbClr val="FFFFFF"/>
          </a:solidFill>
          <a:ln w="12700">
            <a:solidFill>
              <a:srgbClr val="FFFFFF"/>
            </a:solidFill>
            <a:prstDash val="solid"/>
          </a:ln>
        </p:spPr>
      </p:sp>
      <p:pic>
        <p:nvPicPr>
          <p:cNvPr id="25" name="Image 0" descr="preencoded.png">    </p:cNvPr>
          <p:cNvPicPr>
            <a:picLocks noChangeAspect="1"/>
          </p:cNvPicPr>
          <p:nvPr/>
        </p:nvPicPr>
        <p:blipFill>
          <a:blip r:embed="rId1"/>
          <a:stretch>
            <a:fillRect/>
          </a:stretch>
        </p:blipFill>
        <p:spPr>
          <a:xfrm>
            <a:off x="1034186" y="4001049"/>
            <a:ext cx="355519" cy="355519"/>
          </a:xfrm>
          <a:prstGeom prst="rect">
            <a:avLst/>
          </a:prstGeom>
        </p:spPr>
      </p:pic>
      <p:sp>
        <p:nvSpPr>
          <p:cNvPr id="26" name="Text 23"/>
          <p:cNvSpPr txBox="1"/>
          <p:nvPr/>
        </p:nvSpPr>
        <p:spPr>
          <a:xfrm>
            <a:off x="1600200" y="3950208"/>
            <a:ext cx="4480560" cy="292608"/>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Stuck? The clock stops.</a:t>
            </a:r>
            <a:endParaRPr lang="en-US" sz="1500" dirty="0"/>
          </a:p>
        </p:txBody>
      </p:sp>
      <p:sp>
        <p:nvSpPr>
          <p:cNvPr id="27" name="Text 24"/>
          <p:cNvSpPr txBox="1"/>
          <p:nvPr/>
        </p:nvSpPr>
        <p:spPr>
          <a:xfrm>
            <a:off x="960120" y="4526280"/>
            <a:ext cx="5074920" cy="914400"/>
          </a:xfrm>
          <a:prstGeom prst="rect">
            <a:avLst/>
          </a:prstGeom>
          <a:noFill/>
          <a:ln/>
        </p:spPr>
        <p:txBody>
          <a:bodyPr wrap="square" lIns="0" tIns="0" rIns="0" bIns="0" rtlCol="0" anchor="ctr"/>
          <a:lstStyle/>
          <a:p>
            <a:pPr indent="0" marL="0">
              <a:lnSpc>
                <a:spcPct val="120000"/>
              </a:lnSpc>
              <a:buNone/>
            </a:pPr>
            <a:r>
              <a:rPr lang="en-US" sz="1250" dirty="0">
                <a:solidFill>
                  <a:srgbClr val="16232A"/>
                </a:solidFill>
                <a:latin typeface="Calibri" pitchFamily="34" charset="0"/>
                <a:ea typeface="Calibri" pitchFamily="34" charset="-122"/>
                <a:cs typeface="Calibri" pitchFamily="34" charset="-120"/>
              </a:rPr>
              <a:t>Mark a task Blocked or On hold and the time it spends waiting is not counted against you. You name who can unblock it, and that person is told. Waiting on somebody else is never your delay.</a:t>
            </a:r>
            <a:endParaRPr lang="en-US" sz="1250" dirty="0"/>
          </a:p>
        </p:txBody>
      </p:sp>
      <p:sp>
        <p:nvSpPr>
          <p:cNvPr id="28" name="Shape 25"/>
          <p:cNvSpPr/>
          <p:nvPr/>
        </p:nvSpPr>
        <p:spPr>
          <a:xfrm>
            <a:off x="6720840" y="3657600"/>
            <a:ext cx="4828032" cy="1920240"/>
          </a:xfrm>
          <a:prstGeom prst="roundRect">
            <a:avLst>
              <a:gd name="adj" fmla="val 3810"/>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29" name="Shape 26"/>
          <p:cNvSpPr/>
          <p:nvPr/>
        </p:nvSpPr>
        <p:spPr>
          <a:xfrm>
            <a:off x="7040880" y="3931920"/>
            <a:ext cx="493776" cy="493776"/>
          </a:xfrm>
          <a:prstGeom prst="ellipse">
            <a:avLst/>
          </a:prstGeom>
          <a:solidFill>
            <a:srgbClr val="FFFFFF"/>
          </a:solidFill>
          <a:ln w="12700">
            <a:solidFill>
              <a:srgbClr val="FFFFFF"/>
            </a:solidFill>
            <a:prstDash val="solid"/>
          </a:ln>
        </p:spPr>
      </p:sp>
      <p:pic>
        <p:nvPicPr>
          <p:cNvPr id="30" name="Image 1" descr="preencoded.png">    </p:cNvPr>
          <p:cNvPicPr>
            <a:picLocks noChangeAspect="1"/>
          </p:cNvPicPr>
          <p:nvPr/>
        </p:nvPicPr>
        <p:blipFill>
          <a:blip r:embed="rId2"/>
          <a:stretch>
            <a:fillRect/>
          </a:stretch>
        </p:blipFill>
        <p:spPr>
          <a:xfrm>
            <a:off x="7114946" y="4001049"/>
            <a:ext cx="355519" cy="355519"/>
          </a:xfrm>
          <a:prstGeom prst="rect">
            <a:avLst/>
          </a:prstGeom>
        </p:spPr>
      </p:pic>
      <p:sp>
        <p:nvSpPr>
          <p:cNvPr id="31" name="Text 27"/>
          <p:cNvSpPr txBox="1"/>
          <p:nvPr/>
        </p:nvSpPr>
        <p:spPr>
          <a:xfrm>
            <a:off x="7680960" y="3950208"/>
            <a:ext cx="3657600" cy="292608"/>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Nothing moves without a trace</a:t>
            </a:r>
            <a:endParaRPr lang="en-US" sz="1500" dirty="0"/>
          </a:p>
        </p:txBody>
      </p:sp>
      <p:sp>
        <p:nvSpPr>
          <p:cNvPr id="32" name="Text 28"/>
          <p:cNvSpPr txBox="1"/>
          <p:nvPr/>
        </p:nvSpPr>
        <p:spPr>
          <a:xfrm>
            <a:off x="7040880" y="4526280"/>
            <a:ext cx="4233672" cy="914400"/>
          </a:xfrm>
          <a:prstGeom prst="rect">
            <a:avLst/>
          </a:prstGeom>
          <a:noFill/>
          <a:ln/>
        </p:spPr>
        <p:txBody>
          <a:bodyPr wrap="square" lIns="0" tIns="0" rIns="0" bIns="0" rtlCol="0" anchor="ctr"/>
          <a:lstStyle/>
          <a:p>
            <a:pPr indent="0" marL="0">
              <a:lnSpc>
                <a:spcPct val="120000"/>
              </a:lnSpc>
              <a:buNone/>
            </a:pPr>
            <a:r>
              <a:rPr lang="en-US" sz="1250" dirty="0">
                <a:solidFill>
                  <a:srgbClr val="16232A"/>
                </a:solidFill>
                <a:latin typeface="Calibri" pitchFamily="34" charset="0"/>
                <a:ea typeface="Calibri" pitchFamily="34" charset="-122"/>
                <a:cs typeface="Calibri" pitchFamily="34" charset="-120"/>
              </a:rPr>
              <a:t>Rejecting, reopening, cancelling or reassigning a task all require a written reason. Not to catch anyone out — so that in three months the record still explains itself.</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JOINERS, MOVERS AND LEAVERS</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When someone resigns, nothing falls through</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The system finds everything they were holding — and will not let the important things be left vacant.</a:t>
            </a:r>
            <a:endParaRPr lang="en-US" sz="1500" dirty="0"/>
          </a:p>
        </p:txBody>
      </p:sp>
      <p:sp>
        <p:nvSpPr>
          <p:cNvPr id="5" name="Text 3"/>
          <p:cNvSpPr txBox="1"/>
          <p:nvPr/>
        </p:nvSpPr>
        <p:spPr>
          <a:xfrm>
            <a:off x="640080" y="2084832"/>
            <a:ext cx="5212080" cy="914400"/>
          </a:xfrm>
          <a:prstGeom prst="rect">
            <a:avLst/>
          </a:prstGeom>
          <a:noFill/>
          <a:ln/>
        </p:spPr>
        <p:txBody>
          <a:bodyPr wrap="square" lIns="0" tIns="0" rIns="0" bIns="0" rtlCol="0" anchor="ctr"/>
          <a:lstStyle/>
          <a:p>
            <a:pPr indent="0" marL="0">
              <a:lnSpc>
                <a:spcPct val="122000"/>
              </a:lnSpc>
              <a:buNone/>
            </a:pPr>
            <a:r>
              <a:rPr lang="en-US" sz="1350" dirty="0">
                <a:solidFill>
                  <a:srgbClr val="16232A"/>
                </a:solidFill>
                <a:latin typeface="Calibri" pitchFamily="34" charset="0"/>
                <a:ea typeface="Calibri" pitchFamily="34" charset="-122"/>
                <a:cs typeface="Calibri" pitchFamily="34" charset="-120"/>
              </a:rPr>
              <a:t>On the day a resignation is recorded, workPulse scans for everything that person holds and builds a handover list. It is rebuilt from live data each time it is opened, so work they picked up last week is on it too.</a:t>
            </a:r>
            <a:endParaRPr lang="en-US" sz="1350" dirty="0"/>
          </a:p>
        </p:txBody>
      </p:sp>
      <p:sp>
        <p:nvSpPr>
          <p:cNvPr id="6" name="Shape 4"/>
          <p:cNvSpPr/>
          <p:nvPr/>
        </p:nvSpPr>
        <p:spPr>
          <a:xfrm>
            <a:off x="640080" y="3191256"/>
            <a:ext cx="512064" cy="512064"/>
          </a:xfrm>
          <a:prstGeom prst="ellipse">
            <a:avLst/>
          </a:prstGeom>
          <a:solidFill>
            <a:srgbClr val="E3EFF2"/>
          </a:solidFill>
          <a:ln w="12700">
            <a:solidFill>
              <a:srgbClr val="E3EFF2"/>
            </a:solidFill>
            <a:prstDash val="solid"/>
          </a:ln>
        </p:spPr>
      </p:sp>
      <p:pic>
        <p:nvPicPr>
          <p:cNvPr id="7" name="Image 0" descr="preencoded.png">    </p:cNvPr>
          <p:cNvPicPr>
            <a:picLocks noChangeAspect="1"/>
          </p:cNvPicPr>
          <p:nvPr/>
        </p:nvPicPr>
        <p:blipFill>
          <a:blip r:embed="rId1"/>
          <a:stretch>
            <a:fillRect/>
          </a:stretch>
        </p:blipFill>
        <p:spPr>
          <a:xfrm>
            <a:off x="716890" y="3262945"/>
            <a:ext cx="368686" cy="368686"/>
          </a:xfrm>
          <a:prstGeom prst="rect">
            <a:avLst/>
          </a:prstGeom>
        </p:spPr>
      </p:pic>
      <p:sp>
        <p:nvSpPr>
          <p:cNvPr id="8" name="Text 5"/>
          <p:cNvSpPr txBox="1"/>
          <p:nvPr/>
        </p:nvSpPr>
        <p:spPr>
          <a:xfrm>
            <a:off x="1353312" y="3154680"/>
            <a:ext cx="449884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It looks in eight places</a:t>
            </a:r>
            <a:endParaRPr lang="en-US" sz="1500" dirty="0"/>
          </a:p>
        </p:txBody>
      </p:sp>
      <p:sp>
        <p:nvSpPr>
          <p:cNvPr id="9" name="Text 6"/>
          <p:cNvSpPr txBox="1"/>
          <p:nvPr/>
        </p:nvSpPr>
        <p:spPr>
          <a:xfrm>
            <a:off x="1353312" y="3447288"/>
            <a:ext cx="449884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Open tasks, desk cards, recurring duties, project accountability, pending approvals, and the processes and policies they owned.</a:t>
            </a:r>
            <a:endParaRPr lang="en-US" sz="1250" dirty="0"/>
          </a:p>
        </p:txBody>
      </p:sp>
      <p:sp>
        <p:nvSpPr>
          <p:cNvPr id="10" name="Shape 7"/>
          <p:cNvSpPr/>
          <p:nvPr/>
        </p:nvSpPr>
        <p:spPr>
          <a:xfrm>
            <a:off x="640080" y="4178808"/>
            <a:ext cx="512064" cy="512064"/>
          </a:xfrm>
          <a:prstGeom prst="ellipse">
            <a:avLst/>
          </a:prstGeom>
          <a:solidFill>
            <a:srgbClr val="E3EFF2"/>
          </a:solidFill>
          <a:ln w="12700">
            <a:solidFill>
              <a:srgbClr val="E3EFF2"/>
            </a:solidFill>
            <a:prstDash val="solid"/>
          </a:ln>
        </p:spPr>
      </p:sp>
      <p:pic>
        <p:nvPicPr>
          <p:cNvPr id="11" name="Image 1" descr="preencoded.png">    </p:cNvPr>
          <p:cNvPicPr>
            <a:picLocks noChangeAspect="1"/>
          </p:cNvPicPr>
          <p:nvPr/>
        </p:nvPicPr>
        <p:blipFill>
          <a:blip r:embed="rId2"/>
          <a:stretch>
            <a:fillRect/>
          </a:stretch>
        </p:blipFill>
        <p:spPr>
          <a:xfrm>
            <a:off x="716890" y="4250497"/>
            <a:ext cx="368686" cy="368686"/>
          </a:xfrm>
          <a:prstGeom prst="rect">
            <a:avLst/>
          </a:prstGeom>
        </p:spPr>
      </p:pic>
      <p:sp>
        <p:nvSpPr>
          <p:cNvPr id="12" name="Text 8"/>
          <p:cNvSpPr txBox="1"/>
          <p:nvPr/>
        </p:nvSpPr>
        <p:spPr>
          <a:xfrm>
            <a:off x="1353312" y="4142232"/>
            <a:ext cx="449884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The consequential items block the exit</a:t>
            </a:r>
            <a:endParaRPr lang="en-US" sz="1500" dirty="0"/>
          </a:p>
        </p:txBody>
      </p:sp>
      <p:sp>
        <p:nvSpPr>
          <p:cNvPr id="13" name="Text 9"/>
          <p:cNvSpPr txBox="1"/>
          <p:nvPr/>
        </p:nvSpPr>
        <p:spPr>
          <a:xfrm>
            <a:off x="1353312" y="4434840"/>
            <a:ext cx="449884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Not everything — blocking every routine task would make exits impossible. Blocking nothing would make the list a formality.</a:t>
            </a:r>
            <a:endParaRPr lang="en-US" sz="1250" dirty="0"/>
          </a:p>
        </p:txBody>
      </p:sp>
      <p:sp>
        <p:nvSpPr>
          <p:cNvPr id="14" name="Shape 10"/>
          <p:cNvSpPr/>
          <p:nvPr/>
        </p:nvSpPr>
        <p:spPr>
          <a:xfrm>
            <a:off x="640080" y="5166360"/>
            <a:ext cx="512064" cy="512064"/>
          </a:xfrm>
          <a:prstGeom prst="ellipse">
            <a:avLst/>
          </a:prstGeom>
          <a:solidFill>
            <a:srgbClr val="E3EFF2"/>
          </a:solidFill>
          <a:ln w="12700">
            <a:solidFill>
              <a:srgbClr val="E3EFF2"/>
            </a:solidFill>
            <a:prstDash val="solid"/>
          </a:ln>
        </p:spPr>
      </p:sp>
      <p:pic>
        <p:nvPicPr>
          <p:cNvPr id="15" name="Image 2" descr="preencoded.png">    </p:cNvPr>
          <p:cNvPicPr>
            <a:picLocks noChangeAspect="1"/>
          </p:cNvPicPr>
          <p:nvPr/>
        </p:nvPicPr>
        <p:blipFill>
          <a:blip r:embed="rId3"/>
          <a:stretch>
            <a:fillRect/>
          </a:stretch>
        </p:blipFill>
        <p:spPr>
          <a:xfrm>
            <a:off x="716890" y="5238049"/>
            <a:ext cx="368686" cy="368686"/>
          </a:xfrm>
          <a:prstGeom prst="rect">
            <a:avLst/>
          </a:prstGeom>
        </p:spPr>
      </p:pic>
      <p:sp>
        <p:nvSpPr>
          <p:cNvPr id="16" name="Text 11"/>
          <p:cNvSpPr txBox="1"/>
          <p:nvPr/>
        </p:nvSpPr>
        <p:spPr>
          <a:xfrm>
            <a:off x="1353312" y="5129784"/>
            <a:ext cx="449884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Handover is a transfer, not a deletion</a:t>
            </a:r>
            <a:endParaRPr lang="en-US" sz="1500" dirty="0"/>
          </a:p>
        </p:txBody>
      </p:sp>
      <p:sp>
        <p:nvSpPr>
          <p:cNvPr id="17" name="Text 12"/>
          <p:cNvSpPr txBox="1"/>
          <p:nvPr/>
        </p:nvSpPr>
        <p:spPr>
          <a:xfrm>
            <a:off x="1353312" y="5422392"/>
            <a:ext cx="449884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Work is repointed to a named, active colleague. Nobody's open items are quietly closed because they left.</a:t>
            </a:r>
            <a:endParaRPr lang="en-US" sz="1250" dirty="0"/>
          </a:p>
        </p:txBody>
      </p:sp>
      <p:sp>
        <p:nvSpPr>
          <p:cNvPr id="18" name="Shape 13"/>
          <p:cNvSpPr/>
          <p:nvPr/>
        </p:nvSpPr>
        <p:spPr>
          <a:xfrm>
            <a:off x="6446520" y="2057400"/>
            <a:ext cx="5102352" cy="2395728"/>
          </a:xfrm>
          <a:prstGeom prst="roundRect">
            <a:avLst>
              <a:gd name="adj" fmla="val 3053"/>
            </a:avLst>
          </a:prstGeom>
          <a:solidFill>
            <a:srgbClr val="FBEEDC"/>
          </a:solidFill>
          <a:ln w="12700">
            <a:solidFill>
              <a:srgbClr val="FBEEDC"/>
            </a:solidFill>
            <a:prstDash val="solid"/>
          </a:ln>
          <a:effectLst>
            <a:outerShdw sx="100000" sy="100000" kx="0" ky="0" algn="bl" rotWithShape="0" blurRad="127000" dist="25400" dir="5400000">
              <a:srgbClr val="0E2F3C">
                <a:alpha val="10000"/>
              </a:srgbClr>
            </a:outerShdw>
          </a:effectLst>
        </p:spPr>
      </p:sp>
      <p:sp>
        <p:nvSpPr>
          <p:cNvPr id="19" name="Text 14"/>
          <p:cNvSpPr txBox="1"/>
          <p:nvPr/>
        </p:nvSpPr>
        <p:spPr>
          <a:xfrm>
            <a:off x="6739128" y="2286000"/>
            <a:ext cx="4517136" cy="237744"/>
          </a:xfrm>
          <a:prstGeom prst="rect">
            <a:avLst/>
          </a:prstGeom>
          <a:noFill/>
          <a:ln/>
        </p:spPr>
        <p:txBody>
          <a:bodyPr wrap="square" lIns="0" tIns="0" rIns="0" bIns="0" rtlCol="0" anchor="ctr"/>
          <a:lstStyle/>
          <a:p>
            <a:pPr indent="0" marL="0">
              <a:buNone/>
            </a:pPr>
            <a:r>
              <a:rPr lang="en-US" sz="1000" b="1" spc="140" kern="0" dirty="0">
                <a:solidFill>
                  <a:srgbClr val="8A5416"/>
                </a:solidFill>
                <a:latin typeface="Calibri" pitchFamily="34" charset="0"/>
                <a:ea typeface="Calibri" pitchFamily="34" charset="-122"/>
                <a:cs typeface="Calibri" pitchFamily="34" charset="-120"/>
              </a:rPr>
              <a:t>CANNOT LEAVE UNTIL HANDED OVER</a:t>
            </a:r>
            <a:endParaRPr lang="en-US" sz="1000" dirty="0"/>
          </a:p>
        </p:txBody>
      </p:sp>
      <p:sp>
        <p:nvSpPr>
          <p:cNvPr id="20" name="Shape 15"/>
          <p:cNvSpPr/>
          <p:nvPr/>
        </p:nvSpPr>
        <p:spPr>
          <a:xfrm>
            <a:off x="6757416" y="2697480"/>
            <a:ext cx="100584" cy="100584"/>
          </a:xfrm>
          <a:prstGeom prst="ellipse">
            <a:avLst/>
          </a:prstGeom>
          <a:solidFill>
            <a:srgbClr val="D9822B"/>
          </a:solidFill>
          <a:ln w="12700">
            <a:solidFill>
              <a:srgbClr val="D9822B"/>
            </a:solidFill>
            <a:prstDash val="solid"/>
          </a:ln>
        </p:spPr>
      </p:sp>
      <p:sp>
        <p:nvSpPr>
          <p:cNvPr id="21" name="Text 16"/>
          <p:cNvSpPr txBox="1"/>
          <p:nvPr/>
        </p:nvSpPr>
        <p:spPr>
          <a:xfrm>
            <a:off x="7013448" y="2615184"/>
            <a:ext cx="4233672" cy="292608"/>
          </a:xfrm>
          <a:prstGeom prst="rect">
            <a:avLst/>
          </a:prstGeom>
          <a:noFill/>
          <a:ln/>
        </p:spPr>
        <p:txBody>
          <a:bodyPr wrap="square" lIns="0" tIns="0" rIns="0" bIns="0" rtlCol="0" anchor="ctr"/>
          <a:lstStyle/>
          <a:p>
            <a:pPr indent="0" marL="0">
              <a:buNone/>
            </a:pPr>
            <a:r>
              <a:rPr lang="en-US" sz="1250" dirty="0">
                <a:solidFill>
                  <a:srgbClr val="16232A"/>
                </a:solidFill>
                <a:latin typeface="Calibri" pitchFamily="34" charset="0"/>
                <a:ea typeface="Calibri" pitchFamily="34" charset="-122"/>
                <a:cs typeface="Calibri" pitchFamily="34" charset="-120"/>
              </a:rPr>
              <a:t>Their desk card — somebody has to hold it</a:t>
            </a:r>
            <a:endParaRPr lang="en-US" sz="1250" dirty="0"/>
          </a:p>
        </p:txBody>
      </p:sp>
      <p:sp>
        <p:nvSpPr>
          <p:cNvPr id="22" name="Shape 17"/>
          <p:cNvSpPr/>
          <p:nvPr/>
        </p:nvSpPr>
        <p:spPr>
          <a:xfrm>
            <a:off x="6757416" y="3035808"/>
            <a:ext cx="100584" cy="100584"/>
          </a:xfrm>
          <a:prstGeom prst="ellipse">
            <a:avLst/>
          </a:prstGeom>
          <a:solidFill>
            <a:srgbClr val="D9822B"/>
          </a:solidFill>
          <a:ln w="12700">
            <a:solidFill>
              <a:srgbClr val="D9822B"/>
            </a:solidFill>
            <a:prstDash val="solid"/>
          </a:ln>
        </p:spPr>
      </p:sp>
      <p:sp>
        <p:nvSpPr>
          <p:cNvPr id="23" name="Text 18"/>
          <p:cNvSpPr txBox="1"/>
          <p:nvPr/>
        </p:nvSpPr>
        <p:spPr>
          <a:xfrm>
            <a:off x="7013448" y="2953512"/>
            <a:ext cx="4233672" cy="292608"/>
          </a:xfrm>
          <a:prstGeom prst="rect">
            <a:avLst/>
          </a:prstGeom>
          <a:noFill/>
          <a:ln/>
        </p:spPr>
        <p:txBody>
          <a:bodyPr wrap="square" lIns="0" tIns="0" rIns="0" bIns="0" rtlCol="0" anchor="ctr"/>
          <a:lstStyle/>
          <a:p>
            <a:pPr indent="0" marL="0">
              <a:buNone/>
            </a:pPr>
            <a:r>
              <a:rPr lang="en-US" sz="1250" dirty="0">
                <a:solidFill>
                  <a:srgbClr val="16232A"/>
                </a:solidFill>
                <a:latin typeface="Calibri" pitchFamily="34" charset="0"/>
                <a:ea typeface="Calibri" pitchFamily="34" charset="-122"/>
                <a:cs typeface="Calibri" pitchFamily="34" charset="-120"/>
              </a:rPr>
              <a:t>Critical and management tasks</a:t>
            </a:r>
            <a:endParaRPr lang="en-US" sz="1250" dirty="0"/>
          </a:p>
        </p:txBody>
      </p:sp>
      <p:sp>
        <p:nvSpPr>
          <p:cNvPr id="24" name="Shape 19"/>
          <p:cNvSpPr/>
          <p:nvPr/>
        </p:nvSpPr>
        <p:spPr>
          <a:xfrm>
            <a:off x="6757416" y="3374136"/>
            <a:ext cx="100584" cy="100584"/>
          </a:xfrm>
          <a:prstGeom prst="ellipse">
            <a:avLst/>
          </a:prstGeom>
          <a:solidFill>
            <a:srgbClr val="D9822B"/>
          </a:solidFill>
          <a:ln w="12700">
            <a:solidFill>
              <a:srgbClr val="D9822B"/>
            </a:solidFill>
            <a:prstDash val="solid"/>
          </a:ln>
        </p:spPr>
      </p:sp>
      <p:sp>
        <p:nvSpPr>
          <p:cNvPr id="25" name="Text 20"/>
          <p:cNvSpPr txBox="1"/>
          <p:nvPr/>
        </p:nvSpPr>
        <p:spPr>
          <a:xfrm>
            <a:off x="7013448" y="3291840"/>
            <a:ext cx="4233672" cy="292608"/>
          </a:xfrm>
          <a:prstGeom prst="rect">
            <a:avLst/>
          </a:prstGeom>
          <a:noFill/>
          <a:ln/>
        </p:spPr>
        <p:txBody>
          <a:bodyPr wrap="square" lIns="0" tIns="0" rIns="0" bIns="0" rtlCol="0" anchor="ctr"/>
          <a:lstStyle/>
          <a:p>
            <a:pPr indent="0" marL="0">
              <a:buNone/>
            </a:pPr>
            <a:r>
              <a:rPr lang="en-US" sz="1250" dirty="0">
                <a:solidFill>
                  <a:srgbClr val="16232A"/>
                </a:solidFill>
                <a:latin typeface="Calibri" pitchFamily="34" charset="0"/>
                <a:ea typeface="Calibri" pitchFamily="34" charset="-122"/>
                <a:cs typeface="Calibri" pitchFamily="34" charset="-120"/>
              </a:rPr>
              <a:t>Projects where they were the accountable owner</a:t>
            </a:r>
            <a:endParaRPr lang="en-US" sz="1250" dirty="0"/>
          </a:p>
        </p:txBody>
      </p:sp>
      <p:sp>
        <p:nvSpPr>
          <p:cNvPr id="26" name="Shape 21"/>
          <p:cNvSpPr/>
          <p:nvPr/>
        </p:nvSpPr>
        <p:spPr>
          <a:xfrm>
            <a:off x="6757416" y="3712464"/>
            <a:ext cx="100584" cy="100584"/>
          </a:xfrm>
          <a:prstGeom prst="ellipse">
            <a:avLst/>
          </a:prstGeom>
          <a:solidFill>
            <a:srgbClr val="D9822B"/>
          </a:solidFill>
          <a:ln w="12700">
            <a:solidFill>
              <a:srgbClr val="D9822B"/>
            </a:solidFill>
            <a:prstDash val="solid"/>
          </a:ln>
        </p:spPr>
      </p:sp>
      <p:sp>
        <p:nvSpPr>
          <p:cNvPr id="27" name="Text 22"/>
          <p:cNvSpPr txBox="1"/>
          <p:nvPr/>
        </p:nvSpPr>
        <p:spPr>
          <a:xfrm>
            <a:off x="7013448" y="3630168"/>
            <a:ext cx="4233672" cy="292608"/>
          </a:xfrm>
          <a:prstGeom prst="rect">
            <a:avLst/>
          </a:prstGeom>
          <a:noFill/>
          <a:ln/>
        </p:spPr>
        <p:txBody>
          <a:bodyPr wrap="square" lIns="0" tIns="0" rIns="0" bIns="0" rtlCol="0" anchor="ctr"/>
          <a:lstStyle/>
          <a:p>
            <a:pPr indent="0" marL="0">
              <a:buNone/>
            </a:pPr>
            <a:r>
              <a:rPr lang="en-US" sz="1250" dirty="0">
                <a:solidFill>
                  <a:srgbClr val="16232A"/>
                </a:solidFill>
                <a:latin typeface="Calibri" pitchFamily="34" charset="0"/>
                <a:ea typeface="Calibri" pitchFamily="34" charset="-122"/>
                <a:cs typeface="Calibri" pitchFamily="34" charset="-120"/>
              </a:rPr>
              <a:t>Open decisions they were the approver for</a:t>
            </a:r>
            <a:endParaRPr lang="en-US" sz="1250" dirty="0"/>
          </a:p>
        </p:txBody>
      </p:sp>
      <p:sp>
        <p:nvSpPr>
          <p:cNvPr id="28" name="Shape 23"/>
          <p:cNvSpPr/>
          <p:nvPr/>
        </p:nvSpPr>
        <p:spPr>
          <a:xfrm>
            <a:off x="6757416" y="4050792"/>
            <a:ext cx="100584" cy="100584"/>
          </a:xfrm>
          <a:prstGeom prst="ellipse">
            <a:avLst/>
          </a:prstGeom>
          <a:solidFill>
            <a:srgbClr val="D9822B"/>
          </a:solidFill>
          <a:ln w="12700">
            <a:solidFill>
              <a:srgbClr val="D9822B"/>
            </a:solidFill>
            <a:prstDash val="solid"/>
          </a:ln>
        </p:spPr>
      </p:sp>
      <p:sp>
        <p:nvSpPr>
          <p:cNvPr id="29" name="Text 24"/>
          <p:cNvSpPr txBox="1"/>
          <p:nvPr/>
        </p:nvSpPr>
        <p:spPr>
          <a:xfrm>
            <a:off x="7013448" y="3968496"/>
            <a:ext cx="4233672" cy="292608"/>
          </a:xfrm>
          <a:prstGeom prst="rect">
            <a:avLst/>
          </a:prstGeom>
          <a:noFill/>
          <a:ln/>
        </p:spPr>
        <p:txBody>
          <a:bodyPr wrap="square" lIns="0" tIns="0" rIns="0" bIns="0" rtlCol="0" anchor="ctr"/>
          <a:lstStyle/>
          <a:p>
            <a:pPr indent="0" marL="0">
              <a:buNone/>
            </a:pPr>
            <a:r>
              <a:rPr lang="en-US" sz="1250" dirty="0">
                <a:solidFill>
                  <a:srgbClr val="16232A"/>
                </a:solidFill>
                <a:latin typeface="Calibri" pitchFamily="34" charset="0"/>
                <a:ea typeface="Calibri" pitchFamily="34" charset="-122"/>
                <a:cs typeface="Calibri" pitchFamily="34" charset="-120"/>
              </a:rPr>
              <a:t>Processes and policies they owned</a:t>
            </a:r>
            <a:endParaRPr lang="en-US" sz="1250" dirty="0"/>
          </a:p>
        </p:txBody>
      </p:sp>
      <p:sp>
        <p:nvSpPr>
          <p:cNvPr id="30" name="Shape 25"/>
          <p:cNvSpPr/>
          <p:nvPr/>
        </p:nvSpPr>
        <p:spPr>
          <a:xfrm>
            <a:off x="6446520" y="4617720"/>
            <a:ext cx="5102352" cy="1572768"/>
          </a:xfrm>
          <a:prstGeom prst="roundRect">
            <a:avLst>
              <a:gd name="adj" fmla="val 4651"/>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31" name="Text 26"/>
          <p:cNvSpPr txBox="1"/>
          <p:nvPr/>
        </p:nvSpPr>
        <p:spPr>
          <a:xfrm>
            <a:off x="6739128" y="4828032"/>
            <a:ext cx="4517136" cy="237744"/>
          </a:xfrm>
          <a:prstGeom prst="rect">
            <a:avLst/>
          </a:prstGeom>
          <a:noFill/>
          <a:ln/>
        </p:spPr>
        <p:txBody>
          <a:bodyPr wrap="square" lIns="0" tIns="0" rIns="0" bIns="0" rtlCol="0" anchor="ctr"/>
          <a:lstStyle/>
          <a:p>
            <a:pPr indent="0" marL="0">
              <a:buNone/>
            </a:pPr>
            <a:r>
              <a:rPr lang="en-US" sz="1000" b="1" spc="140" kern="0" dirty="0">
                <a:solidFill>
                  <a:srgbClr val="5C6B73"/>
                </a:solidFill>
                <a:latin typeface="Calibri" pitchFamily="34" charset="0"/>
                <a:ea typeface="Calibri" pitchFamily="34" charset="-122"/>
                <a:cs typeface="Calibri" pitchFamily="34" charset="-120"/>
              </a:rPr>
              <a:t>FLAGGED FOR HANDOVER, BUT NOT BLOCKING</a:t>
            </a:r>
            <a:endParaRPr lang="en-US" sz="1000" dirty="0"/>
          </a:p>
        </p:txBody>
      </p:sp>
      <p:sp>
        <p:nvSpPr>
          <p:cNvPr id="32" name="Shape 27"/>
          <p:cNvSpPr/>
          <p:nvPr/>
        </p:nvSpPr>
        <p:spPr>
          <a:xfrm>
            <a:off x="6757416" y="5239512"/>
            <a:ext cx="100584" cy="100584"/>
          </a:xfrm>
          <a:prstGeom prst="ellipse">
            <a:avLst/>
          </a:prstGeom>
          <a:solidFill>
            <a:srgbClr val="9AA7AD"/>
          </a:solidFill>
          <a:ln w="12700">
            <a:solidFill>
              <a:srgbClr val="9AA7AD"/>
            </a:solidFill>
            <a:prstDash val="solid"/>
          </a:ln>
        </p:spPr>
      </p:sp>
      <p:sp>
        <p:nvSpPr>
          <p:cNvPr id="33" name="Text 28"/>
          <p:cNvSpPr txBox="1"/>
          <p:nvPr/>
        </p:nvSpPr>
        <p:spPr>
          <a:xfrm>
            <a:off x="7013448" y="5157216"/>
            <a:ext cx="4233672" cy="274320"/>
          </a:xfrm>
          <a:prstGeom prst="rect">
            <a:avLst/>
          </a:prstGeom>
          <a:noFill/>
          <a:ln/>
        </p:spPr>
        <p:txBody>
          <a:bodyPr wrap="square" lIns="0" tIns="0" rIns="0" bIns="0" rtlCol="0" anchor="ctr"/>
          <a:lstStyle/>
          <a:p>
            <a:pPr indent="0" marL="0">
              <a:buNone/>
            </a:pPr>
            <a:r>
              <a:rPr lang="en-US" sz="1250" dirty="0">
                <a:solidFill>
                  <a:srgbClr val="16232A"/>
                </a:solidFill>
                <a:latin typeface="Calibri" pitchFamily="34" charset="0"/>
                <a:ea typeface="Calibri" pitchFamily="34" charset="-122"/>
                <a:cs typeface="Calibri" pitchFamily="34" charset="-120"/>
              </a:rPr>
              <a:t>Routine open tasks</a:t>
            </a:r>
            <a:endParaRPr lang="en-US" sz="1250" dirty="0"/>
          </a:p>
        </p:txBody>
      </p:sp>
      <p:sp>
        <p:nvSpPr>
          <p:cNvPr id="34" name="Shape 29"/>
          <p:cNvSpPr/>
          <p:nvPr/>
        </p:nvSpPr>
        <p:spPr>
          <a:xfrm>
            <a:off x="6757416" y="5559552"/>
            <a:ext cx="100584" cy="100584"/>
          </a:xfrm>
          <a:prstGeom prst="ellipse">
            <a:avLst/>
          </a:prstGeom>
          <a:solidFill>
            <a:srgbClr val="9AA7AD"/>
          </a:solidFill>
          <a:ln w="12700">
            <a:solidFill>
              <a:srgbClr val="9AA7AD"/>
            </a:solidFill>
            <a:prstDash val="solid"/>
          </a:ln>
        </p:spPr>
      </p:sp>
      <p:sp>
        <p:nvSpPr>
          <p:cNvPr id="35" name="Text 30"/>
          <p:cNvSpPr txBox="1"/>
          <p:nvPr/>
        </p:nvSpPr>
        <p:spPr>
          <a:xfrm>
            <a:off x="7013448" y="5477256"/>
            <a:ext cx="4233672" cy="274320"/>
          </a:xfrm>
          <a:prstGeom prst="rect">
            <a:avLst/>
          </a:prstGeom>
          <a:noFill/>
          <a:ln/>
        </p:spPr>
        <p:txBody>
          <a:bodyPr wrap="square" lIns="0" tIns="0" rIns="0" bIns="0" rtlCol="0" anchor="ctr"/>
          <a:lstStyle/>
          <a:p>
            <a:pPr indent="0" marL="0">
              <a:buNone/>
            </a:pPr>
            <a:r>
              <a:rPr lang="en-US" sz="1250" dirty="0">
                <a:solidFill>
                  <a:srgbClr val="16232A"/>
                </a:solidFill>
                <a:latin typeface="Calibri" pitchFamily="34" charset="0"/>
                <a:ea typeface="Calibri" pitchFamily="34" charset="-122"/>
                <a:cs typeface="Calibri" pitchFamily="34" charset="-120"/>
              </a:rPr>
              <a:t>Recurring work from their desk card</a:t>
            </a:r>
            <a:endParaRPr lang="en-US" sz="1250" dirty="0"/>
          </a:p>
        </p:txBody>
      </p:sp>
      <p:sp>
        <p:nvSpPr>
          <p:cNvPr id="36" name="Shape 31"/>
          <p:cNvSpPr/>
          <p:nvPr/>
        </p:nvSpPr>
        <p:spPr>
          <a:xfrm>
            <a:off x="6757416" y="5879592"/>
            <a:ext cx="100584" cy="100584"/>
          </a:xfrm>
          <a:prstGeom prst="ellipse">
            <a:avLst/>
          </a:prstGeom>
          <a:solidFill>
            <a:srgbClr val="9AA7AD"/>
          </a:solidFill>
          <a:ln w="12700">
            <a:solidFill>
              <a:srgbClr val="9AA7AD"/>
            </a:solidFill>
            <a:prstDash val="solid"/>
          </a:ln>
        </p:spPr>
      </p:sp>
      <p:sp>
        <p:nvSpPr>
          <p:cNvPr id="37" name="Text 32"/>
          <p:cNvSpPr txBox="1"/>
          <p:nvPr/>
        </p:nvSpPr>
        <p:spPr>
          <a:xfrm>
            <a:off x="7013448" y="5797296"/>
            <a:ext cx="4233672" cy="274320"/>
          </a:xfrm>
          <a:prstGeom prst="rect">
            <a:avLst/>
          </a:prstGeom>
          <a:noFill/>
          <a:ln/>
        </p:spPr>
        <p:txBody>
          <a:bodyPr wrap="square" lIns="0" tIns="0" rIns="0" bIns="0" rtlCol="0" anchor="ctr"/>
          <a:lstStyle/>
          <a:p>
            <a:pPr indent="0" marL="0">
              <a:buNone/>
            </a:pPr>
            <a:r>
              <a:rPr lang="en-US" sz="1250" dirty="0">
                <a:solidFill>
                  <a:srgbClr val="16232A"/>
                </a:solidFill>
                <a:latin typeface="Calibri" pitchFamily="34" charset="0"/>
                <a:ea typeface="Calibri" pitchFamily="34" charset="-122"/>
                <a:cs typeface="Calibri" pitchFamily="34" charset="-120"/>
              </a:rPr>
              <a:t>Cover they had given or been given</a:t>
            </a:r>
            <a:endParaRPr lang="en-US" sz="1250" dirty="0"/>
          </a:p>
        </p:txBody>
      </p:sp>
      <p:sp>
        <p:nvSpPr>
          <p:cNvPr id="38" name="Text 33"/>
          <p:cNvSpPr txBox="1"/>
          <p:nvPr/>
        </p:nvSpPr>
        <p:spPr>
          <a:xfrm>
            <a:off x="640080" y="6263640"/>
            <a:ext cx="10911535" cy="365760"/>
          </a:xfrm>
          <a:prstGeom prst="rect">
            <a:avLst/>
          </a:prstGeom>
          <a:noFill/>
          <a:ln/>
        </p:spPr>
        <p:txBody>
          <a:bodyPr wrap="square" lIns="0" tIns="0" rIns="0" bIns="0" rtlCol="0" anchor="ctr"/>
          <a:lstStyle/>
          <a:p>
            <a:pPr indent="0" marL="0">
              <a:buNone/>
            </a:pPr>
            <a:r>
              <a:rPr lang="en-US" sz="1450" i="1" dirty="0">
                <a:solidFill>
                  <a:srgbClr val="0E2F3C"/>
                </a:solidFill>
                <a:latin typeface="Cambria" pitchFamily="34" charset="0"/>
                <a:ea typeface="Cambria" pitchFamily="34" charset="-122"/>
                <a:cs typeface="Cambria" pitchFamily="34" charset="-120"/>
              </a:rPr>
              <a:t>Handing work over does not erase who did it. The record still shows the task was theirs, and for how long.</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JOINERS, MOVERS AND LEAVERS</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Moving department is not the same as leaving</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The same list, with one difference that matters — you are still here.</a:t>
            </a:r>
            <a:endParaRPr lang="en-US" sz="1500" dirty="0"/>
          </a:p>
        </p:txBody>
      </p:sp>
      <p:sp>
        <p:nvSpPr>
          <p:cNvPr id="5" name="Shape 3"/>
          <p:cNvSpPr/>
          <p:nvPr/>
        </p:nvSpPr>
        <p:spPr>
          <a:xfrm>
            <a:off x="640080" y="2084832"/>
            <a:ext cx="5431536" cy="2487168"/>
          </a:xfrm>
          <a:prstGeom prst="roundRect">
            <a:avLst>
              <a:gd name="adj" fmla="val 2941"/>
            </a:avLst>
          </a:prstGeom>
          <a:solidFill>
            <a:srgbClr val="FBEEDC"/>
          </a:solidFill>
          <a:ln w="12700">
            <a:solidFill>
              <a:srgbClr val="FBEEDC"/>
            </a:solidFill>
            <a:prstDash val="solid"/>
          </a:ln>
          <a:effectLst>
            <a:outerShdw sx="100000" sy="100000" kx="0" ky="0" algn="bl" rotWithShape="0" blurRad="127000" dist="25400" dir="5400000">
              <a:srgbClr val="0E2F3C">
                <a:alpha val="10000"/>
              </a:srgbClr>
            </a:outerShdw>
          </a:effectLst>
        </p:spPr>
      </p:sp>
      <p:sp>
        <p:nvSpPr>
          <p:cNvPr id="6" name="Shape 4"/>
          <p:cNvSpPr/>
          <p:nvPr/>
        </p:nvSpPr>
        <p:spPr>
          <a:xfrm>
            <a:off x="950976" y="2377440"/>
            <a:ext cx="512064" cy="512064"/>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1027786" y="2449129"/>
            <a:ext cx="368686" cy="368686"/>
          </a:xfrm>
          <a:prstGeom prst="rect">
            <a:avLst/>
          </a:prstGeom>
        </p:spPr>
      </p:pic>
      <p:sp>
        <p:nvSpPr>
          <p:cNvPr id="8" name="Text 5"/>
          <p:cNvSpPr txBox="1"/>
          <p:nvPr/>
        </p:nvSpPr>
        <p:spPr>
          <a:xfrm>
            <a:off x="1591056" y="2395728"/>
            <a:ext cx="4151376" cy="292608"/>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Stays with the desk</a:t>
            </a:r>
            <a:endParaRPr lang="en-US" sz="1500" dirty="0"/>
          </a:p>
        </p:txBody>
      </p:sp>
      <p:sp>
        <p:nvSpPr>
          <p:cNvPr id="9" name="Text 6"/>
          <p:cNvSpPr txBox="1"/>
          <p:nvPr/>
        </p:nvSpPr>
        <p:spPr>
          <a:xfrm>
            <a:off x="1591056" y="2688336"/>
            <a:ext cx="4151376" cy="256032"/>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Handed to whoever takes the seat</a:t>
            </a:r>
            <a:endParaRPr lang="en-US" sz="1150" dirty="0"/>
          </a:p>
        </p:txBody>
      </p:sp>
      <p:sp>
        <p:nvSpPr>
          <p:cNvPr id="10" name="Shape 7"/>
          <p:cNvSpPr/>
          <p:nvPr/>
        </p:nvSpPr>
        <p:spPr>
          <a:xfrm>
            <a:off x="987552" y="3227832"/>
            <a:ext cx="100584" cy="100584"/>
          </a:xfrm>
          <a:prstGeom prst="ellipse">
            <a:avLst/>
          </a:prstGeom>
          <a:solidFill>
            <a:srgbClr val="D9822B"/>
          </a:solidFill>
          <a:ln w="12700">
            <a:solidFill>
              <a:srgbClr val="D9822B"/>
            </a:solidFill>
            <a:prstDash val="solid"/>
          </a:ln>
        </p:spPr>
      </p:sp>
      <p:sp>
        <p:nvSpPr>
          <p:cNvPr id="11" name="Text 8"/>
          <p:cNvSpPr txBox="1"/>
          <p:nvPr/>
        </p:nvSpPr>
        <p:spPr>
          <a:xfrm>
            <a:off x="1243584" y="3127248"/>
            <a:ext cx="4517136" cy="384048"/>
          </a:xfrm>
          <a:prstGeom prst="rect">
            <a:avLst/>
          </a:prstGeom>
          <a:noFill/>
          <a:ln/>
        </p:spPr>
        <p:txBody>
          <a:bodyPr wrap="square" lIns="0" tIns="0" rIns="0" bIns="0" rtlCol="0" anchor="ctr"/>
          <a:lstStyle/>
          <a:p>
            <a:pPr indent="0" marL="0">
              <a:lnSpc>
                <a:spcPct val="108000"/>
              </a:lnSpc>
              <a:buNone/>
            </a:pPr>
            <a:r>
              <a:rPr lang="en-US" sz="1250" dirty="0">
                <a:solidFill>
                  <a:srgbClr val="16232A"/>
                </a:solidFill>
                <a:latin typeface="Calibri" pitchFamily="34" charset="0"/>
                <a:ea typeface="Calibri" pitchFamily="34" charset="-122"/>
                <a:cs typeface="Calibri" pitchFamily="34" charset="-120"/>
              </a:rPr>
              <a:t>Your desk card, and the recurring work it generates</a:t>
            </a:r>
            <a:endParaRPr lang="en-US" sz="1250" dirty="0"/>
          </a:p>
        </p:txBody>
      </p:sp>
      <p:sp>
        <p:nvSpPr>
          <p:cNvPr id="12" name="Shape 9"/>
          <p:cNvSpPr/>
          <p:nvPr/>
        </p:nvSpPr>
        <p:spPr>
          <a:xfrm>
            <a:off x="987552" y="3657600"/>
            <a:ext cx="100584" cy="100584"/>
          </a:xfrm>
          <a:prstGeom prst="ellipse">
            <a:avLst/>
          </a:prstGeom>
          <a:solidFill>
            <a:srgbClr val="D9822B"/>
          </a:solidFill>
          <a:ln w="12700">
            <a:solidFill>
              <a:srgbClr val="D9822B"/>
            </a:solidFill>
            <a:prstDash val="solid"/>
          </a:ln>
        </p:spPr>
      </p:sp>
      <p:sp>
        <p:nvSpPr>
          <p:cNvPr id="13" name="Text 10"/>
          <p:cNvSpPr txBox="1"/>
          <p:nvPr/>
        </p:nvSpPr>
        <p:spPr>
          <a:xfrm>
            <a:off x="1243584" y="3557016"/>
            <a:ext cx="4517136" cy="384048"/>
          </a:xfrm>
          <a:prstGeom prst="rect">
            <a:avLst/>
          </a:prstGeom>
          <a:noFill/>
          <a:ln/>
        </p:spPr>
        <p:txBody>
          <a:bodyPr wrap="square" lIns="0" tIns="0" rIns="0" bIns="0" rtlCol="0" anchor="ctr"/>
          <a:lstStyle/>
          <a:p>
            <a:pPr indent="0" marL="0">
              <a:lnSpc>
                <a:spcPct val="108000"/>
              </a:lnSpc>
              <a:buNone/>
            </a:pPr>
            <a:r>
              <a:rPr lang="en-US" sz="1250" dirty="0">
                <a:solidFill>
                  <a:srgbClr val="16232A"/>
                </a:solidFill>
                <a:latin typeface="Calibri" pitchFamily="34" charset="0"/>
                <a:ea typeface="Calibri" pitchFamily="34" charset="-122"/>
                <a:cs typeface="Calibri" pitchFamily="34" charset="-120"/>
              </a:rPr>
              <a:t>Tasks belonging to the department you are leaving</a:t>
            </a:r>
            <a:endParaRPr lang="en-US" sz="1250" dirty="0"/>
          </a:p>
        </p:txBody>
      </p:sp>
      <p:sp>
        <p:nvSpPr>
          <p:cNvPr id="14" name="Shape 11"/>
          <p:cNvSpPr/>
          <p:nvPr/>
        </p:nvSpPr>
        <p:spPr>
          <a:xfrm>
            <a:off x="987552" y="4087368"/>
            <a:ext cx="100584" cy="100584"/>
          </a:xfrm>
          <a:prstGeom prst="ellipse">
            <a:avLst/>
          </a:prstGeom>
          <a:solidFill>
            <a:srgbClr val="D9822B"/>
          </a:solidFill>
          <a:ln w="12700">
            <a:solidFill>
              <a:srgbClr val="D9822B"/>
            </a:solidFill>
            <a:prstDash val="solid"/>
          </a:ln>
        </p:spPr>
      </p:sp>
      <p:sp>
        <p:nvSpPr>
          <p:cNvPr id="15" name="Text 12"/>
          <p:cNvSpPr txBox="1"/>
          <p:nvPr/>
        </p:nvSpPr>
        <p:spPr>
          <a:xfrm>
            <a:off x="1243584" y="3986784"/>
            <a:ext cx="4517136" cy="384048"/>
          </a:xfrm>
          <a:prstGeom prst="rect">
            <a:avLst/>
          </a:prstGeom>
          <a:noFill/>
          <a:ln/>
        </p:spPr>
        <p:txBody>
          <a:bodyPr wrap="square" lIns="0" tIns="0" rIns="0" bIns="0" rtlCol="0" anchor="ctr"/>
          <a:lstStyle/>
          <a:p>
            <a:pPr indent="0" marL="0">
              <a:lnSpc>
                <a:spcPct val="108000"/>
              </a:lnSpc>
              <a:buNone/>
            </a:pPr>
            <a:r>
              <a:rPr lang="en-US" sz="1250" dirty="0">
                <a:solidFill>
                  <a:srgbClr val="16232A"/>
                </a:solidFill>
                <a:latin typeface="Calibri" pitchFamily="34" charset="0"/>
                <a:ea typeface="Calibri" pitchFamily="34" charset="-122"/>
                <a:cs typeface="Calibri" pitchFamily="34" charset="-120"/>
              </a:rPr>
              <a:t>Processes and policies you owned</a:t>
            </a:r>
            <a:endParaRPr lang="en-US" sz="1250" dirty="0"/>
          </a:p>
        </p:txBody>
      </p:sp>
      <p:sp>
        <p:nvSpPr>
          <p:cNvPr id="16" name="Shape 13"/>
          <p:cNvSpPr/>
          <p:nvPr/>
        </p:nvSpPr>
        <p:spPr>
          <a:xfrm>
            <a:off x="6364224" y="2084832"/>
            <a:ext cx="5431536" cy="2487168"/>
          </a:xfrm>
          <a:prstGeom prst="roundRect">
            <a:avLst>
              <a:gd name="adj" fmla="val 2941"/>
            </a:avLst>
          </a:prstGeom>
          <a:solidFill>
            <a:srgbClr val="E3F0EA"/>
          </a:solidFill>
          <a:ln w="12700">
            <a:solidFill>
              <a:srgbClr val="E3F0EA"/>
            </a:solidFill>
            <a:prstDash val="solid"/>
          </a:ln>
          <a:effectLst>
            <a:outerShdw sx="100000" sy="100000" kx="0" ky="0" algn="bl" rotWithShape="0" blurRad="127000" dist="25400" dir="5400000">
              <a:srgbClr val="0E2F3C">
                <a:alpha val="10000"/>
              </a:srgbClr>
            </a:outerShdw>
          </a:effectLst>
        </p:spPr>
      </p:sp>
      <p:sp>
        <p:nvSpPr>
          <p:cNvPr id="17" name="Shape 14"/>
          <p:cNvSpPr/>
          <p:nvPr/>
        </p:nvSpPr>
        <p:spPr>
          <a:xfrm>
            <a:off x="6675120" y="2377440"/>
            <a:ext cx="512064" cy="512064"/>
          </a:xfrm>
          <a:prstGeom prst="ellipse">
            <a:avLst/>
          </a:prstGeom>
          <a:solidFill>
            <a:srgbClr val="FFFFFF"/>
          </a:solidFill>
          <a:ln w="12700">
            <a:solidFill>
              <a:srgbClr val="FFFFFF"/>
            </a:solidFill>
            <a:prstDash val="solid"/>
          </a:ln>
        </p:spPr>
      </p:sp>
      <p:pic>
        <p:nvPicPr>
          <p:cNvPr id="18" name="Image 1" descr="preencoded.png">    </p:cNvPr>
          <p:cNvPicPr>
            <a:picLocks noChangeAspect="1"/>
          </p:cNvPicPr>
          <p:nvPr/>
        </p:nvPicPr>
        <p:blipFill>
          <a:blip r:embed="rId2"/>
          <a:stretch>
            <a:fillRect/>
          </a:stretch>
        </p:blipFill>
        <p:spPr>
          <a:xfrm>
            <a:off x="6751930" y="2449129"/>
            <a:ext cx="368686" cy="368686"/>
          </a:xfrm>
          <a:prstGeom prst="rect">
            <a:avLst/>
          </a:prstGeom>
        </p:spPr>
      </p:pic>
      <p:sp>
        <p:nvSpPr>
          <p:cNvPr id="19" name="Text 15"/>
          <p:cNvSpPr txBox="1"/>
          <p:nvPr/>
        </p:nvSpPr>
        <p:spPr>
          <a:xfrm>
            <a:off x="7315200" y="2395728"/>
            <a:ext cx="4151376" cy="292608"/>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Comes with you</a:t>
            </a:r>
            <a:endParaRPr lang="en-US" sz="1500" dirty="0"/>
          </a:p>
        </p:txBody>
      </p:sp>
      <p:sp>
        <p:nvSpPr>
          <p:cNvPr id="20" name="Text 16"/>
          <p:cNvSpPr txBox="1"/>
          <p:nvPr/>
        </p:nvSpPr>
        <p:spPr>
          <a:xfrm>
            <a:off x="7315200" y="2688336"/>
            <a:ext cx="4151376" cy="256032"/>
          </a:xfrm>
          <a:prstGeom prst="rect">
            <a:avLst/>
          </a:prstGeom>
          <a:noFill/>
          <a:ln/>
        </p:spPr>
        <p:txBody>
          <a:bodyPr wrap="square" lIns="0" tIns="0" rIns="0" bIns="0" rtlCol="0" anchor="ctr"/>
          <a:lstStyle/>
          <a:p>
            <a:pPr indent="0" marL="0">
              <a:buNone/>
            </a:pPr>
            <a:r>
              <a:rPr lang="en-US" sz="1150" dirty="0">
                <a:solidFill>
                  <a:srgbClr val="5C6B73"/>
                </a:solidFill>
                <a:latin typeface="Calibri" pitchFamily="34" charset="0"/>
                <a:ea typeface="Calibri" pitchFamily="34" charset="-122"/>
                <a:cs typeface="Calibri" pitchFamily="34" charset="-120"/>
              </a:rPr>
              <a:t>Because you are still the person doing it</a:t>
            </a:r>
            <a:endParaRPr lang="en-US" sz="1150" dirty="0"/>
          </a:p>
        </p:txBody>
      </p:sp>
      <p:sp>
        <p:nvSpPr>
          <p:cNvPr id="21" name="Shape 17"/>
          <p:cNvSpPr/>
          <p:nvPr/>
        </p:nvSpPr>
        <p:spPr>
          <a:xfrm>
            <a:off x="6711696" y="3227832"/>
            <a:ext cx="100584" cy="100584"/>
          </a:xfrm>
          <a:prstGeom prst="ellipse">
            <a:avLst/>
          </a:prstGeom>
          <a:solidFill>
            <a:srgbClr val="2E7D5B"/>
          </a:solidFill>
          <a:ln w="12700">
            <a:solidFill>
              <a:srgbClr val="2E7D5B"/>
            </a:solidFill>
            <a:prstDash val="solid"/>
          </a:ln>
        </p:spPr>
      </p:sp>
      <p:sp>
        <p:nvSpPr>
          <p:cNvPr id="22" name="Text 18"/>
          <p:cNvSpPr txBox="1"/>
          <p:nvPr/>
        </p:nvSpPr>
        <p:spPr>
          <a:xfrm>
            <a:off x="6967728" y="3127248"/>
            <a:ext cx="4517136" cy="384048"/>
          </a:xfrm>
          <a:prstGeom prst="rect">
            <a:avLst/>
          </a:prstGeom>
          <a:noFill/>
          <a:ln/>
        </p:spPr>
        <p:txBody>
          <a:bodyPr wrap="square" lIns="0" tIns="0" rIns="0" bIns="0" rtlCol="0" anchor="ctr"/>
          <a:lstStyle/>
          <a:p>
            <a:pPr indent="0" marL="0">
              <a:lnSpc>
                <a:spcPct val="108000"/>
              </a:lnSpc>
              <a:buNone/>
            </a:pPr>
            <a:r>
              <a:rPr lang="en-US" sz="1250" dirty="0">
                <a:solidFill>
                  <a:srgbClr val="16232A"/>
                </a:solidFill>
                <a:latin typeface="Calibri" pitchFamily="34" charset="0"/>
                <a:ea typeface="Calibri" pitchFamily="34" charset="-122"/>
                <a:cs typeface="Calibri" pitchFamily="34" charset="-120"/>
              </a:rPr>
              <a:t>Projects you are accountable for — you keep the role</a:t>
            </a:r>
            <a:endParaRPr lang="en-US" sz="1250" dirty="0"/>
          </a:p>
        </p:txBody>
      </p:sp>
      <p:sp>
        <p:nvSpPr>
          <p:cNvPr id="23" name="Shape 19"/>
          <p:cNvSpPr/>
          <p:nvPr/>
        </p:nvSpPr>
        <p:spPr>
          <a:xfrm>
            <a:off x="6711696" y="3657600"/>
            <a:ext cx="100584" cy="100584"/>
          </a:xfrm>
          <a:prstGeom prst="ellipse">
            <a:avLst/>
          </a:prstGeom>
          <a:solidFill>
            <a:srgbClr val="2E7D5B"/>
          </a:solidFill>
          <a:ln w="12700">
            <a:solidFill>
              <a:srgbClr val="2E7D5B"/>
            </a:solidFill>
            <a:prstDash val="solid"/>
          </a:ln>
        </p:spPr>
      </p:sp>
      <p:sp>
        <p:nvSpPr>
          <p:cNvPr id="24" name="Text 20"/>
          <p:cNvSpPr txBox="1"/>
          <p:nvPr/>
        </p:nvSpPr>
        <p:spPr>
          <a:xfrm>
            <a:off x="6967728" y="3557016"/>
            <a:ext cx="4517136" cy="384048"/>
          </a:xfrm>
          <a:prstGeom prst="rect">
            <a:avLst/>
          </a:prstGeom>
          <a:noFill/>
          <a:ln/>
        </p:spPr>
        <p:txBody>
          <a:bodyPr wrap="square" lIns="0" tIns="0" rIns="0" bIns="0" rtlCol="0" anchor="ctr"/>
          <a:lstStyle/>
          <a:p>
            <a:pPr indent="0" marL="0">
              <a:lnSpc>
                <a:spcPct val="108000"/>
              </a:lnSpc>
              <a:buNone/>
            </a:pPr>
            <a:r>
              <a:rPr lang="en-US" sz="1250" dirty="0">
                <a:solidFill>
                  <a:srgbClr val="16232A"/>
                </a:solidFill>
                <a:latin typeface="Calibri" pitchFamily="34" charset="0"/>
                <a:ea typeface="Calibri" pitchFamily="34" charset="-122"/>
                <a:cs typeface="Calibri" pitchFamily="34" charset="-120"/>
              </a:rPr>
              <a:t>Decisions you are the approver on</a:t>
            </a:r>
            <a:endParaRPr lang="en-US" sz="1250" dirty="0"/>
          </a:p>
        </p:txBody>
      </p:sp>
      <p:sp>
        <p:nvSpPr>
          <p:cNvPr id="25" name="Shape 21"/>
          <p:cNvSpPr/>
          <p:nvPr/>
        </p:nvSpPr>
        <p:spPr>
          <a:xfrm>
            <a:off x="6711696" y="4087368"/>
            <a:ext cx="100584" cy="100584"/>
          </a:xfrm>
          <a:prstGeom prst="ellipse">
            <a:avLst/>
          </a:prstGeom>
          <a:solidFill>
            <a:srgbClr val="2E7D5B"/>
          </a:solidFill>
          <a:ln w="12700">
            <a:solidFill>
              <a:srgbClr val="2E7D5B"/>
            </a:solidFill>
            <a:prstDash val="solid"/>
          </a:ln>
        </p:spPr>
      </p:sp>
      <p:sp>
        <p:nvSpPr>
          <p:cNvPr id="26" name="Text 22"/>
          <p:cNvSpPr txBox="1"/>
          <p:nvPr/>
        </p:nvSpPr>
        <p:spPr>
          <a:xfrm>
            <a:off x="6967728" y="3986784"/>
            <a:ext cx="4517136" cy="384048"/>
          </a:xfrm>
          <a:prstGeom prst="rect">
            <a:avLst/>
          </a:prstGeom>
          <a:noFill/>
          <a:ln/>
        </p:spPr>
        <p:txBody>
          <a:bodyPr wrap="square" lIns="0" tIns="0" rIns="0" bIns="0" rtlCol="0" anchor="ctr"/>
          <a:lstStyle/>
          <a:p>
            <a:pPr indent="0" marL="0">
              <a:lnSpc>
                <a:spcPct val="108000"/>
              </a:lnSpc>
              <a:buNone/>
            </a:pPr>
            <a:r>
              <a:rPr lang="en-US" sz="1250" dirty="0">
                <a:solidFill>
                  <a:srgbClr val="16232A"/>
                </a:solidFill>
                <a:latin typeface="Calibri" pitchFamily="34" charset="0"/>
                <a:ea typeface="Calibri" pitchFamily="34" charset="-122"/>
                <a:cs typeface="Calibri" pitchFamily="34" charset="-120"/>
              </a:rPr>
              <a:t>Your own work that was never the department's</a:t>
            </a:r>
            <a:endParaRPr lang="en-US" sz="1250" dirty="0"/>
          </a:p>
        </p:txBody>
      </p:sp>
      <p:sp>
        <p:nvSpPr>
          <p:cNvPr id="27" name="Text 23"/>
          <p:cNvSpPr txBox="1"/>
          <p:nvPr/>
        </p:nvSpPr>
        <p:spPr>
          <a:xfrm>
            <a:off x="640080" y="4736592"/>
            <a:ext cx="10911535" cy="310896"/>
          </a:xfrm>
          <a:prstGeom prst="rect">
            <a:avLst/>
          </a:prstGeom>
          <a:noFill/>
          <a:ln/>
        </p:spPr>
        <p:txBody>
          <a:bodyPr wrap="square" lIns="0" tIns="0" rIns="0" bIns="0" rtlCol="0" anchor="ctr"/>
          <a:lstStyle/>
          <a:p>
            <a:pPr indent="0" marL="0">
              <a:buNone/>
            </a:pPr>
            <a:r>
              <a:rPr lang="en-US" sz="1200" i="1" dirty="0">
                <a:solidFill>
                  <a:srgbClr val="5C6B73"/>
                </a:solidFill>
                <a:latin typeface="Calibri" pitchFamily="34" charset="0"/>
                <a:ea typeface="Calibri" pitchFamily="34" charset="-122"/>
                <a:cs typeface="Calibri" pitchFamily="34" charset="-120"/>
              </a:rPr>
              <a:t>Neither manager decides this alone. The defaults above are a starting point — either of them can move an item across before signing.</a:t>
            </a:r>
            <a:endParaRPr lang="en-US" sz="1200" dirty="0"/>
          </a:p>
        </p:txBody>
      </p:sp>
      <p:sp>
        <p:nvSpPr>
          <p:cNvPr id="28" name="Shape 24"/>
          <p:cNvSpPr/>
          <p:nvPr/>
        </p:nvSpPr>
        <p:spPr>
          <a:xfrm>
            <a:off x="640080" y="5193792"/>
            <a:ext cx="10911535" cy="1115568"/>
          </a:xfrm>
          <a:prstGeom prst="roundRect">
            <a:avLst>
              <a:gd name="adj" fmla="val 6557"/>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29" name="Shape 25"/>
          <p:cNvSpPr/>
          <p:nvPr/>
        </p:nvSpPr>
        <p:spPr>
          <a:xfrm>
            <a:off x="950976" y="5504688"/>
            <a:ext cx="512064" cy="512064"/>
          </a:xfrm>
          <a:prstGeom prst="ellipse">
            <a:avLst/>
          </a:prstGeom>
          <a:solidFill>
            <a:srgbClr val="FFFFFF"/>
          </a:solidFill>
          <a:ln w="12700">
            <a:solidFill>
              <a:srgbClr val="FFFFFF"/>
            </a:solidFill>
            <a:prstDash val="solid"/>
          </a:ln>
        </p:spPr>
      </p:sp>
      <p:pic>
        <p:nvPicPr>
          <p:cNvPr id="30" name="Image 2" descr="preencoded.png">    </p:cNvPr>
          <p:cNvPicPr>
            <a:picLocks noChangeAspect="1"/>
          </p:cNvPicPr>
          <p:nvPr/>
        </p:nvPicPr>
        <p:blipFill>
          <a:blip r:embed="rId3"/>
          <a:stretch>
            <a:fillRect/>
          </a:stretch>
        </p:blipFill>
        <p:spPr>
          <a:xfrm>
            <a:off x="1027786" y="5576377"/>
            <a:ext cx="368686" cy="368686"/>
          </a:xfrm>
          <a:prstGeom prst="rect">
            <a:avLst/>
          </a:prstGeom>
        </p:spPr>
      </p:pic>
      <p:sp>
        <p:nvSpPr>
          <p:cNvPr id="31" name="Text 26"/>
          <p:cNvSpPr txBox="1"/>
          <p:nvPr/>
        </p:nvSpPr>
        <p:spPr>
          <a:xfrm>
            <a:off x="1591056" y="5394960"/>
            <a:ext cx="9509760" cy="274320"/>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Both managers sign before the move completes</a:t>
            </a:r>
            <a:endParaRPr lang="en-US" sz="1500" dirty="0"/>
          </a:p>
        </p:txBody>
      </p:sp>
      <p:sp>
        <p:nvSpPr>
          <p:cNvPr id="32" name="Text 27"/>
          <p:cNvSpPr txBox="1"/>
          <p:nvPr/>
        </p:nvSpPr>
        <p:spPr>
          <a:xfrm>
            <a:off x="1591056" y="5687568"/>
            <a:ext cx="9509760" cy="548640"/>
          </a:xfrm>
          <a:prstGeom prst="rect">
            <a:avLst/>
          </a:prstGeom>
          <a:noFill/>
          <a:ln/>
        </p:spPr>
        <p:txBody>
          <a:bodyPr wrap="square" lIns="0" tIns="0" rIns="0" bIns="0" rtlCol="0" anchor="ctr"/>
          <a:lstStyle/>
          <a:p>
            <a:pPr indent="0" marL="0">
              <a:lnSpc>
                <a:spcPct val="112000"/>
              </a:lnSpc>
              <a:buNone/>
            </a:pPr>
            <a:r>
              <a:rPr lang="en-US" sz="1250" dirty="0">
                <a:solidFill>
                  <a:srgbClr val="16232A"/>
                </a:solidFill>
                <a:latin typeface="Calibri" pitchFamily="34" charset="0"/>
                <a:ea typeface="Calibri" pitchFamily="34" charset="-122"/>
                <a:cs typeface="Calibri" pitchFamily="34" charset="-120"/>
              </a:rPr>
              <a:t>The manager you are leaving confirms the work really has been handed over. The one you are joining confirms they know what is arriving with you. One signature is how people get transferred with their old obligations still quietly attached.</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2F3C"/>
        </a:solidFill>
      </p:bgPr>
    </p:bg>
    <p:spTree>
      <p:nvGrpSpPr>
        <p:cNvPr id="1" name=""/>
        <p:cNvGrpSpPr/>
        <p:nvPr/>
      </p:nvGrpSpPr>
      <p:grpSpPr>
        <a:xfrm>
          <a:off x="0" y="0"/>
          <a:ext cx="0" cy="0"/>
          <a:chOff x="0" y="0"/>
          <a:chExt cx="0" cy="0"/>
        </a:xfrm>
      </p:grpSpPr>
      <p:sp>
        <p:nvSpPr>
          <p:cNvPr id="2" name="Text 0"/>
          <p:cNvSpPr txBox="1"/>
          <p:nvPr/>
        </p:nvSpPr>
        <p:spPr>
          <a:xfrm>
            <a:off x="640080" y="685800"/>
            <a:ext cx="7315200" cy="274320"/>
          </a:xfrm>
          <a:prstGeom prst="rect">
            <a:avLst/>
          </a:prstGeom>
          <a:noFill/>
          <a:ln/>
        </p:spPr>
        <p:txBody>
          <a:bodyPr wrap="square" lIns="0" tIns="0" rIns="0" bIns="0" rtlCol="0" anchor="ctr"/>
          <a:lstStyle/>
          <a:p>
            <a:pPr indent="0" marL="0">
              <a:buNone/>
            </a:pPr>
            <a:r>
              <a:rPr lang="en-US" sz="1150" b="1" spc="240" kern="0" dirty="0">
                <a:solidFill>
                  <a:srgbClr val="D9822B"/>
                </a:solidFill>
                <a:latin typeface="Calibri" pitchFamily="34" charset="0"/>
                <a:ea typeface="Calibri" pitchFamily="34" charset="-122"/>
                <a:cs typeface="Calibri" pitchFamily="34" charset="-120"/>
              </a:rPr>
              <a:t>LET'S CLEAR THIS UP FIRST</a:t>
            </a:r>
            <a:endParaRPr lang="en-US" sz="1150" dirty="0"/>
          </a:p>
        </p:txBody>
      </p:sp>
      <p:sp>
        <p:nvSpPr>
          <p:cNvPr id="3" name="Text 1"/>
          <p:cNvSpPr txBox="1"/>
          <p:nvPr/>
        </p:nvSpPr>
        <p:spPr>
          <a:xfrm>
            <a:off x="640080" y="1051560"/>
            <a:ext cx="100584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workPulse does not do</a:t>
            </a:r>
            <a:endParaRPr lang="en-US" sz="3400" dirty="0"/>
          </a:p>
        </p:txBody>
      </p:sp>
      <p:sp>
        <p:nvSpPr>
          <p:cNvPr id="4" name="Text 2"/>
          <p:cNvSpPr txBox="1"/>
          <p:nvPr/>
        </p:nvSpPr>
        <p:spPr>
          <a:xfrm>
            <a:off x="640080" y="1755648"/>
            <a:ext cx="10058400" cy="320040"/>
          </a:xfrm>
          <a:prstGeom prst="rect">
            <a:avLst/>
          </a:prstGeom>
          <a:noFill/>
          <a:ln/>
        </p:spPr>
        <p:txBody>
          <a:bodyPr wrap="square" lIns="0" tIns="0" rIns="0" bIns="0" rtlCol="0" anchor="ctr"/>
          <a:lstStyle/>
          <a:p>
            <a:pPr indent="0" marL="0">
              <a:buNone/>
            </a:pPr>
            <a:r>
              <a:rPr lang="en-US" sz="1450" dirty="0">
                <a:solidFill>
                  <a:srgbClr val="A9C3CC"/>
                </a:solidFill>
                <a:latin typeface="Calibri" pitchFamily="34" charset="0"/>
                <a:ea typeface="Calibri" pitchFamily="34" charset="-122"/>
                <a:cs typeface="Calibri" pitchFamily="34" charset="-120"/>
              </a:rPr>
              <a:t>Said plainly, because these are the questions people actually ask.</a:t>
            </a:r>
            <a:endParaRPr lang="en-US" sz="1450" dirty="0"/>
          </a:p>
        </p:txBody>
      </p:sp>
      <p:sp>
        <p:nvSpPr>
          <p:cNvPr id="5" name="Shape 3"/>
          <p:cNvSpPr/>
          <p:nvPr/>
        </p:nvSpPr>
        <p:spPr>
          <a:xfrm>
            <a:off x="640080" y="2441448"/>
            <a:ext cx="438912" cy="438912"/>
          </a:xfrm>
          <a:prstGeom prst="ellipse">
            <a:avLst/>
          </a:prstGeom>
          <a:solidFill>
            <a:srgbClr val="7A2A36"/>
          </a:solidFill>
          <a:ln w="12700">
            <a:solidFill>
              <a:srgbClr val="7A2A36"/>
            </a:solidFill>
            <a:prstDash val="solid"/>
          </a:ln>
        </p:spPr>
      </p:sp>
      <p:pic>
        <p:nvPicPr>
          <p:cNvPr id="6" name="Image 0" descr="preencoded.png">    </p:cNvPr>
          <p:cNvPicPr>
            <a:picLocks noChangeAspect="1"/>
          </p:cNvPicPr>
          <p:nvPr/>
        </p:nvPicPr>
        <p:blipFill>
          <a:blip r:embed="rId1"/>
          <a:stretch>
            <a:fillRect/>
          </a:stretch>
        </p:blipFill>
        <p:spPr>
          <a:xfrm>
            <a:off x="745236" y="2546604"/>
            <a:ext cx="228600" cy="228600"/>
          </a:xfrm>
          <a:prstGeom prst="rect">
            <a:avLst/>
          </a:prstGeom>
        </p:spPr>
      </p:pic>
      <p:sp>
        <p:nvSpPr>
          <p:cNvPr id="7" name="Text 4"/>
          <p:cNvSpPr txBox="1"/>
          <p:nvPr/>
        </p:nvSpPr>
        <p:spPr>
          <a:xfrm>
            <a:off x="1261872" y="2423160"/>
            <a:ext cx="4754880" cy="731520"/>
          </a:xfrm>
          <a:prstGeom prst="rect">
            <a:avLst/>
          </a:prstGeom>
          <a:noFill/>
          <a:ln/>
        </p:spPr>
        <p:txBody>
          <a:bodyPr wrap="square" lIns="0" tIns="0" rIns="0" bIns="0" rtlCol="0" anchor="ctr"/>
          <a:lstStyle/>
          <a:p>
            <a:pPr indent="0" marL="0">
              <a:lnSpc>
                <a:spcPct val="118000"/>
              </a:lnSpc>
              <a:buNone/>
            </a:pPr>
            <a:r>
              <a:rPr lang="en-US" sz="1350" dirty="0">
                <a:solidFill>
                  <a:srgbClr val="FFFFFF"/>
                </a:solidFill>
                <a:latin typeface="Calibri" pitchFamily="34" charset="0"/>
                <a:ea typeface="Calibri" pitchFamily="34" charset="-122"/>
                <a:cs typeface="Calibri" pitchFamily="34" charset="-120"/>
              </a:rPr>
              <a:t>It does not watch your screen, your keyboard or your browser.</a:t>
            </a:r>
            <a:endParaRPr lang="en-US" sz="1350" dirty="0"/>
          </a:p>
        </p:txBody>
      </p:sp>
      <p:sp>
        <p:nvSpPr>
          <p:cNvPr id="8" name="Shape 5"/>
          <p:cNvSpPr/>
          <p:nvPr/>
        </p:nvSpPr>
        <p:spPr>
          <a:xfrm>
            <a:off x="6217920" y="2441448"/>
            <a:ext cx="438912" cy="438912"/>
          </a:xfrm>
          <a:prstGeom prst="ellipse">
            <a:avLst/>
          </a:prstGeom>
          <a:solidFill>
            <a:srgbClr val="7A2A36"/>
          </a:solidFill>
          <a:ln w="12700">
            <a:solidFill>
              <a:srgbClr val="7A2A36"/>
            </a:solidFill>
            <a:prstDash val="solid"/>
          </a:ln>
        </p:spPr>
      </p:sp>
      <p:pic>
        <p:nvPicPr>
          <p:cNvPr id="9" name="Image 1" descr="preencoded.png">    </p:cNvPr>
          <p:cNvPicPr>
            <a:picLocks noChangeAspect="1"/>
          </p:cNvPicPr>
          <p:nvPr/>
        </p:nvPicPr>
        <p:blipFill>
          <a:blip r:embed="rId2"/>
          <a:stretch>
            <a:fillRect/>
          </a:stretch>
        </p:blipFill>
        <p:spPr>
          <a:xfrm>
            <a:off x="6323076" y="2546604"/>
            <a:ext cx="228600" cy="228600"/>
          </a:xfrm>
          <a:prstGeom prst="rect">
            <a:avLst/>
          </a:prstGeom>
        </p:spPr>
      </p:pic>
      <p:sp>
        <p:nvSpPr>
          <p:cNvPr id="10" name="Text 6"/>
          <p:cNvSpPr txBox="1"/>
          <p:nvPr/>
        </p:nvSpPr>
        <p:spPr>
          <a:xfrm>
            <a:off x="6839712" y="2423160"/>
            <a:ext cx="4754880" cy="731520"/>
          </a:xfrm>
          <a:prstGeom prst="rect">
            <a:avLst/>
          </a:prstGeom>
          <a:noFill/>
          <a:ln/>
        </p:spPr>
        <p:txBody>
          <a:bodyPr wrap="square" lIns="0" tIns="0" rIns="0" bIns="0" rtlCol="0" anchor="ctr"/>
          <a:lstStyle/>
          <a:p>
            <a:pPr indent="0" marL="0">
              <a:lnSpc>
                <a:spcPct val="118000"/>
              </a:lnSpc>
              <a:buNone/>
            </a:pPr>
            <a:r>
              <a:rPr lang="en-US" sz="1350" dirty="0">
                <a:solidFill>
                  <a:srgbClr val="FFFFFF"/>
                </a:solidFill>
                <a:latin typeface="Calibri" pitchFamily="34" charset="0"/>
                <a:ea typeface="Calibri" pitchFamily="34" charset="-122"/>
                <a:cs typeface="Calibri" pitchFamily="34" charset="-120"/>
              </a:rPr>
              <a:t>It does not read your email, your WhatsApp or your calls.</a:t>
            </a:r>
            <a:endParaRPr lang="en-US" sz="1350" dirty="0"/>
          </a:p>
        </p:txBody>
      </p:sp>
      <p:sp>
        <p:nvSpPr>
          <p:cNvPr id="11" name="Shape 7"/>
          <p:cNvSpPr/>
          <p:nvPr/>
        </p:nvSpPr>
        <p:spPr>
          <a:xfrm>
            <a:off x="640080" y="3401568"/>
            <a:ext cx="438912" cy="438912"/>
          </a:xfrm>
          <a:prstGeom prst="ellipse">
            <a:avLst/>
          </a:prstGeom>
          <a:solidFill>
            <a:srgbClr val="7A2A36"/>
          </a:solidFill>
          <a:ln w="12700">
            <a:solidFill>
              <a:srgbClr val="7A2A36"/>
            </a:solidFill>
            <a:prstDash val="solid"/>
          </a:ln>
        </p:spPr>
      </p:sp>
      <p:pic>
        <p:nvPicPr>
          <p:cNvPr id="12" name="Image 2" descr="preencoded.png">    </p:cNvPr>
          <p:cNvPicPr>
            <a:picLocks noChangeAspect="1"/>
          </p:cNvPicPr>
          <p:nvPr/>
        </p:nvPicPr>
        <p:blipFill>
          <a:blip r:embed="rId3"/>
          <a:stretch>
            <a:fillRect/>
          </a:stretch>
        </p:blipFill>
        <p:spPr>
          <a:xfrm>
            <a:off x="745236" y="3506724"/>
            <a:ext cx="228600" cy="228600"/>
          </a:xfrm>
          <a:prstGeom prst="rect">
            <a:avLst/>
          </a:prstGeom>
        </p:spPr>
      </p:pic>
      <p:sp>
        <p:nvSpPr>
          <p:cNvPr id="13" name="Text 8"/>
          <p:cNvSpPr txBox="1"/>
          <p:nvPr/>
        </p:nvSpPr>
        <p:spPr>
          <a:xfrm>
            <a:off x="1261872" y="3383280"/>
            <a:ext cx="4754880" cy="731520"/>
          </a:xfrm>
          <a:prstGeom prst="rect">
            <a:avLst/>
          </a:prstGeom>
          <a:noFill/>
          <a:ln/>
        </p:spPr>
        <p:txBody>
          <a:bodyPr wrap="square" lIns="0" tIns="0" rIns="0" bIns="0" rtlCol="0" anchor="ctr"/>
          <a:lstStyle/>
          <a:p>
            <a:pPr indent="0" marL="0">
              <a:lnSpc>
                <a:spcPct val="118000"/>
              </a:lnSpc>
              <a:buNone/>
            </a:pPr>
            <a:r>
              <a:rPr lang="en-US" sz="1350" dirty="0">
                <a:solidFill>
                  <a:srgbClr val="FFFFFF"/>
                </a:solidFill>
                <a:latin typeface="Calibri" pitchFamily="34" charset="0"/>
                <a:ea typeface="Calibri" pitchFamily="34" charset="-122"/>
                <a:cs typeface="Calibri" pitchFamily="34" charset="-120"/>
              </a:rPr>
              <a:t>It does not track where you are or when you badge in.</a:t>
            </a:r>
            <a:endParaRPr lang="en-US" sz="1350" dirty="0"/>
          </a:p>
        </p:txBody>
      </p:sp>
      <p:sp>
        <p:nvSpPr>
          <p:cNvPr id="14" name="Shape 9"/>
          <p:cNvSpPr/>
          <p:nvPr/>
        </p:nvSpPr>
        <p:spPr>
          <a:xfrm>
            <a:off x="6217920" y="3401568"/>
            <a:ext cx="438912" cy="438912"/>
          </a:xfrm>
          <a:prstGeom prst="ellipse">
            <a:avLst/>
          </a:prstGeom>
          <a:solidFill>
            <a:srgbClr val="7A2A36"/>
          </a:solidFill>
          <a:ln w="12700">
            <a:solidFill>
              <a:srgbClr val="7A2A36"/>
            </a:solidFill>
            <a:prstDash val="solid"/>
          </a:ln>
        </p:spPr>
      </p:sp>
      <p:pic>
        <p:nvPicPr>
          <p:cNvPr id="15" name="Image 3" descr="preencoded.png">    </p:cNvPr>
          <p:cNvPicPr>
            <a:picLocks noChangeAspect="1"/>
          </p:cNvPicPr>
          <p:nvPr/>
        </p:nvPicPr>
        <p:blipFill>
          <a:blip r:embed="rId4"/>
          <a:stretch>
            <a:fillRect/>
          </a:stretch>
        </p:blipFill>
        <p:spPr>
          <a:xfrm>
            <a:off x="6323076" y="3506724"/>
            <a:ext cx="228600" cy="228600"/>
          </a:xfrm>
          <a:prstGeom prst="rect">
            <a:avLst/>
          </a:prstGeom>
        </p:spPr>
      </p:pic>
      <p:sp>
        <p:nvSpPr>
          <p:cNvPr id="16" name="Text 10"/>
          <p:cNvSpPr txBox="1"/>
          <p:nvPr/>
        </p:nvSpPr>
        <p:spPr>
          <a:xfrm>
            <a:off x="6839712" y="3383280"/>
            <a:ext cx="4754880" cy="731520"/>
          </a:xfrm>
          <a:prstGeom prst="rect">
            <a:avLst/>
          </a:prstGeom>
          <a:noFill/>
          <a:ln/>
        </p:spPr>
        <p:txBody>
          <a:bodyPr wrap="square" lIns="0" tIns="0" rIns="0" bIns="0" rtlCol="0" anchor="ctr"/>
          <a:lstStyle/>
          <a:p>
            <a:pPr indent="0" marL="0">
              <a:lnSpc>
                <a:spcPct val="118000"/>
              </a:lnSpc>
              <a:buNone/>
            </a:pPr>
            <a:r>
              <a:rPr lang="en-US" sz="1350" dirty="0">
                <a:solidFill>
                  <a:srgbClr val="FFFFFF"/>
                </a:solidFill>
                <a:latin typeface="Calibri" pitchFamily="34" charset="0"/>
                <a:ea typeface="Calibri" pitchFamily="34" charset="-122"/>
                <a:cs typeface="Calibri" pitchFamily="34" charset="-120"/>
              </a:rPr>
              <a:t>It is not a timesheet. You are never asked to account for every hour.</a:t>
            </a:r>
            <a:endParaRPr lang="en-US" sz="1350" dirty="0"/>
          </a:p>
        </p:txBody>
      </p:sp>
      <p:sp>
        <p:nvSpPr>
          <p:cNvPr id="17" name="Shape 11"/>
          <p:cNvSpPr/>
          <p:nvPr/>
        </p:nvSpPr>
        <p:spPr>
          <a:xfrm>
            <a:off x="640080" y="4361688"/>
            <a:ext cx="438912" cy="438912"/>
          </a:xfrm>
          <a:prstGeom prst="ellipse">
            <a:avLst/>
          </a:prstGeom>
          <a:solidFill>
            <a:srgbClr val="7A2A36"/>
          </a:solidFill>
          <a:ln w="12700">
            <a:solidFill>
              <a:srgbClr val="7A2A36"/>
            </a:solidFill>
            <a:prstDash val="solid"/>
          </a:ln>
        </p:spPr>
      </p:sp>
      <p:pic>
        <p:nvPicPr>
          <p:cNvPr id="18" name="Image 4" descr="preencoded.png">    </p:cNvPr>
          <p:cNvPicPr>
            <a:picLocks noChangeAspect="1"/>
          </p:cNvPicPr>
          <p:nvPr/>
        </p:nvPicPr>
        <p:blipFill>
          <a:blip r:embed="rId5"/>
          <a:stretch>
            <a:fillRect/>
          </a:stretch>
        </p:blipFill>
        <p:spPr>
          <a:xfrm>
            <a:off x="745236" y="4466844"/>
            <a:ext cx="228600" cy="228600"/>
          </a:xfrm>
          <a:prstGeom prst="rect">
            <a:avLst/>
          </a:prstGeom>
        </p:spPr>
      </p:pic>
      <p:sp>
        <p:nvSpPr>
          <p:cNvPr id="19" name="Text 12"/>
          <p:cNvSpPr txBox="1"/>
          <p:nvPr/>
        </p:nvSpPr>
        <p:spPr>
          <a:xfrm>
            <a:off x="1261872" y="4343400"/>
            <a:ext cx="4754880" cy="731520"/>
          </a:xfrm>
          <a:prstGeom prst="rect">
            <a:avLst/>
          </a:prstGeom>
          <a:noFill/>
          <a:ln/>
        </p:spPr>
        <p:txBody>
          <a:bodyPr wrap="square" lIns="0" tIns="0" rIns="0" bIns="0" rtlCol="0" anchor="ctr"/>
          <a:lstStyle/>
          <a:p>
            <a:pPr indent="0" marL="0">
              <a:lnSpc>
                <a:spcPct val="118000"/>
              </a:lnSpc>
              <a:buNone/>
            </a:pPr>
            <a:r>
              <a:rPr lang="en-US" sz="1350" dirty="0">
                <a:solidFill>
                  <a:srgbClr val="FFFFFF"/>
                </a:solidFill>
                <a:latin typeface="Calibri" pitchFamily="34" charset="0"/>
                <a:ea typeface="Calibri" pitchFamily="34" charset="-122"/>
                <a:cs typeface="Calibri" pitchFamily="34" charset="-120"/>
              </a:rPr>
              <a:t>It does not produce a single score that ranks you against your colleagues.</a:t>
            </a:r>
            <a:endParaRPr lang="en-US" sz="1350" dirty="0"/>
          </a:p>
        </p:txBody>
      </p:sp>
      <p:sp>
        <p:nvSpPr>
          <p:cNvPr id="20" name="Shape 13"/>
          <p:cNvSpPr/>
          <p:nvPr/>
        </p:nvSpPr>
        <p:spPr>
          <a:xfrm>
            <a:off x="6217920" y="4361688"/>
            <a:ext cx="438912" cy="438912"/>
          </a:xfrm>
          <a:prstGeom prst="ellipse">
            <a:avLst/>
          </a:prstGeom>
          <a:solidFill>
            <a:srgbClr val="7A2A36"/>
          </a:solidFill>
          <a:ln w="12700">
            <a:solidFill>
              <a:srgbClr val="7A2A36"/>
            </a:solidFill>
            <a:prstDash val="solid"/>
          </a:ln>
        </p:spPr>
      </p:sp>
      <p:pic>
        <p:nvPicPr>
          <p:cNvPr id="21" name="Image 5" descr="preencoded.png">    </p:cNvPr>
          <p:cNvPicPr>
            <a:picLocks noChangeAspect="1"/>
          </p:cNvPicPr>
          <p:nvPr/>
        </p:nvPicPr>
        <p:blipFill>
          <a:blip r:embed="rId6"/>
          <a:stretch>
            <a:fillRect/>
          </a:stretch>
        </p:blipFill>
        <p:spPr>
          <a:xfrm>
            <a:off x="6323076" y="4466844"/>
            <a:ext cx="228600" cy="228600"/>
          </a:xfrm>
          <a:prstGeom prst="rect">
            <a:avLst/>
          </a:prstGeom>
        </p:spPr>
      </p:pic>
      <p:sp>
        <p:nvSpPr>
          <p:cNvPr id="22" name="Text 14"/>
          <p:cNvSpPr txBox="1"/>
          <p:nvPr/>
        </p:nvSpPr>
        <p:spPr>
          <a:xfrm>
            <a:off x="6839712" y="4343400"/>
            <a:ext cx="4754880" cy="731520"/>
          </a:xfrm>
          <a:prstGeom prst="rect">
            <a:avLst/>
          </a:prstGeom>
          <a:noFill/>
          <a:ln/>
        </p:spPr>
        <p:txBody>
          <a:bodyPr wrap="square" lIns="0" tIns="0" rIns="0" bIns="0" rtlCol="0" anchor="ctr"/>
          <a:lstStyle/>
          <a:p>
            <a:pPr indent="0" marL="0">
              <a:lnSpc>
                <a:spcPct val="118000"/>
              </a:lnSpc>
              <a:buNone/>
            </a:pPr>
            <a:r>
              <a:rPr lang="en-US" sz="1350" dirty="0">
                <a:solidFill>
                  <a:srgbClr val="FFFFFF"/>
                </a:solidFill>
                <a:latin typeface="Calibri" pitchFamily="34" charset="0"/>
                <a:ea typeface="Calibri" pitchFamily="34" charset="-122"/>
                <a:cs typeface="Calibri" pitchFamily="34" charset="-120"/>
              </a:rPr>
              <a:t>It does not make decisions about people. Managers do that, as they do today.</a:t>
            </a:r>
            <a:endParaRPr lang="en-US" sz="1350" dirty="0"/>
          </a:p>
        </p:txBody>
      </p:sp>
      <p:sp>
        <p:nvSpPr>
          <p:cNvPr id="23" name="Text 15"/>
          <p:cNvSpPr txBox="1"/>
          <p:nvPr/>
        </p:nvSpPr>
        <p:spPr>
          <a:xfrm>
            <a:off x="640080" y="5440680"/>
            <a:ext cx="10607040" cy="731520"/>
          </a:xfrm>
          <a:prstGeom prst="rect">
            <a:avLst/>
          </a:prstGeom>
          <a:noFill/>
          <a:ln/>
        </p:spPr>
        <p:txBody>
          <a:bodyPr wrap="square" lIns="0" tIns="0" rIns="0" bIns="0" rtlCol="0" anchor="ctr"/>
          <a:lstStyle/>
          <a:p>
            <a:pPr indent="0" marL="0">
              <a:lnSpc>
                <a:spcPct val="120000"/>
              </a:lnSpc>
              <a:buNone/>
            </a:pPr>
            <a:r>
              <a:rPr lang="en-US" sz="1600" i="1" dirty="0">
                <a:solidFill>
                  <a:srgbClr val="D9822B"/>
                </a:solidFill>
                <a:latin typeface="Cambria" pitchFamily="34" charset="0"/>
                <a:ea typeface="Cambria" pitchFamily="34" charset="-122"/>
                <a:cs typeface="Cambria" pitchFamily="34" charset="-120"/>
              </a:rPr>
              <a:t>workPulse tracks work, not people. It knows a filing was due on the 7th and closed on the 9th. It has no idea, and no interest in, what you were doing on the 8th.</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2F3C"/>
        </a:solidFill>
      </p:bgPr>
    </p:bg>
    <p:spTree>
      <p:nvGrpSpPr>
        <p:cNvPr id="1" name=""/>
        <p:cNvGrpSpPr/>
        <p:nvPr/>
      </p:nvGrpSpPr>
      <p:grpSpPr>
        <a:xfrm>
          <a:off x="0" y="0"/>
          <a:ext cx="0" cy="0"/>
          <a:chOff x="0" y="0"/>
          <a:chExt cx="0" cy="0"/>
        </a:xfrm>
      </p:grpSpPr>
      <p:sp>
        <p:nvSpPr>
          <p:cNvPr id="2" name="Shape 0"/>
          <p:cNvSpPr/>
          <p:nvPr/>
        </p:nvSpPr>
        <p:spPr>
          <a:xfrm>
            <a:off x="-1645920" y="3291840"/>
            <a:ext cx="5486400" cy="5486400"/>
          </a:xfrm>
          <a:prstGeom prst="ellipse">
            <a:avLst/>
          </a:prstGeom>
          <a:solidFill>
            <a:srgbClr val="16455A"/>
          </a:solidFill>
          <a:ln w="12700">
            <a:solidFill>
              <a:srgbClr val="16455A"/>
            </a:solidFill>
            <a:prstDash val="solid"/>
          </a:ln>
        </p:spPr>
      </p:sp>
      <p:sp>
        <p:nvSpPr>
          <p:cNvPr id="3" name="Text 1"/>
          <p:cNvSpPr txBox="1"/>
          <p:nvPr/>
        </p:nvSpPr>
        <p:spPr>
          <a:xfrm>
            <a:off x="3840480" y="2514600"/>
            <a:ext cx="7315200" cy="274320"/>
          </a:xfrm>
          <a:prstGeom prst="rect">
            <a:avLst/>
          </a:prstGeom>
          <a:noFill/>
          <a:ln/>
        </p:spPr>
        <p:txBody>
          <a:bodyPr wrap="square" lIns="0" tIns="0" rIns="0" bIns="0" rtlCol="0" anchor="ctr"/>
          <a:lstStyle/>
          <a:p>
            <a:pPr indent="0" marL="0">
              <a:buNone/>
            </a:pPr>
            <a:r>
              <a:rPr lang="en-US" sz="1150" b="1" spc="240" kern="0" dirty="0">
                <a:solidFill>
                  <a:srgbClr val="D9822B"/>
                </a:solidFill>
                <a:latin typeface="Calibri" pitchFamily="34" charset="0"/>
                <a:ea typeface="Calibri" pitchFamily="34" charset="-122"/>
                <a:cs typeface="Calibri" pitchFamily="34" charset="-120"/>
              </a:rPr>
              <a:t>PART TWO</a:t>
            </a:r>
            <a:endParaRPr lang="en-US" sz="1150" dirty="0"/>
          </a:p>
        </p:txBody>
      </p:sp>
      <p:sp>
        <p:nvSpPr>
          <p:cNvPr id="4" name="Text 2"/>
          <p:cNvSpPr txBox="1"/>
          <p:nvPr/>
        </p:nvSpPr>
        <p:spPr>
          <a:xfrm>
            <a:off x="3840480" y="2880360"/>
            <a:ext cx="7680960" cy="1371600"/>
          </a:xfrm>
          <a:prstGeom prst="rect">
            <a:avLst/>
          </a:prstGeom>
          <a:noFill/>
          <a:ln/>
        </p:spPr>
        <p:txBody>
          <a:bodyPr wrap="square" lIns="0" tIns="0" rIns="0" bIns="0" rtlCol="0" anchor="ctr"/>
          <a:lstStyle/>
          <a:p>
            <a:pPr indent="0" marL="0">
              <a:lnSpc>
                <a:spcPct val="112000"/>
              </a:lnSpc>
              <a:buNone/>
            </a:pPr>
            <a:r>
              <a:rPr lang="en-US" sz="4000" b="1" dirty="0">
                <a:solidFill>
                  <a:srgbClr val="FFFFFF"/>
                </a:solidFill>
                <a:latin typeface="Cambria" pitchFamily="34" charset="0"/>
                <a:ea typeface="Cambria" pitchFamily="34" charset="-122"/>
                <a:cs typeface="Cambria" pitchFamily="34" charset="-120"/>
              </a:rPr>
              <a:t>What it does for you,</a:t>
            </a:r>
            <a:endParaRPr lang="en-US" sz="4000" dirty="0"/>
          </a:p>
          <a:p>
            <a:pPr indent="0" marL="0">
              <a:lnSpc>
                <a:spcPct val="112000"/>
              </a:lnSpc>
              <a:buNone/>
            </a:pPr>
            <a:r>
              <a:rPr lang="en-US" sz="4000" b="1" dirty="0">
                <a:solidFill>
                  <a:srgbClr val="FFFFFF"/>
                </a:solidFill>
                <a:latin typeface="Cambria" pitchFamily="34" charset="0"/>
                <a:ea typeface="Cambria" pitchFamily="34" charset="-122"/>
                <a:cs typeface="Cambria" pitchFamily="34" charset="-120"/>
              </a:rPr>
              <a:t>in your role</a:t>
            </a:r>
            <a:endParaRPr lang="en-US" sz="4000" dirty="0"/>
          </a:p>
        </p:txBody>
      </p:sp>
      <p:sp>
        <p:nvSpPr>
          <p:cNvPr id="5" name="Text 3"/>
          <p:cNvSpPr txBox="1"/>
          <p:nvPr/>
        </p:nvSpPr>
        <p:spPr>
          <a:xfrm>
            <a:off x="3840480" y="4343400"/>
            <a:ext cx="7680960" cy="320040"/>
          </a:xfrm>
          <a:prstGeom prst="rect">
            <a:avLst/>
          </a:prstGeom>
          <a:noFill/>
          <a:ln/>
        </p:spPr>
        <p:txBody>
          <a:bodyPr wrap="square" lIns="0" tIns="0" rIns="0" bIns="0" rtlCol="0" anchor="ctr"/>
          <a:lstStyle/>
          <a:p>
            <a:pPr indent="0" marL="0">
              <a:buNone/>
            </a:pPr>
            <a:r>
              <a:rPr lang="en-US" sz="1400" dirty="0">
                <a:solidFill>
                  <a:srgbClr val="A9C3CC"/>
                </a:solidFill>
                <a:latin typeface="Calibri" pitchFamily="34" charset="0"/>
                <a:ea typeface="Calibri" pitchFamily="34" charset="-122"/>
                <a:cs typeface="Calibri" pitchFamily="34" charset="-120"/>
              </a:rPr>
              <a:t>Everyone · Managers · Project heads · HR · CEO · Compliance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FOR EVERYONE</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If you do the work</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The point is that your effort stops being invisible.</a:t>
            </a:r>
            <a:endParaRPr lang="en-US" sz="1500" dirty="0"/>
          </a:p>
        </p:txBody>
      </p:sp>
      <p:sp>
        <p:nvSpPr>
          <p:cNvPr id="5" name="Shape 3"/>
          <p:cNvSpPr/>
          <p:nvPr/>
        </p:nvSpPr>
        <p:spPr>
          <a:xfrm>
            <a:off x="640080" y="2157984"/>
            <a:ext cx="512064" cy="512064"/>
          </a:xfrm>
          <a:prstGeom prst="ellipse">
            <a:avLst/>
          </a:prstGeom>
          <a:solidFill>
            <a:srgbClr val="E3EFF2"/>
          </a:solidFill>
          <a:ln w="12700">
            <a:solidFill>
              <a:srgbClr val="E3EFF2"/>
            </a:solidFill>
            <a:prstDash val="solid"/>
          </a:ln>
        </p:spPr>
      </p:sp>
      <p:pic>
        <p:nvPicPr>
          <p:cNvPr id="6" name="Image 0" descr="preencoded.png">    </p:cNvPr>
          <p:cNvPicPr>
            <a:picLocks noChangeAspect="1"/>
          </p:cNvPicPr>
          <p:nvPr/>
        </p:nvPicPr>
        <p:blipFill>
          <a:blip r:embed="rId1"/>
          <a:stretch>
            <a:fillRect/>
          </a:stretch>
        </p:blipFill>
        <p:spPr>
          <a:xfrm>
            <a:off x="716890" y="2229673"/>
            <a:ext cx="368686" cy="368686"/>
          </a:xfrm>
          <a:prstGeom prst="rect">
            <a:avLst/>
          </a:prstGeom>
        </p:spPr>
      </p:pic>
      <p:sp>
        <p:nvSpPr>
          <p:cNvPr id="7" name="Text 4"/>
          <p:cNvSpPr txBox="1"/>
          <p:nvPr/>
        </p:nvSpPr>
        <p:spPr>
          <a:xfrm>
            <a:off x="1353312" y="21214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You always know what you owe</a:t>
            </a:r>
            <a:endParaRPr lang="en-US" sz="1500" dirty="0"/>
          </a:p>
        </p:txBody>
      </p:sp>
      <p:sp>
        <p:nvSpPr>
          <p:cNvPr id="8" name="Text 5"/>
          <p:cNvSpPr txBox="1"/>
          <p:nvPr/>
        </p:nvSpPr>
        <p:spPr>
          <a:xfrm>
            <a:off x="1353312" y="24140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One list, in priority order. No more discovering on Friday that something was due Tuesday.</a:t>
            </a:r>
            <a:endParaRPr lang="en-US" sz="1250" dirty="0"/>
          </a:p>
        </p:txBody>
      </p:sp>
      <p:sp>
        <p:nvSpPr>
          <p:cNvPr id="9" name="Shape 6"/>
          <p:cNvSpPr/>
          <p:nvPr/>
        </p:nvSpPr>
        <p:spPr>
          <a:xfrm>
            <a:off x="6263640" y="2157984"/>
            <a:ext cx="512064" cy="512064"/>
          </a:xfrm>
          <a:prstGeom prst="ellipse">
            <a:avLst/>
          </a:prstGeom>
          <a:solidFill>
            <a:srgbClr val="E3EFF2"/>
          </a:solidFill>
          <a:ln w="12700">
            <a:solidFill>
              <a:srgbClr val="E3EFF2"/>
            </a:solidFill>
            <a:prstDash val="solid"/>
          </a:ln>
        </p:spPr>
      </p:sp>
      <p:pic>
        <p:nvPicPr>
          <p:cNvPr id="10" name="Image 1" descr="preencoded.png">    </p:cNvPr>
          <p:cNvPicPr>
            <a:picLocks noChangeAspect="1"/>
          </p:cNvPicPr>
          <p:nvPr/>
        </p:nvPicPr>
        <p:blipFill>
          <a:blip r:embed="rId2"/>
          <a:stretch>
            <a:fillRect/>
          </a:stretch>
        </p:blipFill>
        <p:spPr>
          <a:xfrm>
            <a:off x="6340450" y="2229673"/>
            <a:ext cx="368686" cy="368686"/>
          </a:xfrm>
          <a:prstGeom prst="rect">
            <a:avLst/>
          </a:prstGeom>
        </p:spPr>
      </p:pic>
      <p:sp>
        <p:nvSpPr>
          <p:cNvPr id="11" name="Text 7"/>
          <p:cNvSpPr txBox="1"/>
          <p:nvPr/>
        </p:nvSpPr>
        <p:spPr>
          <a:xfrm>
            <a:off x="6976872" y="21214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Nothing lands on you silently</a:t>
            </a:r>
            <a:endParaRPr lang="en-US" sz="1500" dirty="0"/>
          </a:p>
        </p:txBody>
      </p:sp>
      <p:sp>
        <p:nvSpPr>
          <p:cNvPr id="12" name="Text 8"/>
          <p:cNvSpPr txBox="1"/>
          <p:nvPr/>
        </p:nvSpPr>
        <p:spPr>
          <a:xfrm>
            <a:off x="6976872" y="24140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Work assigned to you is work you can see, question, or say is unrealistic — with a record.</a:t>
            </a:r>
            <a:endParaRPr lang="en-US" sz="1250" dirty="0"/>
          </a:p>
        </p:txBody>
      </p:sp>
      <p:sp>
        <p:nvSpPr>
          <p:cNvPr id="13" name="Shape 9"/>
          <p:cNvSpPr/>
          <p:nvPr/>
        </p:nvSpPr>
        <p:spPr>
          <a:xfrm>
            <a:off x="640080" y="3529584"/>
            <a:ext cx="512064" cy="512064"/>
          </a:xfrm>
          <a:prstGeom prst="ellipse">
            <a:avLst/>
          </a:prstGeom>
          <a:solidFill>
            <a:srgbClr val="E3EFF2"/>
          </a:solidFill>
          <a:ln w="12700">
            <a:solidFill>
              <a:srgbClr val="E3EFF2"/>
            </a:solidFill>
            <a:prstDash val="solid"/>
          </a:ln>
        </p:spPr>
      </p:sp>
      <p:pic>
        <p:nvPicPr>
          <p:cNvPr id="14" name="Image 2" descr="preencoded.png">    </p:cNvPr>
          <p:cNvPicPr>
            <a:picLocks noChangeAspect="1"/>
          </p:cNvPicPr>
          <p:nvPr/>
        </p:nvPicPr>
        <p:blipFill>
          <a:blip r:embed="rId3"/>
          <a:stretch>
            <a:fillRect/>
          </a:stretch>
        </p:blipFill>
        <p:spPr>
          <a:xfrm>
            <a:off x="716890" y="3601273"/>
            <a:ext cx="368686" cy="368686"/>
          </a:xfrm>
          <a:prstGeom prst="rect">
            <a:avLst/>
          </a:prstGeom>
        </p:spPr>
      </p:pic>
      <p:sp>
        <p:nvSpPr>
          <p:cNvPr id="15" name="Text 10"/>
          <p:cNvSpPr txBox="1"/>
          <p:nvPr/>
        </p:nvSpPr>
        <p:spPr>
          <a:xfrm>
            <a:off x="1353312" y="34930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Waiting on others is not your fault</a:t>
            </a:r>
            <a:endParaRPr lang="en-US" sz="1500" dirty="0"/>
          </a:p>
        </p:txBody>
      </p:sp>
      <p:sp>
        <p:nvSpPr>
          <p:cNvPr id="16" name="Text 11"/>
          <p:cNvSpPr txBox="1"/>
          <p:nvPr/>
        </p:nvSpPr>
        <p:spPr>
          <a:xfrm>
            <a:off x="1353312" y="37856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Blocked time is excluded from every figure about you. The system knows the difference.</a:t>
            </a:r>
            <a:endParaRPr lang="en-US" sz="1250" dirty="0"/>
          </a:p>
        </p:txBody>
      </p:sp>
      <p:sp>
        <p:nvSpPr>
          <p:cNvPr id="17" name="Shape 12"/>
          <p:cNvSpPr/>
          <p:nvPr/>
        </p:nvSpPr>
        <p:spPr>
          <a:xfrm>
            <a:off x="6263640" y="3529584"/>
            <a:ext cx="512064" cy="512064"/>
          </a:xfrm>
          <a:prstGeom prst="ellipse">
            <a:avLst/>
          </a:prstGeom>
          <a:solidFill>
            <a:srgbClr val="E3EFF2"/>
          </a:solidFill>
          <a:ln w="12700">
            <a:solidFill>
              <a:srgbClr val="E3EFF2"/>
            </a:solidFill>
            <a:prstDash val="solid"/>
          </a:ln>
        </p:spPr>
      </p:sp>
      <p:pic>
        <p:nvPicPr>
          <p:cNvPr id="18" name="Image 3" descr="preencoded.png">    </p:cNvPr>
          <p:cNvPicPr>
            <a:picLocks noChangeAspect="1"/>
          </p:cNvPicPr>
          <p:nvPr/>
        </p:nvPicPr>
        <p:blipFill>
          <a:blip r:embed="rId4"/>
          <a:stretch>
            <a:fillRect/>
          </a:stretch>
        </p:blipFill>
        <p:spPr>
          <a:xfrm>
            <a:off x="6340450" y="3601273"/>
            <a:ext cx="368686" cy="368686"/>
          </a:xfrm>
          <a:prstGeom prst="rect">
            <a:avLst/>
          </a:prstGeom>
        </p:spPr>
      </p:pic>
      <p:sp>
        <p:nvSpPr>
          <p:cNvPr id="19" name="Text 13"/>
          <p:cNvSpPr txBox="1"/>
          <p:nvPr/>
        </p:nvSpPr>
        <p:spPr>
          <a:xfrm>
            <a:off x="6976872" y="34930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You see exactly what your manager sees</a:t>
            </a:r>
            <a:endParaRPr lang="en-US" sz="1500" dirty="0"/>
          </a:p>
        </p:txBody>
      </p:sp>
      <p:sp>
        <p:nvSpPr>
          <p:cNvPr id="20" name="Text 14"/>
          <p:cNvSpPr txBox="1"/>
          <p:nvPr/>
        </p:nvSpPr>
        <p:spPr>
          <a:xfrm>
            <a:off x="6976872" y="37856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There is no separate view of your numbers that you are not shown.</a:t>
            </a:r>
            <a:endParaRPr lang="en-US" sz="1250" dirty="0"/>
          </a:p>
        </p:txBody>
      </p:sp>
      <p:sp>
        <p:nvSpPr>
          <p:cNvPr id="21" name="Shape 15"/>
          <p:cNvSpPr/>
          <p:nvPr/>
        </p:nvSpPr>
        <p:spPr>
          <a:xfrm>
            <a:off x="640080" y="4956048"/>
            <a:ext cx="10911535" cy="1207008"/>
          </a:xfrm>
          <a:prstGeom prst="roundRect">
            <a:avLst>
              <a:gd name="adj" fmla="val 6061"/>
            </a:avLst>
          </a:prstGeom>
          <a:solidFill>
            <a:srgbClr val="E3EFF2"/>
          </a:solidFill>
          <a:ln w="12700">
            <a:solidFill>
              <a:srgbClr val="E3EFF2"/>
            </a:solidFill>
            <a:prstDash val="solid"/>
          </a:ln>
          <a:effectLst>
            <a:outerShdw sx="100000" sy="100000" kx="0" ky="0" algn="bl" rotWithShape="0" blurRad="127000" dist="25400" dir="5400000">
              <a:srgbClr val="0E2F3C">
                <a:alpha val="10000"/>
              </a:srgbClr>
            </a:outerShdw>
          </a:effectLst>
        </p:spPr>
      </p:sp>
      <p:sp>
        <p:nvSpPr>
          <p:cNvPr id="22" name="Shape 16"/>
          <p:cNvSpPr/>
          <p:nvPr/>
        </p:nvSpPr>
        <p:spPr>
          <a:xfrm>
            <a:off x="950976" y="5294376"/>
            <a:ext cx="530352" cy="530352"/>
          </a:xfrm>
          <a:prstGeom prst="ellipse">
            <a:avLst/>
          </a:prstGeom>
          <a:solidFill>
            <a:srgbClr val="FFFFFF"/>
          </a:solidFill>
          <a:ln w="12700">
            <a:solidFill>
              <a:srgbClr val="FFFFFF"/>
            </a:solidFill>
            <a:prstDash val="solid"/>
          </a:ln>
        </p:spPr>
      </p:sp>
      <p:pic>
        <p:nvPicPr>
          <p:cNvPr id="23" name="Image 4" descr="preencoded.png">    </p:cNvPr>
          <p:cNvPicPr>
            <a:picLocks noChangeAspect="1"/>
          </p:cNvPicPr>
          <p:nvPr/>
        </p:nvPicPr>
        <p:blipFill>
          <a:blip r:embed="rId5"/>
          <a:stretch>
            <a:fillRect/>
          </a:stretch>
        </p:blipFill>
        <p:spPr>
          <a:xfrm>
            <a:off x="1030529" y="5368625"/>
            <a:ext cx="381853" cy="381853"/>
          </a:xfrm>
          <a:prstGeom prst="rect">
            <a:avLst/>
          </a:prstGeom>
        </p:spPr>
      </p:pic>
      <p:sp>
        <p:nvSpPr>
          <p:cNvPr id="24" name="Text 17"/>
          <p:cNvSpPr txBox="1"/>
          <p:nvPr/>
        </p:nvSpPr>
        <p:spPr>
          <a:xfrm>
            <a:off x="1627632" y="5175504"/>
            <a:ext cx="9509760" cy="274320"/>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Your workload is arguable</a:t>
            </a:r>
            <a:endParaRPr lang="en-US" sz="1500" dirty="0"/>
          </a:p>
        </p:txBody>
      </p:sp>
      <p:sp>
        <p:nvSpPr>
          <p:cNvPr id="25" name="Text 18"/>
          <p:cNvSpPr txBox="1"/>
          <p:nvPr/>
        </p:nvSpPr>
        <p:spPr>
          <a:xfrm>
            <a:off x="1627632" y="5468112"/>
            <a:ext cx="9509760" cy="502920"/>
          </a:xfrm>
          <a:prstGeom prst="rect">
            <a:avLst/>
          </a:prstGeom>
          <a:noFill/>
          <a:ln/>
        </p:spPr>
        <p:txBody>
          <a:bodyPr wrap="square" lIns="0" tIns="0" rIns="0" bIns="0" rtlCol="0" anchor="ctr"/>
          <a:lstStyle/>
          <a:p>
            <a:pPr indent="0" marL="0">
              <a:lnSpc>
                <a:spcPct val="112000"/>
              </a:lnSpc>
              <a:buNone/>
            </a:pPr>
            <a:r>
              <a:rPr lang="en-US" sz="1250" dirty="0">
                <a:solidFill>
                  <a:srgbClr val="16232A"/>
                </a:solidFill>
                <a:latin typeface="Calibri" pitchFamily="34" charset="0"/>
                <a:ea typeface="Calibri" pitchFamily="34" charset="-122"/>
                <a:cs typeface="Calibri" pitchFamily="34" charset="-120"/>
              </a:rPr>
              <a:t>“I am at capacity” becomes a fact on a screen rather than an opinion in a meeting.</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FOR MANAGERS AND DEPARTMENT HEADS</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If you run a team</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Stop chasing status. Start seeing it.</a:t>
            </a:r>
            <a:endParaRPr lang="en-US" sz="1500" dirty="0"/>
          </a:p>
        </p:txBody>
      </p:sp>
      <p:sp>
        <p:nvSpPr>
          <p:cNvPr id="5" name="Shape 3"/>
          <p:cNvSpPr/>
          <p:nvPr/>
        </p:nvSpPr>
        <p:spPr>
          <a:xfrm>
            <a:off x="640080" y="2157984"/>
            <a:ext cx="512064" cy="512064"/>
          </a:xfrm>
          <a:prstGeom prst="ellipse">
            <a:avLst/>
          </a:prstGeom>
          <a:solidFill>
            <a:srgbClr val="E3EFF2"/>
          </a:solidFill>
          <a:ln w="12700">
            <a:solidFill>
              <a:srgbClr val="E3EFF2"/>
            </a:solidFill>
            <a:prstDash val="solid"/>
          </a:ln>
        </p:spPr>
      </p:sp>
      <p:pic>
        <p:nvPicPr>
          <p:cNvPr id="6" name="Image 0" descr="preencoded.png">    </p:cNvPr>
          <p:cNvPicPr>
            <a:picLocks noChangeAspect="1"/>
          </p:cNvPicPr>
          <p:nvPr/>
        </p:nvPicPr>
        <p:blipFill>
          <a:blip r:embed="rId1"/>
          <a:stretch>
            <a:fillRect/>
          </a:stretch>
        </p:blipFill>
        <p:spPr>
          <a:xfrm>
            <a:off x="716890" y="2229673"/>
            <a:ext cx="368686" cy="368686"/>
          </a:xfrm>
          <a:prstGeom prst="rect">
            <a:avLst/>
          </a:prstGeom>
        </p:spPr>
      </p:pic>
      <p:sp>
        <p:nvSpPr>
          <p:cNvPr id="7" name="Text 4"/>
          <p:cNvSpPr txBox="1"/>
          <p:nvPr/>
        </p:nvSpPr>
        <p:spPr>
          <a:xfrm>
            <a:off x="1353312" y="21214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Your Monday status call gets shorter</a:t>
            </a:r>
            <a:endParaRPr lang="en-US" sz="1500" dirty="0"/>
          </a:p>
        </p:txBody>
      </p:sp>
      <p:sp>
        <p:nvSpPr>
          <p:cNvPr id="8" name="Text 5"/>
          <p:cNvSpPr txBox="1"/>
          <p:nvPr/>
        </p:nvSpPr>
        <p:spPr>
          <a:xfrm>
            <a:off x="1353312" y="24140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The board already says what is done, what is late and who is stuck. Spend the meeting on decisions.</a:t>
            </a:r>
            <a:endParaRPr lang="en-US" sz="1250" dirty="0"/>
          </a:p>
        </p:txBody>
      </p:sp>
      <p:sp>
        <p:nvSpPr>
          <p:cNvPr id="9" name="Shape 6"/>
          <p:cNvSpPr/>
          <p:nvPr/>
        </p:nvSpPr>
        <p:spPr>
          <a:xfrm>
            <a:off x="6263640" y="2157984"/>
            <a:ext cx="512064" cy="512064"/>
          </a:xfrm>
          <a:prstGeom prst="ellipse">
            <a:avLst/>
          </a:prstGeom>
          <a:solidFill>
            <a:srgbClr val="E3EFF2"/>
          </a:solidFill>
          <a:ln w="12700">
            <a:solidFill>
              <a:srgbClr val="E3EFF2"/>
            </a:solidFill>
            <a:prstDash val="solid"/>
          </a:ln>
        </p:spPr>
      </p:sp>
      <p:pic>
        <p:nvPicPr>
          <p:cNvPr id="10" name="Image 1" descr="preencoded.png">    </p:cNvPr>
          <p:cNvPicPr>
            <a:picLocks noChangeAspect="1"/>
          </p:cNvPicPr>
          <p:nvPr/>
        </p:nvPicPr>
        <p:blipFill>
          <a:blip r:embed="rId2"/>
          <a:stretch>
            <a:fillRect/>
          </a:stretch>
        </p:blipFill>
        <p:spPr>
          <a:xfrm>
            <a:off x="6340450" y="2229673"/>
            <a:ext cx="368686" cy="368686"/>
          </a:xfrm>
          <a:prstGeom prst="rect">
            <a:avLst/>
          </a:prstGeom>
        </p:spPr>
      </p:pic>
      <p:sp>
        <p:nvSpPr>
          <p:cNvPr id="11" name="Text 7"/>
          <p:cNvSpPr txBox="1"/>
          <p:nvPr/>
        </p:nvSpPr>
        <p:spPr>
          <a:xfrm>
            <a:off x="6976872" y="21214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Load, not guesswork</a:t>
            </a:r>
            <a:endParaRPr lang="en-US" sz="1500" dirty="0"/>
          </a:p>
        </p:txBody>
      </p:sp>
      <p:sp>
        <p:nvSpPr>
          <p:cNvPr id="12" name="Text 8"/>
          <p:cNvSpPr txBox="1"/>
          <p:nvPr/>
        </p:nvSpPr>
        <p:spPr>
          <a:xfrm>
            <a:off x="6976872" y="24140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See who is over-committed before they miss something, not in the post-mortem afterwards.</a:t>
            </a:r>
            <a:endParaRPr lang="en-US" sz="1250" dirty="0"/>
          </a:p>
        </p:txBody>
      </p:sp>
      <p:sp>
        <p:nvSpPr>
          <p:cNvPr id="13" name="Shape 9"/>
          <p:cNvSpPr/>
          <p:nvPr/>
        </p:nvSpPr>
        <p:spPr>
          <a:xfrm>
            <a:off x="640080" y="3529584"/>
            <a:ext cx="512064" cy="512064"/>
          </a:xfrm>
          <a:prstGeom prst="ellipse">
            <a:avLst/>
          </a:prstGeom>
          <a:solidFill>
            <a:srgbClr val="E3EFF2"/>
          </a:solidFill>
          <a:ln w="12700">
            <a:solidFill>
              <a:srgbClr val="E3EFF2"/>
            </a:solidFill>
            <a:prstDash val="solid"/>
          </a:ln>
        </p:spPr>
      </p:sp>
      <p:pic>
        <p:nvPicPr>
          <p:cNvPr id="14" name="Image 2" descr="preencoded.png">    </p:cNvPr>
          <p:cNvPicPr>
            <a:picLocks noChangeAspect="1"/>
          </p:cNvPicPr>
          <p:nvPr/>
        </p:nvPicPr>
        <p:blipFill>
          <a:blip r:embed="rId3"/>
          <a:stretch>
            <a:fillRect/>
          </a:stretch>
        </p:blipFill>
        <p:spPr>
          <a:xfrm>
            <a:off x="716890" y="3601273"/>
            <a:ext cx="368686" cy="368686"/>
          </a:xfrm>
          <a:prstGeom prst="rect">
            <a:avLst/>
          </a:prstGeom>
        </p:spPr>
      </p:pic>
      <p:sp>
        <p:nvSpPr>
          <p:cNvPr id="15" name="Text 10"/>
          <p:cNvSpPr txBox="1"/>
          <p:nvPr/>
        </p:nvSpPr>
        <p:spPr>
          <a:xfrm>
            <a:off x="1353312" y="34930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Escalations that reach you on time</a:t>
            </a:r>
            <a:endParaRPr lang="en-US" sz="1500" dirty="0"/>
          </a:p>
        </p:txBody>
      </p:sp>
      <p:sp>
        <p:nvSpPr>
          <p:cNvPr id="16" name="Text 11"/>
          <p:cNvSpPr txBox="1"/>
          <p:nvPr/>
        </p:nvSpPr>
        <p:spPr>
          <a:xfrm>
            <a:off x="1353312" y="37856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Work at risk surfaces automatically, at a threshold you set — not when someone finally admits it.</a:t>
            </a:r>
            <a:endParaRPr lang="en-US" sz="1250" dirty="0"/>
          </a:p>
        </p:txBody>
      </p:sp>
      <p:sp>
        <p:nvSpPr>
          <p:cNvPr id="17" name="Shape 12"/>
          <p:cNvSpPr/>
          <p:nvPr/>
        </p:nvSpPr>
        <p:spPr>
          <a:xfrm>
            <a:off x="6263640" y="3529584"/>
            <a:ext cx="512064" cy="512064"/>
          </a:xfrm>
          <a:prstGeom prst="ellipse">
            <a:avLst/>
          </a:prstGeom>
          <a:solidFill>
            <a:srgbClr val="E3EFF2"/>
          </a:solidFill>
          <a:ln w="12700">
            <a:solidFill>
              <a:srgbClr val="E3EFF2"/>
            </a:solidFill>
            <a:prstDash val="solid"/>
          </a:ln>
        </p:spPr>
      </p:sp>
      <p:pic>
        <p:nvPicPr>
          <p:cNvPr id="18" name="Image 3" descr="preencoded.png">    </p:cNvPr>
          <p:cNvPicPr>
            <a:picLocks noChangeAspect="1"/>
          </p:cNvPicPr>
          <p:nvPr/>
        </p:nvPicPr>
        <p:blipFill>
          <a:blip r:embed="rId4"/>
          <a:stretch>
            <a:fillRect/>
          </a:stretch>
        </p:blipFill>
        <p:spPr>
          <a:xfrm>
            <a:off x="6340450" y="3601273"/>
            <a:ext cx="368686" cy="368686"/>
          </a:xfrm>
          <a:prstGeom prst="rect">
            <a:avLst/>
          </a:prstGeom>
        </p:spPr>
      </p:pic>
      <p:sp>
        <p:nvSpPr>
          <p:cNvPr id="19" name="Text 13"/>
          <p:cNvSpPr txBox="1"/>
          <p:nvPr/>
        </p:nvSpPr>
        <p:spPr>
          <a:xfrm>
            <a:off x="6976872" y="34930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Drill from a number to the task behind it</a:t>
            </a:r>
            <a:endParaRPr lang="en-US" sz="1500" dirty="0"/>
          </a:p>
        </p:txBody>
      </p:sp>
      <p:sp>
        <p:nvSpPr>
          <p:cNvPr id="20" name="Text 14"/>
          <p:cNvSpPr txBox="1"/>
          <p:nvPr/>
        </p:nvSpPr>
        <p:spPr>
          <a:xfrm>
            <a:off x="6976872" y="37856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Every figure on your dashboard opens to the actual work that produced it.</a:t>
            </a:r>
            <a:endParaRPr lang="en-US" sz="1250" dirty="0"/>
          </a:p>
        </p:txBody>
      </p:sp>
      <p:sp>
        <p:nvSpPr>
          <p:cNvPr id="21" name="Shape 15"/>
          <p:cNvSpPr/>
          <p:nvPr/>
        </p:nvSpPr>
        <p:spPr>
          <a:xfrm>
            <a:off x="640080" y="4956048"/>
            <a:ext cx="10911535" cy="1207008"/>
          </a:xfrm>
          <a:prstGeom prst="roundRect">
            <a:avLst>
              <a:gd name="adj" fmla="val 6061"/>
            </a:avLst>
          </a:prstGeom>
          <a:solidFill>
            <a:srgbClr val="E3EFF2"/>
          </a:solidFill>
          <a:ln w="12700">
            <a:solidFill>
              <a:srgbClr val="E3EFF2"/>
            </a:solidFill>
            <a:prstDash val="solid"/>
          </a:ln>
          <a:effectLst>
            <a:outerShdw sx="100000" sy="100000" kx="0" ky="0" algn="bl" rotWithShape="0" blurRad="127000" dist="25400" dir="5400000">
              <a:srgbClr val="0E2F3C">
                <a:alpha val="10000"/>
              </a:srgbClr>
            </a:outerShdw>
          </a:effectLst>
        </p:spPr>
      </p:sp>
      <p:sp>
        <p:nvSpPr>
          <p:cNvPr id="22" name="Shape 16"/>
          <p:cNvSpPr/>
          <p:nvPr/>
        </p:nvSpPr>
        <p:spPr>
          <a:xfrm>
            <a:off x="950976" y="5294376"/>
            <a:ext cx="530352" cy="530352"/>
          </a:xfrm>
          <a:prstGeom prst="ellipse">
            <a:avLst/>
          </a:prstGeom>
          <a:solidFill>
            <a:srgbClr val="FFFFFF"/>
          </a:solidFill>
          <a:ln w="12700">
            <a:solidFill>
              <a:srgbClr val="FFFFFF"/>
            </a:solidFill>
            <a:prstDash val="solid"/>
          </a:ln>
        </p:spPr>
      </p:sp>
      <p:pic>
        <p:nvPicPr>
          <p:cNvPr id="23" name="Image 4" descr="preencoded.png">    </p:cNvPr>
          <p:cNvPicPr>
            <a:picLocks noChangeAspect="1"/>
          </p:cNvPicPr>
          <p:nvPr/>
        </p:nvPicPr>
        <p:blipFill>
          <a:blip r:embed="rId5"/>
          <a:stretch>
            <a:fillRect/>
          </a:stretch>
        </p:blipFill>
        <p:spPr>
          <a:xfrm>
            <a:off x="1030529" y="5368625"/>
            <a:ext cx="381853" cy="381853"/>
          </a:xfrm>
          <a:prstGeom prst="rect">
            <a:avLst/>
          </a:prstGeom>
        </p:spPr>
      </p:pic>
      <p:sp>
        <p:nvSpPr>
          <p:cNvPr id="24" name="Text 17"/>
          <p:cNvSpPr txBox="1"/>
          <p:nvPr/>
        </p:nvSpPr>
        <p:spPr>
          <a:xfrm>
            <a:off x="1627632" y="5175504"/>
            <a:ext cx="9509760" cy="274320"/>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Leave and exits stop being a scramble</a:t>
            </a:r>
            <a:endParaRPr lang="en-US" sz="1500" dirty="0"/>
          </a:p>
        </p:txBody>
      </p:sp>
      <p:sp>
        <p:nvSpPr>
          <p:cNvPr id="25" name="Text 18"/>
          <p:cNvSpPr txBox="1"/>
          <p:nvPr/>
        </p:nvSpPr>
        <p:spPr>
          <a:xfrm>
            <a:off x="1627632" y="5468112"/>
            <a:ext cx="9509760" cy="502920"/>
          </a:xfrm>
          <a:prstGeom prst="rect">
            <a:avLst/>
          </a:prstGeom>
          <a:noFill/>
          <a:ln/>
        </p:spPr>
        <p:txBody>
          <a:bodyPr wrap="square" lIns="0" tIns="0" rIns="0" bIns="0" rtlCol="0" anchor="ctr"/>
          <a:lstStyle/>
          <a:p>
            <a:pPr indent="0" marL="0">
              <a:lnSpc>
                <a:spcPct val="112000"/>
              </a:lnSpc>
              <a:buNone/>
            </a:pPr>
            <a:r>
              <a:rPr lang="en-US" sz="1250" dirty="0">
                <a:solidFill>
                  <a:srgbClr val="16232A"/>
                </a:solidFill>
                <a:latin typeface="Calibri" pitchFamily="34" charset="0"/>
                <a:ea typeface="Calibri" pitchFamily="34" charset="-122"/>
                <a:cs typeface="Calibri" pitchFamily="34" charset="-120"/>
              </a:rPr>
              <a:t>Cover is assigned, and a leaver's open work is reassigned on a checklist rather than by memory.</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FOR PRODUCT AND PROJECT HEADS</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If you deliver projects</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Dependencies, decisions and accountability in one structure.</a:t>
            </a:r>
            <a:endParaRPr lang="en-US" sz="1500" dirty="0"/>
          </a:p>
        </p:txBody>
      </p:sp>
      <p:sp>
        <p:nvSpPr>
          <p:cNvPr id="5" name="Shape 3"/>
          <p:cNvSpPr/>
          <p:nvPr/>
        </p:nvSpPr>
        <p:spPr>
          <a:xfrm>
            <a:off x="640080" y="2157984"/>
            <a:ext cx="512064" cy="512064"/>
          </a:xfrm>
          <a:prstGeom prst="ellipse">
            <a:avLst/>
          </a:prstGeom>
          <a:solidFill>
            <a:srgbClr val="E3EFF2"/>
          </a:solidFill>
          <a:ln w="12700">
            <a:solidFill>
              <a:srgbClr val="E3EFF2"/>
            </a:solidFill>
            <a:prstDash val="solid"/>
          </a:ln>
        </p:spPr>
      </p:sp>
      <p:pic>
        <p:nvPicPr>
          <p:cNvPr id="6" name="Image 0" descr="preencoded.png">    </p:cNvPr>
          <p:cNvPicPr>
            <a:picLocks noChangeAspect="1"/>
          </p:cNvPicPr>
          <p:nvPr/>
        </p:nvPicPr>
        <p:blipFill>
          <a:blip r:embed="rId1"/>
          <a:stretch>
            <a:fillRect/>
          </a:stretch>
        </p:blipFill>
        <p:spPr>
          <a:xfrm>
            <a:off x="716890" y="2229673"/>
            <a:ext cx="368686" cy="368686"/>
          </a:xfrm>
          <a:prstGeom prst="rect">
            <a:avLst/>
          </a:prstGeom>
        </p:spPr>
      </p:pic>
      <p:sp>
        <p:nvSpPr>
          <p:cNvPr id="7" name="Text 4"/>
          <p:cNvSpPr txBox="1"/>
          <p:nvPr/>
        </p:nvSpPr>
        <p:spPr>
          <a:xfrm>
            <a:off x="1353312" y="21214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Projects and routine work in one view</a:t>
            </a:r>
            <a:endParaRPr lang="en-US" sz="1500" dirty="0"/>
          </a:p>
        </p:txBody>
      </p:sp>
      <p:sp>
        <p:nvSpPr>
          <p:cNvPr id="8" name="Text 5"/>
          <p:cNvSpPr txBox="1"/>
          <p:nvPr/>
        </p:nvSpPr>
        <p:spPr>
          <a:xfrm>
            <a:off x="1353312" y="24140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The reason your project slipped is usually somebody's month-end. Now you can see that coming.</a:t>
            </a:r>
            <a:endParaRPr lang="en-US" sz="1250" dirty="0"/>
          </a:p>
        </p:txBody>
      </p:sp>
      <p:sp>
        <p:nvSpPr>
          <p:cNvPr id="9" name="Shape 6"/>
          <p:cNvSpPr/>
          <p:nvPr/>
        </p:nvSpPr>
        <p:spPr>
          <a:xfrm>
            <a:off x="6263640" y="2157984"/>
            <a:ext cx="512064" cy="512064"/>
          </a:xfrm>
          <a:prstGeom prst="ellipse">
            <a:avLst/>
          </a:prstGeom>
          <a:solidFill>
            <a:srgbClr val="E3EFF2"/>
          </a:solidFill>
          <a:ln w="12700">
            <a:solidFill>
              <a:srgbClr val="E3EFF2"/>
            </a:solidFill>
            <a:prstDash val="solid"/>
          </a:ln>
        </p:spPr>
      </p:sp>
      <p:pic>
        <p:nvPicPr>
          <p:cNvPr id="10" name="Image 1" descr="preencoded.png">    </p:cNvPr>
          <p:cNvPicPr>
            <a:picLocks noChangeAspect="1"/>
          </p:cNvPicPr>
          <p:nvPr/>
        </p:nvPicPr>
        <p:blipFill>
          <a:blip r:embed="rId2"/>
          <a:stretch>
            <a:fillRect/>
          </a:stretch>
        </p:blipFill>
        <p:spPr>
          <a:xfrm>
            <a:off x="6340450" y="2229673"/>
            <a:ext cx="368686" cy="368686"/>
          </a:xfrm>
          <a:prstGeom prst="rect">
            <a:avLst/>
          </a:prstGeom>
        </p:spPr>
      </p:pic>
      <p:sp>
        <p:nvSpPr>
          <p:cNvPr id="11" name="Text 7"/>
          <p:cNvSpPr txBox="1"/>
          <p:nvPr/>
        </p:nvSpPr>
        <p:spPr>
          <a:xfrm>
            <a:off x="6976872" y="21214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Real dependencies</a:t>
            </a:r>
            <a:endParaRPr lang="en-US" sz="1500" dirty="0"/>
          </a:p>
        </p:txBody>
      </p:sp>
      <p:sp>
        <p:nvSpPr>
          <p:cNvPr id="12" name="Text 8"/>
          <p:cNvSpPr txBox="1"/>
          <p:nvPr/>
        </p:nvSpPr>
        <p:spPr>
          <a:xfrm>
            <a:off x="6976872" y="24140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Mark what must finish before what. The schedule tells you what a slip actually costs.</a:t>
            </a:r>
            <a:endParaRPr lang="en-US" sz="1250" dirty="0"/>
          </a:p>
        </p:txBody>
      </p:sp>
      <p:sp>
        <p:nvSpPr>
          <p:cNvPr id="13" name="Shape 9"/>
          <p:cNvSpPr/>
          <p:nvPr/>
        </p:nvSpPr>
        <p:spPr>
          <a:xfrm>
            <a:off x="640080" y="3529584"/>
            <a:ext cx="512064" cy="512064"/>
          </a:xfrm>
          <a:prstGeom prst="ellipse">
            <a:avLst/>
          </a:prstGeom>
          <a:solidFill>
            <a:srgbClr val="E3EFF2"/>
          </a:solidFill>
          <a:ln w="12700">
            <a:solidFill>
              <a:srgbClr val="E3EFF2"/>
            </a:solidFill>
            <a:prstDash val="solid"/>
          </a:ln>
        </p:spPr>
      </p:sp>
      <p:pic>
        <p:nvPicPr>
          <p:cNvPr id="14" name="Image 2" descr="preencoded.png">    </p:cNvPr>
          <p:cNvPicPr>
            <a:picLocks noChangeAspect="1"/>
          </p:cNvPicPr>
          <p:nvPr/>
        </p:nvPicPr>
        <p:blipFill>
          <a:blip r:embed="rId3"/>
          <a:stretch>
            <a:fillRect/>
          </a:stretch>
        </p:blipFill>
        <p:spPr>
          <a:xfrm>
            <a:off x="716890" y="3601273"/>
            <a:ext cx="368686" cy="368686"/>
          </a:xfrm>
          <a:prstGeom prst="rect">
            <a:avLst/>
          </a:prstGeom>
        </p:spPr>
      </p:pic>
      <p:sp>
        <p:nvSpPr>
          <p:cNvPr id="15" name="Text 10"/>
          <p:cNvSpPr txBox="1"/>
          <p:nvPr/>
        </p:nvSpPr>
        <p:spPr>
          <a:xfrm>
            <a:off x="1353312" y="34930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RACI without the spreadsheet</a:t>
            </a:r>
            <a:endParaRPr lang="en-US" sz="1500" dirty="0"/>
          </a:p>
        </p:txBody>
      </p:sp>
      <p:sp>
        <p:nvSpPr>
          <p:cNvPr id="16" name="Text 11"/>
          <p:cNvSpPr txBox="1"/>
          <p:nvPr/>
        </p:nvSpPr>
        <p:spPr>
          <a:xfrm>
            <a:off x="1353312" y="37856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Responsible, Accountable, Consulted, Informed — attached to the work, not to a document nobody reopens.</a:t>
            </a:r>
            <a:endParaRPr lang="en-US" sz="1250" dirty="0"/>
          </a:p>
        </p:txBody>
      </p:sp>
      <p:sp>
        <p:nvSpPr>
          <p:cNvPr id="17" name="Shape 12"/>
          <p:cNvSpPr/>
          <p:nvPr/>
        </p:nvSpPr>
        <p:spPr>
          <a:xfrm>
            <a:off x="6263640" y="3529584"/>
            <a:ext cx="512064" cy="512064"/>
          </a:xfrm>
          <a:prstGeom prst="ellipse">
            <a:avLst/>
          </a:prstGeom>
          <a:solidFill>
            <a:srgbClr val="E3EFF2"/>
          </a:solidFill>
          <a:ln w="12700">
            <a:solidFill>
              <a:srgbClr val="E3EFF2"/>
            </a:solidFill>
            <a:prstDash val="solid"/>
          </a:ln>
        </p:spPr>
      </p:sp>
      <p:pic>
        <p:nvPicPr>
          <p:cNvPr id="18" name="Image 3" descr="preencoded.png">    </p:cNvPr>
          <p:cNvPicPr>
            <a:picLocks noChangeAspect="1"/>
          </p:cNvPicPr>
          <p:nvPr/>
        </p:nvPicPr>
        <p:blipFill>
          <a:blip r:embed="rId4"/>
          <a:stretch>
            <a:fillRect/>
          </a:stretch>
        </p:blipFill>
        <p:spPr>
          <a:xfrm>
            <a:off x="6340450" y="3601273"/>
            <a:ext cx="368686" cy="368686"/>
          </a:xfrm>
          <a:prstGeom prst="rect">
            <a:avLst/>
          </a:prstGeom>
        </p:spPr>
      </p:pic>
      <p:sp>
        <p:nvSpPr>
          <p:cNvPr id="19" name="Text 13"/>
          <p:cNvSpPr txBox="1"/>
          <p:nvPr/>
        </p:nvSpPr>
        <p:spPr>
          <a:xfrm>
            <a:off x="6976872" y="34930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Decisions are recorded where they were made</a:t>
            </a:r>
            <a:endParaRPr lang="en-US" sz="1500" dirty="0"/>
          </a:p>
        </p:txBody>
      </p:sp>
      <p:sp>
        <p:nvSpPr>
          <p:cNvPr id="20" name="Text 14"/>
          <p:cNvSpPr txBox="1"/>
          <p:nvPr/>
        </p:nvSpPr>
        <p:spPr>
          <a:xfrm>
            <a:off x="6976872" y="37856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Who decided, who approved, what the alternatives were. Six months later it still makes sense.</a:t>
            </a:r>
            <a:endParaRPr lang="en-US" sz="1250" dirty="0"/>
          </a:p>
        </p:txBody>
      </p:sp>
      <p:sp>
        <p:nvSpPr>
          <p:cNvPr id="21" name="Shape 15"/>
          <p:cNvSpPr/>
          <p:nvPr/>
        </p:nvSpPr>
        <p:spPr>
          <a:xfrm>
            <a:off x="640080" y="4956048"/>
            <a:ext cx="10911535" cy="1207008"/>
          </a:xfrm>
          <a:prstGeom prst="roundRect">
            <a:avLst>
              <a:gd name="adj" fmla="val 6061"/>
            </a:avLst>
          </a:prstGeom>
          <a:solidFill>
            <a:srgbClr val="E3EFF2"/>
          </a:solidFill>
          <a:ln w="12700">
            <a:solidFill>
              <a:srgbClr val="E3EFF2"/>
            </a:solidFill>
            <a:prstDash val="solid"/>
          </a:ln>
          <a:effectLst>
            <a:outerShdw sx="100000" sy="100000" kx="0" ky="0" algn="bl" rotWithShape="0" blurRad="127000" dist="25400" dir="5400000">
              <a:srgbClr val="0E2F3C">
                <a:alpha val="10000"/>
              </a:srgbClr>
            </a:outerShdw>
          </a:effectLst>
        </p:spPr>
      </p:sp>
      <p:sp>
        <p:nvSpPr>
          <p:cNvPr id="22" name="Shape 16"/>
          <p:cNvSpPr/>
          <p:nvPr/>
        </p:nvSpPr>
        <p:spPr>
          <a:xfrm>
            <a:off x="950976" y="5294376"/>
            <a:ext cx="530352" cy="530352"/>
          </a:xfrm>
          <a:prstGeom prst="ellipse">
            <a:avLst/>
          </a:prstGeom>
          <a:solidFill>
            <a:srgbClr val="FFFFFF"/>
          </a:solidFill>
          <a:ln w="12700">
            <a:solidFill>
              <a:srgbClr val="FFFFFF"/>
            </a:solidFill>
            <a:prstDash val="solid"/>
          </a:ln>
        </p:spPr>
      </p:sp>
      <p:pic>
        <p:nvPicPr>
          <p:cNvPr id="23" name="Image 4" descr="preencoded.png">    </p:cNvPr>
          <p:cNvPicPr>
            <a:picLocks noChangeAspect="1"/>
          </p:cNvPicPr>
          <p:nvPr/>
        </p:nvPicPr>
        <p:blipFill>
          <a:blip r:embed="rId5"/>
          <a:stretch>
            <a:fillRect/>
          </a:stretch>
        </p:blipFill>
        <p:spPr>
          <a:xfrm>
            <a:off x="1030529" y="5368625"/>
            <a:ext cx="381853" cy="381853"/>
          </a:xfrm>
          <a:prstGeom prst="rect">
            <a:avLst/>
          </a:prstGeom>
        </p:spPr>
      </p:pic>
      <p:sp>
        <p:nvSpPr>
          <p:cNvPr id="24" name="Text 17"/>
          <p:cNvSpPr txBox="1"/>
          <p:nvPr/>
        </p:nvSpPr>
        <p:spPr>
          <a:xfrm>
            <a:off x="1627632" y="5175504"/>
            <a:ext cx="9509760" cy="274320"/>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Health that updates itself</a:t>
            </a:r>
            <a:endParaRPr lang="en-US" sz="1500" dirty="0"/>
          </a:p>
        </p:txBody>
      </p:sp>
      <p:sp>
        <p:nvSpPr>
          <p:cNvPr id="25" name="Text 18"/>
          <p:cNvSpPr txBox="1"/>
          <p:nvPr/>
        </p:nvSpPr>
        <p:spPr>
          <a:xfrm>
            <a:off x="1627632" y="5468112"/>
            <a:ext cx="9509760" cy="502920"/>
          </a:xfrm>
          <a:prstGeom prst="rect">
            <a:avLst/>
          </a:prstGeom>
          <a:noFill/>
          <a:ln/>
        </p:spPr>
        <p:txBody>
          <a:bodyPr wrap="square" lIns="0" tIns="0" rIns="0" bIns="0" rtlCol="0" anchor="ctr"/>
          <a:lstStyle/>
          <a:p>
            <a:pPr indent="0" marL="0">
              <a:lnSpc>
                <a:spcPct val="112000"/>
              </a:lnSpc>
              <a:buNone/>
            </a:pPr>
            <a:r>
              <a:rPr lang="en-US" sz="1250" dirty="0">
                <a:solidFill>
                  <a:srgbClr val="16232A"/>
                </a:solidFill>
                <a:latin typeface="Calibri" pitchFamily="34" charset="0"/>
                <a:ea typeface="Calibri" pitchFamily="34" charset="-122"/>
                <a:cs typeface="Calibri" pitchFamily="34" charset="-120"/>
              </a:rPr>
              <a:t>Project status comes from the tasks underneath it, not from an optimistic weekly summary.</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FOR HR</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If you run appraisals</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Evidence for the conversation. Never a score that replaces it.</a:t>
            </a:r>
            <a:endParaRPr lang="en-US" sz="1500" dirty="0"/>
          </a:p>
        </p:txBody>
      </p:sp>
      <p:sp>
        <p:nvSpPr>
          <p:cNvPr id="5" name="Shape 3"/>
          <p:cNvSpPr/>
          <p:nvPr/>
        </p:nvSpPr>
        <p:spPr>
          <a:xfrm>
            <a:off x="640080" y="2157984"/>
            <a:ext cx="512064" cy="512064"/>
          </a:xfrm>
          <a:prstGeom prst="ellipse">
            <a:avLst/>
          </a:prstGeom>
          <a:solidFill>
            <a:srgbClr val="E3F0EA"/>
          </a:solidFill>
          <a:ln w="12700">
            <a:solidFill>
              <a:srgbClr val="E3F0EA"/>
            </a:solidFill>
            <a:prstDash val="solid"/>
          </a:ln>
        </p:spPr>
      </p:sp>
      <p:pic>
        <p:nvPicPr>
          <p:cNvPr id="6" name="Image 0" descr="preencoded.png">    </p:cNvPr>
          <p:cNvPicPr>
            <a:picLocks noChangeAspect="1"/>
          </p:cNvPicPr>
          <p:nvPr/>
        </p:nvPicPr>
        <p:blipFill>
          <a:blip r:embed="rId1"/>
          <a:stretch>
            <a:fillRect/>
          </a:stretch>
        </p:blipFill>
        <p:spPr>
          <a:xfrm>
            <a:off x="716890" y="2229673"/>
            <a:ext cx="368686" cy="368686"/>
          </a:xfrm>
          <a:prstGeom prst="rect">
            <a:avLst/>
          </a:prstGeom>
        </p:spPr>
      </p:pic>
      <p:sp>
        <p:nvSpPr>
          <p:cNvPr id="7" name="Text 4"/>
          <p:cNvSpPr txBox="1"/>
          <p:nvPr/>
        </p:nvSpPr>
        <p:spPr>
          <a:xfrm>
            <a:off x="1353312" y="21214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Facts instead of recollection</a:t>
            </a:r>
            <a:endParaRPr lang="en-US" sz="1500" dirty="0"/>
          </a:p>
        </p:txBody>
      </p:sp>
      <p:sp>
        <p:nvSpPr>
          <p:cNvPr id="8" name="Text 5"/>
          <p:cNvSpPr txBox="1"/>
          <p:nvPr/>
        </p:nvSpPr>
        <p:spPr>
          <a:xfrm>
            <a:off x="1353312" y="24140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Appraisal stops depending on what a manager remembers from the last six weeks.</a:t>
            </a:r>
            <a:endParaRPr lang="en-US" sz="1250" dirty="0"/>
          </a:p>
        </p:txBody>
      </p:sp>
      <p:sp>
        <p:nvSpPr>
          <p:cNvPr id="9" name="Shape 6"/>
          <p:cNvSpPr/>
          <p:nvPr/>
        </p:nvSpPr>
        <p:spPr>
          <a:xfrm>
            <a:off x="6263640" y="2157984"/>
            <a:ext cx="512064" cy="512064"/>
          </a:xfrm>
          <a:prstGeom prst="ellipse">
            <a:avLst/>
          </a:prstGeom>
          <a:solidFill>
            <a:srgbClr val="E3F0EA"/>
          </a:solidFill>
          <a:ln w="12700">
            <a:solidFill>
              <a:srgbClr val="E3F0EA"/>
            </a:solidFill>
            <a:prstDash val="solid"/>
          </a:ln>
        </p:spPr>
      </p:sp>
      <p:pic>
        <p:nvPicPr>
          <p:cNvPr id="10" name="Image 1" descr="preencoded.png">    </p:cNvPr>
          <p:cNvPicPr>
            <a:picLocks noChangeAspect="1"/>
          </p:cNvPicPr>
          <p:nvPr/>
        </p:nvPicPr>
        <p:blipFill>
          <a:blip r:embed="rId2"/>
          <a:stretch>
            <a:fillRect/>
          </a:stretch>
        </p:blipFill>
        <p:spPr>
          <a:xfrm>
            <a:off x="6340450" y="2229673"/>
            <a:ext cx="368686" cy="368686"/>
          </a:xfrm>
          <a:prstGeom prst="rect">
            <a:avLst/>
          </a:prstGeom>
        </p:spPr>
      </p:pic>
      <p:sp>
        <p:nvSpPr>
          <p:cNvPr id="11" name="Text 7"/>
          <p:cNvSpPr txBox="1"/>
          <p:nvPr/>
        </p:nvSpPr>
        <p:spPr>
          <a:xfrm>
            <a:off x="6976872" y="21214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Deliberately no single score</a:t>
            </a:r>
            <a:endParaRPr lang="en-US" sz="1500" dirty="0"/>
          </a:p>
        </p:txBody>
      </p:sp>
      <p:sp>
        <p:nvSpPr>
          <p:cNvPr id="12" name="Text 8"/>
          <p:cNvSpPr txBox="1"/>
          <p:nvPr/>
        </p:nvSpPr>
        <p:spPr>
          <a:xfrm>
            <a:off x="6976872" y="24140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There is no overall number, by design. workPulse supplies evidence; the judgement stays with the manager and with you.</a:t>
            </a:r>
            <a:endParaRPr lang="en-US" sz="1250" dirty="0"/>
          </a:p>
        </p:txBody>
      </p:sp>
      <p:sp>
        <p:nvSpPr>
          <p:cNvPr id="13" name="Shape 9"/>
          <p:cNvSpPr/>
          <p:nvPr/>
        </p:nvSpPr>
        <p:spPr>
          <a:xfrm>
            <a:off x="640080" y="3529584"/>
            <a:ext cx="512064" cy="512064"/>
          </a:xfrm>
          <a:prstGeom prst="ellipse">
            <a:avLst/>
          </a:prstGeom>
          <a:solidFill>
            <a:srgbClr val="E3F0EA"/>
          </a:solidFill>
          <a:ln w="12700">
            <a:solidFill>
              <a:srgbClr val="E3F0EA"/>
            </a:solidFill>
            <a:prstDash val="solid"/>
          </a:ln>
        </p:spPr>
      </p:sp>
      <p:pic>
        <p:nvPicPr>
          <p:cNvPr id="14" name="Image 2" descr="preencoded.png">    </p:cNvPr>
          <p:cNvPicPr>
            <a:picLocks noChangeAspect="1"/>
          </p:cNvPicPr>
          <p:nvPr/>
        </p:nvPicPr>
        <p:blipFill>
          <a:blip r:embed="rId3"/>
          <a:stretch>
            <a:fillRect/>
          </a:stretch>
        </p:blipFill>
        <p:spPr>
          <a:xfrm>
            <a:off x="716890" y="3601273"/>
            <a:ext cx="368686" cy="368686"/>
          </a:xfrm>
          <a:prstGeom prst="rect">
            <a:avLst/>
          </a:prstGeom>
        </p:spPr>
      </p:pic>
      <p:sp>
        <p:nvSpPr>
          <p:cNvPr id="15" name="Text 10"/>
          <p:cNvSpPr txBox="1"/>
          <p:nvPr/>
        </p:nvSpPr>
        <p:spPr>
          <a:xfrm>
            <a:off x="1353312" y="34930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A fixed snapshot per cycle</a:t>
            </a:r>
            <a:endParaRPr lang="en-US" sz="1500" dirty="0"/>
          </a:p>
        </p:txBody>
      </p:sp>
      <p:sp>
        <p:nvSpPr>
          <p:cNvPr id="16" name="Text 11"/>
          <p:cNvSpPr txBox="1"/>
          <p:nvPr/>
        </p:nvSpPr>
        <p:spPr>
          <a:xfrm>
            <a:off x="1353312" y="37856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The figures are frozen when you open a cycle, so the conversation references something stable.</a:t>
            </a:r>
            <a:endParaRPr lang="en-US" sz="1250" dirty="0"/>
          </a:p>
        </p:txBody>
      </p:sp>
      <p:sp>
        <p:nvSpPr>
          <p:cNvPr id="17" name="Shape 12"/>
          <p:cNvSpPr/>
          <p:nvPr/>
        </p:nvSpPr>
        <p:spPr>
          <a:xfrm>
            <a:off x="6263640" y="3529584"/>
            <a:ext cx="512064" cy="512064"/>
          </a:xfrm>
          <a:prstGeom prst="ellipse">
            <a:avLst/>
          </a:prstGeom>
          <a:solidFill>
            <a:srgbClr val="E3F0EA"/>
          </a:solidFill>
          <a:ln w="12700">
            <a:solidFill>
              <a:srgbClr val="E3F0EA"/>
            </a:solidFill>
            <a:prstDash val="solid"/>
          </a:ln>
        </p:spPr>
      </p:sp>
      <p:pic>
        <p:nvPicPr>
          <p:cNvPr id="18" name="Image 3" descr="preencoded.png">    </p:cNvPr>
          <p:cNvPicPr>
            <a:picLocks noChangeAspect="1"/>
          </p:cNvPicPr>
          <p:nvPr/>
        </p:nvPicPr>
        <p:blipFill>
          <a:blip r:embed="rId4"/>
          <a:stretch>
            <a:fillRect/>
          </a:stretch>
        </p:blipFill>
        <p:spPr>
          <a:xfrm>
            <a:off x="6340450" y="3601273"/>
            <a:ext cx="368686" cy="368686"/>
          </a:xfrm>
          <a:prstGeom prst="rect">
            <a:avLst/>
          </a:prstGeom>
        </p:spPr>
      </p:pic>
      <p:sp>
        <p:nvSpPr>
          <p:cNvPr id="19" name="Text 13"/>
          <p:cNvSpPr txBox="1"/>
          <p:nvPr/>
        </p:nvSpPr>
        <p:spPr>
          <a:xfrm>
            <a:off x="6976872" y="34930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The employee has already seen it</a:t>
            </a:r>
            <a:endParaRPr lang="en-US" sz="1500" dirty="0"/>
          </a:p>
        </p:txBody>
      </p:sp>
      <p:sp>
        <p:nvSpPr>
          <p:cNvPr id="20" name="Text 14"/>
          <p:cNvSpPr txBox="1"/>
          <p:nvPr/>
        </p:nvSpPr>
        <p:spPr>
          <a:xfrm>
            <a:off x="6976872" y="37856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The system records when the subject viewed their own evidence. Nobody is discussed against figures they have not seen.</a:t>
            </a:r>
            <a:endParaRPr lang="en-US" sz="1250" dirty="0"/>
          </a:p>
        </p:txBody>
      </p:sp>
      <p:sp>
        <p:nvSpPr>
          <p:cNvPr id="21" name="Shape 15"/>
          <p:cNvSpPr/>
          <p:nvPr/>
        </p:nvSpPr>
        <p:spPr>
          <a:xfrm>
            <a:off x="640080" y="4956048"/>
            <a:ext cx="10911535" cy="1207008"/>
          </a:xfrm>
          <a:prstGeom prst="roundRect">
            <a:avLst>
              <a:gd name="adj" fmla="val 6061"/>
            </a:avLst>
          </a:prstGeom>
          <a:solidFill>
            <a:srgbClr val="E3F0EA"/>
          </a:solidFill>
          <a:ln w="12700">
            <a:solidFill>
              <a:srgbClr val="E3F0EA"/>
            </a:solidFill>
            <a:prstDash val="solid"/>
          </a:ln>
          <a:effectLst>
            <a:outerShdw sx="100000" sy="100000" kx="0" ky="0" algn="bl" rotWithShape="0" blurRad="127000" dist="25400" dir="5400000">
              <a:srgbClr val="0E2F3C">
                <a:alpha val="10000"/>
              </a:srgbClr>
            </a:outerShdw>
          </a:effectLst>
        </p:spPr>
      </p:sp>
      <p:sp>
        <p:nvSpPr>
          <p:cNvPr id="22" name="Shape 16"/>
          <p:cNvSpPr/>
          <p:nvPr/>
        </p:nvSpPr>
        <p:spPr>
          <a:xfrm>
            <a:off x="950976" y="5294376"/>
            <a:ext cx="530352" cy="530352"/>
          </a:xfrm>
          <a:prstGeom prst="ellipse">
            <a:avLst/>
          </a:prstGeom>
          <a:solidFill>
            <a:srgbClr val="FFFFFF"/>
          </a:solidFill>
          <a:ln w="12700">
            <a:solidFill>
              <a:srgbClr val="FFFFFF"/>
            </a:solidFill>
            <a:prstDash val="solid"/>
          </a:ln>
        </p:spPr>
      </p:sp>
      <p:pic>
        <p:nvPicPr>
          <p:cNvPr id="23" name="Image 4" descr="preencoded.png">    </p:cNvPr>
          <p:cNvPicPr>
            <a:picLocks noChangeAspect="1"/>
          </p:cNvPicPr>
          <p:nvPr/>
        </p:nvPicPr>
        <p:blipFill>
          <a:blip r:embed="rId5"/>
          <a:stretch>
            <a:fillRect/>
          </a:stretch>
        </p:blipFill>
        <p:spPr>
          <a:xfrm>
            <a:off x="1030529" y="5368625"/>
            <a:ext cx="381853" cy="381853"/>
          </a:xfrm>
          <a:prstGeom prst="rect">
            <a:avLst/>
          </a:prstGeom>
        </p:spPr>
      </p:pic>
      <p:sp>
        <p:nvSpPr>
          <p:cNvPr id="24" name="Text 17"/>
          <p:cNvSpPr txBox="1"/>
          <p:nvPr/>
        </p:nvSpPr>
        <p:spPr>
          <a:xfrm>
            <a:off x="1627632" y="5175504"/>
            <a:ext cx="9509760" cy="274320"/>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Fairness controls built in</a:t>
            </a:r>
            <a:endParaRPr lang="en-US" sz="1500" dirty="0"/>
          </a:p>
        </p:txBody>
      </p:sp>
      <p:sp>
        <p:nvSpPr>
          <p:cNvPr id="25" name="Text 18"/>
          <p:cNvSpPr txBox="1"/>
          <p:nvPr/>
        </p:nvSpPr>
        <p:spPr>
          <a:xfrm>
            <a:off x="1627632" y="5468112"/>
            <a:ext cx="9509760" cy="502920"/>
          </a:xfrm>
          <a:prstGeom prst="rect">
            <a:avLst/>
          </a:prstGeom>
          <a:noFill/>
          <a:ln/>
        </p:spPr>
        <p:txBody>
          <a:bodyPr wrap="square" lIns="0" tIns="0" rIns="0" bIns="0" rtlCol="0" anchor="ctr"/>
          <a:lstStyle/>
          <a:p>
            <a:pPr indent="0" marL="0">
              <a:lnSpc>
                <a:spcPct val="112000"/>
              </a:lnSpc>
              <a:buNone/>
            </a:pPr>
            <a:r>
              <a:rPr lang="en-US" sz="1250" dirty="0">
                <a:solidFill>
                  <a:srgbClr val="16232A"/>
                </a:solidFill>
                <a:latin typeface="Calibri" pitchFamily="34" charset="0"/>
                <a:ea typeface="Calibri" pitchFamily="34" charset="-122"/>
                <a:cs typeface="Calibri" pitchFamily="34" charset="-120"/>
              </a:rPr>
              <a:t>Volume floors, anti-gaming review and a dispute window — shipped with the numbers, not added later.</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FOR THE CEO AND CXOS</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If you govern the enterprise</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A feed built to stay quiet, so that when it speaks you look.</a:t>
            </a:r>
            <a:endParaRPr lang="en-US" sz="1500" dirty="0"/>
          </a:p>
        </p:txBody>
      </p:sp>
      <p:sp>
        <p:nvSpPr>
          <p:cNvPr id="5" name="Shape 3"/>
          <p:cNvSpPr/>
          <p:nvPr/>
        </p:nvSpPr>
        <p:spPr>
          <a:xfrm>
            <a:off x="640080" y="2157984"/>
            <a:ext cx="512064" cy="512064"/>
          </a:xfrm>
          <a:prstGeom prst="ellipse">
            <a:avLst/>
          </a:prstGeom>
          <a:solidFill>
            <a:srgbClr val="FBEEDC"/>
          </a:solidFill>
          <a:ln w="12700">
            <a:solidFill>
              <a:srgbClr val="FBEEDC"/>
            </a:solidFill>
            <a:prstDash val="solid"/>
          </a:ln>
        </p:spPr>
      </p:sp>
      <p:pic>
        <p:nvPicPr>
          <p:cNvPr id="6" name="Image 0" descr="preencoded.png">    </p:cNvPr>
          <p:cNvPicPr>
            <a:picLocks noChangeAspect="1"/>
          </p:cNvPicPr>
          <p:nvPr/>
        </p:nvPicPr>
        <p:blipFill>
          <a:blip r:embed="rId1"/>
          <a:stretch>
            <a:fillRect/>
          </a:stretch>
        </p:blipFill>
        <p:spPr>
          <a:xfrm>
            <a:off x="716890" y="2229673"/>
            <a:ext cx="368686" cy="368686"/>
          </a:xfrm>
          <a:prstGeom prst="rect">
            <a:avLst/>
          </a:prstGeom>
        </p:spPr>
      </p:pic>
      <p:sp>
        <p:nvSpPr>
          <p:cNvPr id="7" name="Text 4"/>
          <p:cNvSpPr txBox="1"/>
          <p:nvPr/>
        </p:nvSpPr>
        <p:spPr>
          <a:xfrm>
            <a:off x="1353312" y="21214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Only six things reach you</a:t>
            </a:r>
            <a:endParaRPr lang="en-US" sz="1500" dirty="0"/>
          </a:p>
        </p:txBody>
      </p:sp>
      <p:sp>
        <p:nvSpPr>
          <p:cNvPr id="8" name="Text 5"/>
          <p:cNvSpPr txBox="1"/>
          <p:nvPr/>
        </p:nvSpPr>
        <p:spPr>
          <a:xfrm>
            <a:off x="1353312" y="24140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Critical breaches, exhausted escalations, missed compliance filings, long-blocked work, and projects that turned amber today.</a:t>
            </a:r>
            <a:endParaRPr lang="en-US" sz="1250" dirty="0"/>
          </a:p>
        </p:txBody>
      </p:sp>
      <p:sp>
        <p:nvSpPr>
          <p:cNvPr id="9" name="Shape 6"/>
          <p:cNvSpPr/>
          <p:nvPr/>
        </p:nvSpPr>
        <p:spPr>
          <a:xfrm>
            <a:off x="6263640" y="2157984"/>
            <a:ext cx="512064" cy="512064"/>
          </a:xfrm>
          <a:prstGeom prst="ellipse">
            <a:avLst/>
          </a:prstGeom>
          <a:solidFill>
            <a:srgbClr val="FBEEDC"/>
          </a:solidFill>
          <a:ln w="12700">
            <a:solidFill>
              <a:srgbClr val="FBEEDC"/>
            </a:solidFill>
            <a:prstDash val="solid"/>
          </a:ln>
        </p:spPr>
      </p:sp>
      <p:pic>
        <p:nvPicPr>
          <p:cNvPr id="10" name="Image 1" descr="preencoded.png">    </p:cNvPr>
          <p:cNvPicPr>
            <a:picLocks noChangeAspect="1"/>
          </p:cNvPicPr>
          <p:nvPr/>
        </p:nvPicPr>
        <p:blipFill>
          <a:blip r:embed="rId2"/>
          <a:stretch>
            <a:fillRect/>
          </a:stretch>
        </p:blipFill>
        <p:spPr>
          <a:xfrm>
            <a:off x="6340450" y="2229673"/>
            <a:ext cx="368686" cy="368686"/>
          </a:xfrm>
          <a:prstGeom prst="rect">
            <a:avLst/>
          </a:prstGeom>
        </p:spPr>
      </p:pic>
      <p:sp>
        <p:nvSpPr>
          <p:cNvPr id="11" name="Text 7"/>
          <p:cNvSpPr txBox="1"/>
          <p:nvPr/>
        </p:nvSpPr>
        <p:spPr>
          <a:xfrm>
            <a:off x="6976872" y="21214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One question, answered</a:t>
            </a:r>
            <a:endParaRPr lang="en-US" sz="1500" dirty="0"/>
          </a:p>
        </p:txBody>
      </p:sp>
      <p:sp>
        <p:nvSpPr>
          <p:cNvPr id="12" name="Text 8"/>
          <p:cNvSpPr txBox="1"/>
          <p:nvPr/>
        </p:nvSpPr>
        <p:spPr>
          <a:xfrm>
            <a:off x="6976872" y="24140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What is committed, what is overdue, who is blocked — across every department, without asking anyone.</a:t>
            </a:r>
            <a:endParaRPr lang="en-US" sz="1250" dirty="0"/>
          </a:p>
        </p:txBody>
      </p:sp>
      <p:sp>
        <p:nvSpPr>
          <p:cNvPr id="13" name="Shape 9"/>
          <p:cNvSpPr/>
          <p:nvPr/>
        </p:nvSpPr>
        <p:spPr>
          <a:xfrm>
            <a:off x="640080" y="3529584"/>
            <a:ext cx="512064" cy="512064"/>
          </a:xfrm>
          <a:prstGeom prst="ellipse">
            <a:avLst/>
          </a:prstGeom>
          <a:solidFill>
            <a:srgbClr val="FBEEDC"/>
          </a:solidFill>
          <a:ln w="12700">
            <a:solidFill>
              <a:srgbClr val="FBEEDC"/>
            </a:solidFill>
            <a:prstDash val="solid"/>
          </a:ln>
        </p:spPr>
      </p:sp>
      <p:pic>
        <p:nvPicPr>
          <p:cNvPr id="14" name="Image 2" descr="preencoded.png">    </p:cNvPr>
          <p:cNvPicPr>
            <a:picLocks noChangeAspect="1"/>
          </p:cNvPicPr>
          <p:nvPr/>
        </p:nvPicPr>
        <p:blipFill>
          <a:blip r:embed="rId3"/>
          <a:stretch>
            <a:fillRect/>
          </a:stretch>
        </p:blipFill>
        <p:spPr>
          <a:xfrm>
            <a:off x="716890" y="3601273"/>
            <a:ext cx="368686" cy="368686"/>
          </a:xfrm>
          <a:prstGeom prst="rect">
            <a:avLst/>
          </a:prstGeom>
        </p:spPr>
      </p:pic>
      <p:sp>
        <p:nvSpPr>
          <p:cNvPr id="15" name="Text 10"/>
          <p:cNvSpPr txBox="1"/>
          <p:nvPr/>
        </p:nvSpPr>
        <p:spPr>
          <a:xfrm>
            <a:off x="1353312" y="34930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Drill to the task, not to a department head</a:t>
            </a:r>
            <a:endParaRPr lang="en-US" sz="1500" dirty="0"/>
          </a:p>
        </p:txBody>
      </p:sp>
      <p:sp>
        <p:nvSpPr>
          <p:cNvPr id="16" name="Text 11"/>
          <p:cNvSpPr txBox="1"/>
          <p:nvPr/>
        </p:nvSpPr>
        <p:spPr>
          <a:xfrm>
            <a:off x="1353312" y="37856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Enterprise, department, person, task. Four clicks from the headline to the work.</a:t>
            </a:r>
            <a:endParaRPr lang="en-US" sz="1250" dirty="0"/>
          </a:p>
        </p:txBody>
      </p:sp>
      <p:sp>
        <p:nvSpPr>
          <p:cNvPr id="17" name="Shape 12"/>
          <p:cNvSpPr/>
          <p:nvPr/>
        </p:nvSpPr>
        <p:spPr>
          <a:xfrm>
            <a:off x="6263640" y="3529584"/>
            <a:ext cx="512064" cy="512064"/>
          </a:xfrm>
          <a:prstGeom prst="ellipse">
            <a:avLst/>
          </a:prstGeom>
          <a:solidFill>
            <a:srgbClr val="FBEEDC"/>
          </a:solidFill>
          <a:ln w="12700">
            <a:solidFill>
              <a:srgbClr val="FBEEDC"/>
            </a:solidFill>
            <a:prstDash val="solid"/>
          </a:ln>
        </p:spPr>
      </p:sp>
      <p:pic>
        <p:nvPicPr>
          <p:cNvPr id="18" name="Image 3" descr="preencoded.png">    </p:cNvPr>
          <p:cNvPicPr>
            <a:picLocks noChangeAspect="1"/>
          </p:cNvPicPr>
          <p:nvPr/>
        </p:nvPicPr>
        <p:blipFill>
          <a:blip r:embed="rId4"/>
          <a:stretch>
            <a:fillRect/>
          </a:stretch>
        </p:blipFill>
        <p:spPr>
          <a:xfrm>
            <a:off x="6340450" y="3601273"/>
            <a:ext cx="368686" cy="368686"/>
          </a:xfrm>
          <a:prstGeom prst="rect">
            <a:avLst/>
          </a:prstGeom>
        </p:spPr>
      </p:pic>
      <p:sp>
        <p:nvSpPr>
          <p:cNvPr id="19" name="Text 13"/>
          <p:cNvSpPr txBox="1"/>
          <p:nvPr/>
        </p:nvSpPr>
        <p:spPr>
          <a:xfrm>
            <a:off x="6976872" y="34930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Listing-grade governance</a:t>
            </a:r>
            <a:endParaRPr lang="en-US" sz="1500" dirty="0"/>
          </a:p>
        </p:txBody>
      </p:sp>
      <p:sp>
        <p:nvSpPr>
          <p:cNvPr id="20" name="Text 14"/>
          <p:cNvSpPr txBox="1"/>
          <p:nvPr/>
        </p:nvSpPr>
        <p:spPr>
          <a:xfrm>
            <a:off x="6976872" y="37856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A defensible, auditable record of how work is run — the kind a regulator or a diligence team asks for.</a:t>
            </a:r>
            <a:endParaRPr lang="en-US" sz="1250" dirty="0"/>
          </a:p>
        </p:txBody>
      </p:sp>
      <p:sp>
        <p:nvSpPr>
          <p:cNvPr id="21" name="Shape 15"/>
          <p:cNvSpPr/>
          <p:nvPr/>
        </p:nvSpPr>
        <p:spPr>
          <a:xfrm>
            <a:off x="640080" y="4956048"/>
            <a:ext cx="10911535" cy="1207008"/>
          </a:xfrm>
          <a:prstGeom prst="roundRect">
            <a:avLst>
              <a:gd name="adj" fmla="val 6061"/>
            </a:avLst>
          </a:prstGeom>
          <a:solidFill>
            <a:srgbClr val="FBEEDC"/>
          </a:solidFill>
          <a:ln w="12700">
            <a:solidFill>
              <a:srgbClr val="FBEEDC"/>
            </a:solidFill>
            <a:prstDash val="solid"/>
          </a:ln>
          <a:effectLst>
            <a:outerShdw sx="100000" sy="100000" kx="0" ky="0" algn="bl" rotWithShape="0" blurRad="127000" dist="25400" dir="5400000">
              <a:srgbClr val="0E2F3C">
                <a:alpha val="10000"/>
              </a:srgbClr>
            </a:outerShdw>
          </a:effectLst>
        </p:spPr>
      </p:sp>
      <p:sp>
        <p:nvSpPr>
          <p:cNvPr id="22" name="Shape 16"/>
          <p:cNvSpPr/>
          <p:nvPr/>
        </p:nvSpPr>
        <p:spPr>
          <a:xfrm>
            <a:off x="950976" y="5294376"/>
            <a:ext cx="530352" cy="530352"/>
          </a:xfrm>
          <a:prstGeom prst="ellipse">
            <a:avLst/>
          </a:prstGeom>
          <a:solidFill>
            <a:srgbClr val="FFFFFF"/>
          </a:solidFill>
          <a:ln w="12700">
            <a:solidFill>
              <a:srgbClr val="FFFFFF"/>
            </a:solidFill>
            <a:prstDash val="solid"/>
          </a:ln>
        </p:spPr>
      </p:sp>
      <p:pic>
        <p:nvPicPr>
          <p:cNvPr id="23" name="Image 4" descr="preencoded.png">    </p:cNvPr>
          <p:cNvPicPr>
            <a:picLocks noChangeAspect="1"/>
          </p:cNvPicPr>
          <p:nvPr/>
        </p:nvPicPr>
        <p:blipFill>
          <a:blip r:embed="rId5"/>
          <a:stretch>
            <a:fillRect/>
          </a:stretch>
        </p:blipFill>
        <p:spPr>
          <a:xfrm>
            <a:off x="1030529" y="5368625"/>
            <a:ext cx="381853" cy="381853"/>
          </a:xfrm>
          <a:prstGeom prst="rect">
            <a:avLst/>
          </a:prstGeom>
        </p:spPr>
      </p:pic>
      <p:sp>
        <p:nvSpPr>
          <p:cNvPr id="24" name="Text 17"/>
          <p:cNvSpPr txBox="1"/>
          <p:nvPr/>
        </p:nvSpPr>
        <p:spPr>
          <a:xfrm>
            <a:off x="1627632" y="5175504"/>
            <a:ext cx="9509760" cy="274320"/>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Early warning, explained</a:t>
            </a:r>
            <a:endParaRPr lang="en-US" sz="1500" dirty="0"/>
          </a:p>
        </p:txBody>
      </p:sp>
      <p:sp>
        <p:nvSpPr>
          <p:cNvPr id="25" name="Text 18"/>
          <p:cNvSpPr txBox="1"/>
          <p:nvPr/>
        </p:nvSpPr>
        <p:spPr>
          <a:xfrm>
            <a:off x="1627632" y="5468112"/>
            <a:ext cx="9509760" cy="502920"/>
          </a:xfrm>
          <a:prstGeom prst="rect">
            <a:avLst/>
          </a:prstGeom>
          <a:noFill/>
          <a:ln/>
        </p:spPr>
        <p:txBody>
          <a:bodyPr wrap="square" lIns="0" tIns="0" rIns="0" bIns="0" rtlCol="0" anchor="ctr"/>
          <a:lstStyle/>
          <a:p>
            <a:pPr indent="0" marL="0">
              <a:lnSpc>
                <a:spcPct val="112000"/>
              </a:lnSpc>
              <a:buNone/>
            </a:pPr>
            <a:r>
              <a:rPr lang="en-US" sz="1250" dirty="0">
                <a:solidFill>
                  <a:srgbClr val="16232A"/>
                </a:solidFill>
                <a:latin typeface="Calibri" pitchFamily="34" charset="0"/>
                <a:ea typeface="Calibri" pitchFamily="34" charset="-122"/>
                <a:cs typeface="Calibri" pitchFamily="34" charset="-120"/>
              </a:rPr>
              <a:t>Work likely to breach is flagged with the reasons, so a supervisor can act rather than be told after the fact.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FOR COMPLIANCE AND AUDIT</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If you have to prove it</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The record is the product.</a:t>
            </a:r>
            <a:endParaRPr lang="en-US" sz="1500" dirty="0"/>
          </a:p>
        </p:txBody>
      </p:sp>
      <p:sp>
        <p:nvSpPr>
          <p:cNvPr id="5" name="Shape 3"/>
          <p:cNvSpPr/>
          <p:nvPr/>
        </p:nvSpPr>
        <p:spPr>
          <a:xfrm>
            <a:off x="640080" y="2157984"/>
            <a:ext cx="512064" cy="512064"/>
          </a:xfrm>
          <a:prstGeom prst="ellipse">
            <a:avLst/>
          </a:prstGeom>
          <a:solidFill>
            <a:srgbClr val="E3F0EA"/>
          </a:solidFill>
          <a:ln w="12700">
            <a:solidFill>
              <a:srgbClr val="E3F0EA"/>
            </a:solidFill>
            <a:prstDash val="solid"/>
          </a:ln>
        </p:spPr>
      </p:sp>
      <p:pic>
        <p:nvPicPr>
          <p:cNvPr id="6" name="Image 0" descr="preencoded.png">    </p:cNvPr>
          <p:cNvPicPr>
            <a:picLocks noChangeAspect="1"/>
          </p:cNvPicPr>
          <p:nvPr/>
        </p:nvPicPr>
        <p:blipFill>
          <a:blip r:embed="rId1"/>
          <a:stretch>
            <a:fillRect/>
          </a:stretch>
        </p:blipFill>
        <p:spPr>
          <a:xfrm>
            <a:off x="716890" y="2229673"/>
            <a:ext cx="368686" cy="368686"/>
          </a:xfrm>
          <a:prstGeom prst="rect">
            <a:avLst/>
          </a:prstGeom>
        </p:spPr>
      </p:pic>
      <p:sp>
        <p:nvSpPr>
          <p:cNvPr id="7" name="Text 4"/>
          <p:cNvSpPr txBox="1"/>
          <p:nvPr/>
        </p:nvSpPr>
        <p:spPr>
          <a:xfrm>
            <a:off x="1353312" y="21214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Every change carries who, what, when and why</a:t>
            </a:r>
            <a:endParaRPr lang="en-US" sz="1500" dirty="0"/>
          </a:p>
        </p:txBody>
      </p:sp>
      <p:sp>
        <p:nvSpPr>
          <p:cNvPr id="8" name="Text 5"/>
          <p:cNvSpPr txBox="1"/>
          <p:nvPr/>
        </p:nvSpPr>
        <p:spPr>
          <a:xfrm>
            <a:off x="1353312" y="24140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Written automatically, for every task, every time. Not a feature anyone has to remember to use.</a:t>
            </a:r>
            <a:endParaRPr lang="en-US" sz="1250" dirty="0"/>
          </a:p>
        </p:txBody>
      </p:sp>
      <p:sp>
        <p:nvSpPr>
          <p:cNvPr id="9" name="Shape 6"/>
          <p:cNvSpPr/>
          <p:nvPr/>
        </p:nvSpPr>
        <p:spPr>
          <a:xfrm>
            <a:off x="6263640" y="2157984"/>
            <a:ext cx="512064" cy="512064"/>
          </a:xfrm>
          <a:prstGeom prst="ellipse">
            <a:avLst/>
          </a:prstGeom>
          <a:solidFill>
            <a:srgbClr val="E3F0EA"/>
          </a:solidFill>
          <a:ln w="12700">
            <a:solidFill>
              <a:srgbClr val="E3F0EA"/>
            </a:solidFill>
            <a:prstDash val="solid"/>
          </a:ln>
        </p:spPr>
      </p:sp>
      <p:pic>
        <p:nvPicPr>
          <p:cNvPr id="10" name="Image 1" descr="preencoded.png">    </p:cNvPr>
          <p:cNvPicPr>
            <a:picLocks noChangeAspect="1"/>
          </p:cNvPicPr>
          <p:nvPr/>
        </p:nvPicPr>
        <p:blipFill>
          <a:blip r:embed="rId2"/>
          <a:stretch>
            <a:fillRect/>
          </a:stretch>
        </p:blipFill>
        <p:spPr>
          <a:xfrm>
            <a:off x="6340450" y="2229673"/>
            <a:ext cx="368686" cy="368686"/>
          </a:xfrm>
          <a:prstGeom prst="rect">
            <a:avLst/>
          </a:prstGeom>
        </p:spPr>
      </p:pic>
      <p:sp>
        <p:nvSpPr>
          <p:cNvPr id="11" name="Text 7"/>
          <p:cNvSpPr txBox="1"/>
          <p:nvPr/>
        </p:nvSpPr>
        <p:spPr>
          <a:xfrm>
            <a:off x="6976872" y="21214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The trail cannot be edited</a:t>
            </a:r>
            <a:endParaRPr lang="en-US" sz="1500" dirty="0"/>
          </a:p>
        </p:txBody>
      </p:sp>
      <p:sp>
        <p:nvSpPr>
          <p:cNvPr id="12" name="Text 8"/>
          <p:cNvSpPr txBox="1"/>
          <p:nvPr/>
        </p:nvSpPr>
        <p:spPr>
          <a:xfrm>
            <a:off x="6976872" y="24140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There is no screen, and no permission, that lets anyone rewrite history — including administrators.</a:t>
            </a:r>
            <a:endParaRPr lang="en-US" sz="1250" dirty="0"/>
          </a:p>
        </p:txBody>
      </p:sp>
      <p:sp>
        <p:nvSpPr>
          <p:cNvPr id="13" name="Shape 9"/>
          <p:cNvSpPr/>
          <p:nvPr/>
        </p:nvSpPr>
        <p:spPr>
          <a:xfrm>
            <a:off x="640080" y="3529584"/>
            <a:ext cx="512064" cy="512064"/>
          </a:xfrm>
          <a:prstGeom prst="ellipse">
            <a:avLst/>
          </a:prstGeom>
          <a:solidFill>
            <a:srgbClr val="E3F0EA"/>
          </a:solidFill>
          <a:ln w="12700">
            <a:solidFill>
              <a:srgbClr val="E3F0EA"/>
            </a:solidFill>
            <a:prstDash val="solid"/>
          </a:ln>
        </p:spPr>
      </p:sp>
      <p:pic>
        <p:nvPicPr>
          <p:cNvPr id="14" name="Image 2" descr="preencoded.png">    </p:cNvPr>
          <p:cNvPicPr>
            <a:picLocks noChangeAspect="1"/>
          </p:cNvPicPr>
          <p:nvPr/>
        </p:nvPicPr>
        <p:blipFill>
          <a:blip r:embed="rId3"/>
          <a:stretch>
            <a:fillRect/>
          </a:stretch>
        </p:blipFill>
        <p:spPr>
          <a:xfrm>
            <a:off x="716890" y="3601273"/>
            <a:ext cx="368686" cy="368686"/>
          </a:xfrm>
          <a:prstGeom prst="rect">
            <a:avLst/>
          </a:prstGeom>
        </p:spPr>
      </p:pic>
      <p:sp>
        <p:nvSpPr>
          <p:cNvPr id="15" name="Text 10"/>
          <p:cNvSpPr txBox="1"/>
          <p:nvPr/>
        </p:nvSpPr>
        <p:spPr>
          <a:xfrm>
            <a:off x="1353312" y="34930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Confidential work stays visible to audit</a:t>
            </a:r>
            <a:endParaRPr lang="en-US" sz="1500" dirty="0"/>
          </a:p>
        </p:txBody>
      </p:sp>
      <p:sp>
        <p:nvSpPr>
          <p:cNvPr id="16" name="Text 11"/>
          <p:cNvSpPr txBox="1"/>
          <p:nvPr/>
        </p:nvSpPr>
        <p:spPr>
          <a:xfrm>
            <a:off x="1353312" y="37856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Sensitive matters are hidden from colleagues, never from the compliance function. That is the whole point.</a:t>
            </a:r>
            <a:endParaRPr lang="en-US" sz="1250" dirty="0"/>
          </a:p>
        </p:txBody>
      </p:sp>
      <p:sp>
        <p:nvSpPr>
          <p:cNvPr id="17" name="Shape 12"/>
          <p:cNvSpPr/>
          <p:nvPr/>
        </p:nvSpPr>
        <p:spPr>
          <a:xfrm>
            <a:off x="6263640" y="3529584"/>
            <a:ext cx="512064" cy="512064"/>
          </a:xfrm>
          <a:prstGeom prst="ellipse">
            <a:avLst/>
          </a:prstGeom>
          <a:solidFill>
            <a:srgbClr val="E3F0EA"/>
          </a:solidFill>
          <a:ln w="12700">
            <a:solidFill>
              <a:srgbClr val="E3F0EA"/>
            </a:solidFill>
            <a:prstDash val="solid"/>
          </a:ln>
        </p:spPr>
      </p:sp>
      <p:pic>
        <p:nvPicPr>
          <p:cNvPr id="18" name="Image 3" descr="preencoded.png">    </p:cNvPr>
          <p:cNvPicPr>
            <a:picLocks noChangeAspect="1"/>
          </p:cNvPicPr>
          <p:nvPr/>
        </p:nvPicPr>
        <p:blipFill>
          <a:blip r:embed="rId4"/>
          <a:stretch>
            <a:fillRect/>
          </a:stretch>
        </p:blipFill>
        <p:spPr>
          <a:xfrm>
            <a:off x="6340450" y="3601273"/>
            <a:ext cx="368686" cy="368686"/>
          </a:xfrm>
          <a:prstGeom prst="rect">
            <a:avLst/>
          </a:prstGeom>
        </p:spPr>
      </p:pic>
      <p:sp>
        <p:nvSpPr>
          <p:cNvPr id="19" name="Text 13"/>
          <p:cNvSpPr txBox="1"/>
          <p:nvPr/>
        </p:nvSpPr>
        <p:spPr>
          <a:xfrm>
            <a:off x="6976872" y="3493008"/>
            <a:ext cx="4590288" cy="274320"/>
          </a:xfrm>
          <a:prstGeom prst="rect">
            <a:avLst/>
          </a:prstGeom>
          <a:noFill/>
          <a:ln/>
        </p:spPr>
        <p:txBody>
          <a:bodyPr wrap="square" lIns="0" tIns="0" rIns="0" bIns="0" rtlCol="0" anchor="t"/>
          <a:lstStyle/>
          <a:p>
            <a:pPr indent="0" marL="0">
              <a:buNone/>
            </a:pPr>
            <a:r>
              <a:rPr lang="en-US" sz="1500" b="1" dirty="0">
                <a:solidFill>
                  <a:srgbClr val="0E2F3C"/>
                </a:solidFill>
                <a:latin typeface="Calibri" pitchFamily="34" charset="0"/>
                <a:ea typeface="Calibri" pitchFamily="34" charset="-122"/>
                <a:cs typeface="Calibri" pitchFamily="34" charset="-120"/>
              </a:rPr>
              <a:t>Procedures are pinned to the work</a:t>
            </a:r>
            <a:endParaRPr lang="en-US" sz="1500" dirty="0"/>
          </a:p>
        </p:txBody>
      </p:sp>
      <p:sp>
        <p:nvSpPr>
          <p:cNvPr id="20" name="Text 14"/>
          <p:cNvSpPr txBox="1"/>
          <p:nvPr/>
        </p:nvSpPr>
        <p:spPr>
          <a:xfrm>
            <a:off x="6976872" y="3785616"/>
            <a:ext cx="4590288" cy="566928"/>
          </a:xfrm>
          <a:prstGeom prst="rect">
            <a:avLst/>
          </a:prstGeom>
          <a:noFill/>
          <a:ln/>
        </p:spPr>
        <p:txBody>
          <a:bodyPr wrap="square" lIns="0" tIns="0" rIns="0" bIns="0" rtlCol="0" anchor="t"/>
          <a:lstStyle/>
          <a:p>
            <a:pPr indent="0" marL="0">
              <a:lnSpc>
                <a:spcPct val="112000"/>
              </a:lnSpc>
              <a:buNone/>
            </a:pPr>
            <a:r>
              <a:rPr lang="en-US" sz="1250" dirty="0">
                <a:solidFill>
                  <a:srgbClr val="5C6B73"/>
                </a:solidFill>
                <a:latin typeface="Calibri" pitchFamily="34" charset="0"/>
                <a:ea typeface="Calibri" pitchFamily="34" charset="-122"/>
                <a:cs typeface="Calibri" pitchFamily="34" charset="-120"/>
              </a:rPr>
              <a:t>A task records the version of the procedure in force when it was raised — not whatever it was revised to later.</a:t>
            </a:r>
            <a:endParaRPr lang="en-US" sz="1250" dirty="0"/>
          </a:p>
        </p:txBody>
      </p:sp>
      <p:sp>
        <p:nvSpPr>
          <p:cNvPr id="21" name="Shape 15"/>
          <p:cNvSpPr/>
          <p:nvPr/>
        </p:nvSpPr>
        <p:spPr>
          <a:xfrm>
            <a:off x="640080" y="4956048"/>
            <a:ext cx="10911535" cy="1207008"/>
          </a:xfrm>
          <a:prstGeom prst="roundRect">
            <a:avLst>
              <a:gd name="adj" fmla="val 6061"/>
            </a:avLst>
          </a:prstGeom>
          <a:solidFill>
            <a:srgbClr val="E3F0EA"/>
          </a:solidFill>
          <a:ln w="12700">
            <a:solidFill>
              <a:srgbClr val="E3F0EA"/>
            </a:solidFill>
            <a:prstDash val="solid"/>
          </a:ln>
          <a:effectLst>
            <a:outerShdw sx="100000" sy="100000" kx="0" ky="0" algn="bl" rotWithShape="0" blurRad="127000" dist="25400" dir="5400000">
              <a:srgbClr val="0E2F3C">
                <a:alpha val="10000"/>
              </a:srgbClr>
            </a:outerShdw>
          </a:effectLst>
        </p:spPr>
      </p:sp>
      <p:sp>
        <p:nvSpPr>
          <p:cNvPr id="22" name="Shape 16"/>
          <p:cNvSpPr/>
          <p:nvPr/>
        </p:nvSpPr>
        <p:spPr>
          <a:xfrm>
            <a:off x="950976" y="5294376"/>
            <a:ext cx="530352" cy="530352"/>
          </a:xfrm>
          <a:prstGeom prst="ellipse">
            <a:avLst/>
          </a:prstGeom>
          <a:solidFill>
            <a:srgbClr val="FFFFFF"/>
          </a:solidFill>
          <a:ln w="12700">
            <a:solidFill>
              <a:srgbClr val="FFFFFF"/>
            </a:solidFill>
            <a:prstDash val="solid"/>
          </a:ln>
        </p:spPr>
      </p:sp>
      <p:pic>
        <p:nvPicPr>
          <p:cNvPr id="23" name="Image 4" descr="preencoded.png">    </p:cNvPr>
          <p:cNvPicPr>
            <a:picLocks noChangeAspect="1"/>
          </p:cNvPicPr>
          <p:nvPr/>
        </p:nvPicPr>
        <p:blipFill>
          <a:blip r:embed="rId5"/>
          <a:stretch>
            <a:fillRect/>
          </a:stretch>
        </p:blipFill>
        <p:spPr>
          <a:xfrm>
            <a:off x="1030529" y="5368625"/>
            <a:ext cx="381853" cy="381853"/>
          </a:xfrm>
          <a:prstGeom prst="rect">
            <a:avLst/>
          </a:prstGeom>
        </p:spPr>
      </p:pic>
      <p:sp>
        <p:nvSpPr>
          <p:cNvPr id="24" name="Text 17"/>
          <p:cNvSpPr txBox="1"/>
          <p:nvPr/>
        </p:nvSpPr>
        <p:spPr>
          <a:xfrm>
            <a:off x="1627632" y="5175504"/>
            <a:ext cx="9509760" cy="274320"/>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Maker–checker where it matters</a:t>
            </a:r>
            <a:endParaRPr lang="en-US" sz="1500" dirty="0"/>
          </a:p>
        </p:txBody>
      </p:sp>
      <p:sp>
        <p:nvSpPr>
          <p:cNvPr id="25" name="Text 18"/>
          <p:cNvSpPr txBox="1"/>
          <p:nvPr/>
        </p:nvSpPr>
        <p:spPr>
          <a:xfrm>
            <a:off x="1627632" y="5468112"/>
            <a:ext cx="9509760" cy="502920"/>
          </a:xfrm>
          <a:prstGeom prst="rect">
            <a:avLst/>
          </a:prstGeom>
          <a:noFill/>
          <a:ln/>
        </p:spPr>
        <p:txBody>
          <a:bodyPr wrap="square" lIns="0" tIns="0" rIns="0" bIns="0" rtlCol="0" anchor="ctr"/>
          <a:lstStyle/>
          <a:p>
            <a:pPr indent="0" marL="0">
              <a:lnSpc>
                <a:spcPct val="112000"/>
              </a:lnSpc>
              <a:buNone/>
            </a:pPr>
            <a:r>
              <a:rPr lang="en-US" sz="1250" dirty="0">
                <a:solidFill>
                  <a:srgbClr val="16232A"/>
                </a:solidFill>
                <a:latin typeface="Calibri" pitchFamily="34" charset="0"/>
                <a:ea typeface="Calibri" pitchFamily="34" charset="-122"/>
                <a:cs typeface="Calibri" pitchFamily="34" charset="-120"/>
              </a:rPr>
              <a:t>Segregation of duties is enforced by the system, not by a convention people are trusted to follow.</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2F3C"/>
        </a:solidFill>
      </p:bgPr>
    </p:bg>
    <p:spTree>
      <p:nvGrpSpPr>
        <p:cNvPr id="1" name=""/>
        <p:cNvGrpSpPr/>
        <p:nvPr/>
      </p:nvGrpSpPr>
      <p:grpSpPr>
        <a:xfrm>
          <a:off x="0" y="0"/>
          <a:ext cx="0" cy="0"/>
          <a:chOff x="0" y="0"/>
          <a:chExt cx="0" cy="0"/>
        </a:xfrm>
      </p:grpSpPr>
      <p:sp>
        <p:nvSpPr>
          <p:cNvPr id="2" name="Shape 0"/>
          <p:cNvSpPr/>
          <p:nvPr/>
        </p:nvSpPr>
        <p:spPr>
          <a:xfrm>
            <a:off x="8412480" y="-1828800"/>
            <a:ext cx="6035040" cy="6035040"/>
          </a:xfrm>
          <a:prstGeom prst="ellipse">
            <a:avLst/>
          </a:prstGeom>
          <a:solidFill>
            <a:srgbClr val="16455A"/>
          </a:solidFill>
          <a:ln w="12700">
            <a:solidFill>
              <a:srgbClr val="16455A"/>
            </a:solidFill>
            <a:prstDash val="solid"/>
          </a:ln>
        </p:spPr>
      </p:sp>
      <p:sp>
        <p:nvSpPr>
          <p:cNvPr id="3" name="Text 1"/>
          <p:cNvSpPr txBox="1"/>
          <p:nvPr/>
        </p:nvSpPr>
        <p:spPr>
          <a:xfrm>
            <a:off x="640080" y="2514600"/>
            <a:ext cx="7315200" cy="274320"/>
          </a:xfrm>
          <a:prstGeom prst="rect">
            <a:avLst/>
          </a:prstGeom>
          <a:noFill/>
          <a:ln/>
        </p:spPr>
        <p:txBody>
          <a:bodyPr wrap="square" lIns="0" tIns="0" rIns="0" bIns="0" rtlCol="0" anchor="ctr"/>
          <a:lstStyle/>
          <a:p>
            <a:pPr indent="0" marL="0">
              <a:buNone/>
            </a:pPr>
            <a:r>
              <a:rPr lang="en-US" sz="1150" b="1" spc="240" kern="0" dirty="0">
                <a:solidFill>
                  <a:srgbClr val="D9822B"/>
                </a:solidFill>
                <a:latin typeface="Calibri" pitchFamily="34" charset="0"/>
                <a:ea typeface="Calibri" pitchFamily="34" charset="-122"/>
                <a:cs typeface="Calibri" pitchFamily="34" charset="-120"/>
              </a:rPr>
              <a:t>PART THREE</a:t>
            </a:r>
            <a:endParaRPr lang="en-US" sz="1150" dirty="0"/>
          </a:p>
        </p:txBody>
      </p:sp>
      <p:sp>
        <p:nvSpPr>
          <p:cNvPr id="4" name="Text 2"/>
          <p:cNvSpPr txBox="1"/>
          <p:nvPr/>
        </p:nvSpPr>
        <p:spPr>
          <a:xfrm>
            <a:off x="640080" y="2880360"/>
            <a:ext cx="7863840" cy="1463040"/>
          </a:xfrm>
          <a:prstGeom prst="rect">
            <a:avLst/>
          </a:prstGeom>
          <a:noFill/>
          <a:ln/>
        </p:spPr>
        <p:txBody>
          <a:bodyPr wrap="square" lIns="0" tIns="0" rIns="0" bIns="0" rtlCol="0" anchor="ctr"/>
          <a:lstStyle/>
          <a:p>
            <a:pPr indent="0" marL="0">
              <a:lnSpc>
                <a:spcPct val="112000"/>
              </a:lnSpc>
              <a:buNone/>
            </a:pPr>
            <a:r>
              <a:rPr lang="en-US" sz="4000" b="1" dirty="0">
                <a:solidFill>
                  <a:srgbClr val="FFFFFF"/>
                </a:solidFill>
                <a:latin typeface="Cambria" pitchFamily="34" charset="0"/>
                <a:ea typeface="Cambria" pitchFamily="34" charset="-122"/>
                <a:cs typeface="Cambria" pitchFamily="34" charset="-120"/>
              </a:rPr>
              <a:t>“Is this going to be</a:t>
            </a:r>
            <a:endParaRPr lang="en-US" sz="4000" dirty="0"/>
          </a:p>
          <a:p>
            <a:pPr indent="0" marL="0">
              <a:lnSpc>
                <a:spcPct val="112000"/>
              </a:lnSpc>
              <a:buNone/>
            </a:pPr>
            <a:r>
              <a:rPr lang="en-US" sz="4000" b="1" dirty="0">
                <a:solidFill>
                  <a:srgbClr val="FFFFFF"/>
                </a:solidFill>
                <a:latin typeface="Cambria" pitchFamily="34" charset="0"/>
                <a:ea typeface="Cambria" pitchFamily="34" charset="-122"/>
                <a:cs typeface="Cambria" pitchFamily="34" charset="-120"/>
              </a:rPr>
              <a:t>used against me?”</a:t>
            </a:r>
            <a:endParaRPr lang="en-US" sz="4000" dirty="0"/>
          </a:p>
        </p:txBody>
      </p:sp>
      <p:sp>
        <p:nvSpPr>
          <p:cNvPr id="5" name="Text 3"/>
          <p:cNvSpPr txBox="1"/>
          <p:nvPr/>
        </p:nvSpPr>
        <p:spPr>
          <a:xfrm>
            <a:off x="640080" y="4434840"/>
            <a:ext cx="7863840" cy="320040"/>
          </a:xfrm>
          <a:prstGeom prst="rect">
            <a:avLst/>
          </a:prstGeom>
          <a:noFill/>
          <a:ln/>
        </p:spPr>
        <p:txBody>
          <a:bodyPr wrap="square" lIns="0" tIns="0" rIns="0" bIns="0" rtlCol="0" anchor="ctr"/>
          <a:lstStyle/>
          <a:p>
            <a:pPr indent="0" marL="0">
              <a:buNone/>
            </a:pPr>
            <a:r>
              <a:rPr lang="en-US" sz="1400" dirty="0">
                <a:solidFill>
                  <a:srgbClr val="A9C3CC"/>
                </a:solidFill>
                <a:latin typeface="Calibri" pitchFamily="34" charset="0"/>
                <a:ea typeface="Calibri" pitchFamily="34" charset="-122"/>
                <a:cs typeface="Calibri" pitchFamily="34" charset="-120"/>
              </a:rPr>
              <a:t>The fair question. Here is the honest answer.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FAIRNESS</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Five protections we built before we built the reports</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These are not promises in a policy document. They are rules in the software.</a:t>
            </a:r>
            <a:endParaRPr lang="en-US" sz="1500" dirty="0"/>
          </a:p>
        </p:txBody>
      </p:sp>
      <p:sp>
        <p:nvSpPr>
          <p:cNvPr id="5" name="Shape 3"/>
          <p:cNvSpPr/>
          <p:nvPr/>
        </p:nvSpPr>
        <p:spPr>
          <a:xfrm>
            <a:off x="640080" y="2121408"/>
            <a:ext cx="457200" cy="457200"/>
          </a:xfrm>
          <a:prstGeom prst="ellipse">
            <a:avLst/>
          </a:prstGeom>
          <a:solidFill>
            <a:srgbClr val="2E7D5B"/>
          </a:solidFill>
          <a:ln w="12700">
            <a:solidFill>
              <a:srgbClr val="2E7D5B"/>
            </a:solidFill>
            <a:prstDash val="solid"/>
          </a:ln>
        </p:spPr>
      </p:sp>
      <p:sp>
        <p:nvSpPr>
          <p:cNvPr id="6" name="Text 4"/>
          <p:cNvSpPr txBox="1"/>
          <p:nvPr/>
        </p:nvSpPr>
        <p:spPr>
          <a:xfrm>
            <a:off x="640080" y="2185416"/>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1298448" y="2084832"/>
            <a:ext cx="1024128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A quiet month is reported as “not enough data”</a:t>
            </a:r>
            <a:endParaRPr lang="en-US" sz="1450" dirty="0"/>
          </a:p>
        </p:txBody>
      </p:sp>
      <p:sp>
        <p:nvSpPr>
          <p:cNvPr id="8" name="Text 6"/>
          <p:cNvSpPr txBox="1"/>
          <p:nvPr/>
        </p:nvSpPr>
        <p:spPr>
          <a:xfrm>
            <a:off x="1298448" y="2368296"/>
            <a:ext cx="10241280" cy="475488"/>
          </a:xfrm>
          <a:prstGeom prst="rect">
            <a:avLst/>
          </a:prstGeom>
          <a:noFill/>
          <a:ln/>
        </p:spPr>
        <p:txBody>
          <a:bodyPr wrap="square" lIns="0" tIns="0" rIns="0" bIns="0" rtlCol="0" anchor="ctr"/>
          <a:lstStyle/>
          <a:p>
            <a:pPr indent="0" marL="0">
              <a:lnSpc>
                <a:spcPct val="110000"/>
              </a:lnSpc>
              <a:buNone/>
            </a:pPr>
            <a:r>
              <a:rPr lang="en-US" sz="1200" dirty="0">
                <a:solidFill>
                  <a:srgbClr val="5C6B73"/>
                </a:solidFill>
                <a:latin typeface="Calibri" pitchFamily="34" charset="0"/>
                <a:ea typeface="Calibri" pitchFamily="34" charset="-122"/>
                <a:cs typeface="Calibri" pitchFamily="34" charset="-120"/>
              </a:rPr>
              <a:t>Below a minimum volume of work, no figures are shown at all. Someone on leave and someone struggling look identical on a chart and mean opposite things — so we refuse to draw it.</a:t>
            </a:r>
            <a:endParaRPr lang="en-US" sz="1200" dirty="0"/>
          </a:p>
        </p:txBody>
      </p:sp>
      <p:sp>
        <p:nvSpPr>
          <p:cNvPr id="9" name="Shape 7"/>
          <p:cNvSpPr/>
          <p:nvPr/>
        </p:nvSpPr>
        <p:spPr>
          <a:xfrm>
            <a:off x="640080" y="2926080"/>
            <a:ext cx="457200" cy="457200"/>
          </a:xfrm>
          <a:prstGeom prst="ellipse">
            <a:avLst/>
          </a:prstGeom>
          <a:solidFill>
            <a:srgbClr val="2E7D5B"/>
          </a:solidFill>
          <a:ln w="12700">
            <a:solidFill>
              <a:srgbClr val="2E7D5B"/>
            </a:solidFill>
            <a:prstDash val="solid"/>
          </a:ln>
        </p:spPr>
      </p:sp>
      <p:sp>
        <p:nvSpPr>
          <p:cNvPr id="10" name="Text 8"/>
          <p:cNvSpPr txBox="1"/>
          <p:nvPr/>
        </p:nvSpPr>
        <p:spPr>
          <a:xfrm>
            <a:off x="640080" y="2990088"/>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1298448" y="2889504"/>
            <a:ext cx="1024128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A flag is never a penalty</a:t>
            </a:r>
            <a:endParaRPr lang="en-US" sz="1450" dirty="0"/>
          </a:p>
        </p:txBody>
      </p:sp>
      <p:sp>
        <p:nvSpPr>
          <p:cNvPr id="12" name="Text 10"/>
          <p:cNvSpPr txBox="1"/>
          <p:nvPr/>
        </p:nvSpPr>
        <p:spPr>
          <a:xfrm>
            <a:off x="1298448" y="3172968"/>
            <a:ext cx="10241280" cy="475488"/>
          </a:xfrm>
          <a:prstGeom prst="rect">
            <a:avLst/>
          </a:prstGeom>
          <a:noFill/>
          <a:ln/>
        </p:spPr>
        <p:txBody>
          <a:bodyPr wrap="square" lIns="0" tIns="0" rIns="0" bIns="0" rtlCol="0" anchor="ctr"/>
          <a:lstStyle/>
          <a:p>
            <a:pPr indent="0" marL="0">
              <a:lnSpc>
                <a:spcPct val="110000"/>
              </a:lnSpc>
              <a:buNone/>
            </a:pPr>
            <a:r>
              <a:rPr lang="en-US" sz="1200" dirty="0">
                <a:solidFill>
                  <a:srgbClr val="5C6B73"/>
                </a:solidFill>
                <a:latin typeface="Calibri" pitchFamily="34" charset="0"/>
                <a:ea typeface="Calibri" pitchFamily="34" charset="-122"/>
                <a:cs typeface="Calibri" pitchFamily="34" charset="-120"/>
              </a:rPr>
              <a:t>If the system spots something odd, that work is taken out of your numbers entirely until a human looks at it. Dismiss the flag and the work comes straight back. Suspicion costs you nothing.</a:t>
            </a:r>
            <a:endParaRPr lang="en-US" sz="1200" dirty="0"/>
          </a:p>
        </p:txBody>
      </p:sp>
      <p:sp>
        <p:nvSpPr>
          <p:cNvPr id="13" name="Shape 11"/>
          <p:cNvSpPr/>
          <p:nvPr/>
        </p:nvSpPr>
        <p:spPr>
          <a:xfrm>
            <a:off x="640080" y="3730752"/>
            <a:ext cx="457200" cy="457200"/>
          </a:xfrm>
          <a:prstGeom prst="ellipse">
            <a:avLst/>
          </a:prstGeom>
          <a:solidFill>
            <a:srgbClr val="2E7D5B"/>
          </a:solidFill>
          <a:ln w="12700">
            <a:solidFill>
              <a:srgbClr val="2E7D5B"/>
            </a:solidFill>
            <a:prstDash val="solid"/>
          </a:ln>
        </p:spPr>
      </p:sp>
      <p:sp>
        <p:nvSpPr>
          <p:cNvPr id="14" name="Text 12"/>
          <p:cNvSpPr txBox="1"/>
          <p:nvPr/>
        </p:nvSpPr>
        <p:spPr>
          <a:xfrm>
            <a:off x="640080" y="3794760"/>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txBox="1"/>
          <p:nvPr/>
        </p:nvSpPr>
        <p:spPr>
          <a:xfrm>
            <a:off x="1298448" y="3694176"/>
            <a:ext cx="1024128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You see exactly what they see</a:t>
            </a:r>
            <a:endParaRPr lang="en-US" sz="1450" dirty="0"/>
          </a:p>
        </p:txBody>
      </p:sp>
      <p:sp>
        <p:nvSpPr>
          <p:cNvPr id="16" name="Text 14"/>
          <p:cNvSpPr txBox="1"/>
          <p:nvPr/>
        </p:nvSpPr>
        <p:spPr>
          <a:xfrm>
            <a:off x="1298448" y="3977640"/>
            <a:ext cx="10241280" cy="475488"/>
          </a:xfrm>
          <a:prstGeom prst="rect">
            <a:avLst/>
          </a:prstGeom>
          <a:noFill/>
          <a:ln/>
        </p:spPr>
        <p:txBody>
          <a:bodyPr wrap="square" lIns="0" tIns="0" rIns="0" bIns="0" rtlCol="0" anchor="ctr"/>
          <a:lstStyle/>
          <a:p>
            <a:pPr indent="0" marL="0">
              <a:lnSpc>
                <a:spcPct val="110000"/>
              </a:lnSpc>
              <a:buNone/>
            </a:pPr>
            <a:r>
              <a:rPr lang="en-US" sz="1200" dirty="0">
                <a:solidFill>
                  <a:srgbClr val="5C6B73"/>
                </a:solidFill>
                <a:latin typeface="Calibri" pitchFamily="34" charset="0"/>
                <a:ea typeface="Calibri" pitchFamily="34" charset="-122"/>
                <a:cs typeface="Calibri" pitchFamily="34" charset="-120"/>
              </a:rPr>
              <a:t>One set of figures, one screen, for you, your manager and HR alike. There is no management view of a number you are not shown.</a:t>
            </a:r>
            <a:endParaRPr lang="en-US" sz="1200" dirty="0"/>
          </a:p>
        </p:txBody>
      </p:sp>
      <p:sp>
        <p:nvSpPr>
          <p:cNvPr id="17" name="Shape 15"/>
          <p:cNvSpPr/>
          <p:nvPr/>
        </p:nvSpPr>
        <p:spPr>
          <a:xfrm>
            <a:off x="640080" y="4535424"/>
            <a:ext cx="457200" cy="457200"/>
          </a:xfrm>
          <a:prstGeom prst="ellipse">
            <a:avLst/>
          </a:prstGeom>
          <a:solidFill>
            <a:srgbClr val="2E7D5B"/>
          </a:solidFill>
          <a:ln w="12700">
            <a:solidFill>
              <a:srgbClr val="2E7D5B"/>
            </a:solidFill>
            <a:prstDash val="solid"/>
          </a:ln>
        </p:spPr>
      </p:sp>
      <p:sp>
        <p:nvSpPr>
          <p:cNvPr id="18" name="Text 16"/>
          <p:cNvSpPr txBox="1"/>
          <p:nvPr/>
        </p:nvSpPr>
        <p:spPr>
          <a:xfrm>
            <a:off x="640080" y="4599432"/>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txBox="1"/>
          <p:nvPr/>
        </p:nvSpPr>
        <p:spPr>
          <a:xfrm>
            <a:off x="1298448" y="4498848"/>
            <a:ext cx="1024128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You have fourteen days to dispute anything</a:t>
            </a:r>
            <a:endParaRPr lang="en-US" sz="1450" dirty="0"/>
          </a:p>
        </p:txBody>
      </p:sp>
      <p:sp>
        <p:nvSpPr>
          <p:cNvPr id="20" name="Text 18"/>
          <p:cNvSpPr txBox="1"/>
          <p:nvPr/>
        </p:nvSpPr>
        <p:spPr>
          <a:xfrm>
            <a:off x="1298448" y="4782312"/>
            <a:ext cx="10241280" cy="475488"/>
          </a:xfrm>
          <a:prstGeom prst="rect">
            <a:avLst/>
          </a:prstGeom>
          <a:noFill/>
          <a:ln/>
        </p:spPr>
        <p:txBody>
          <a:bodyPr wrap="square" lIns="0" tIns="0" rIns="0" bIns="0" rtlCol="0" anchor="ctr"/>
          <a:lstStyle/>
          <a:p>
            <a:pPr indent="0" marL="0">
              <a:lnSpc>
                <a:spcPct val="110000"/>
              </a:lnSpc>
              <a:buNone/>
            </a:pPr>
            <a:r>
              <a:rPr lang="en-US" sz="1200" dirty="0">
                <a:solidFill>
                  <a:srgbClr val="5C6B73"/>
                </a:solidFill>
                <a:latin typeface="Calibri" pitchFamily="34" charset="0"/>
                <a:ea typeface="Calibri" pitchFamily="34" charset="-122"/>
                <a:cs typeface="Calibri" pitchFamily="34" charset="-120"/>
              </a:rPr>
              <a:t>If a figure is wrong, you say so, and a person reviews it. The route to challenge shipped at the same time as the numbers — not afterwards.</a:t>
            </a:r>
            <a:endParaRPr lang="en-US" sz="1200" dirty="0"/>
          </a:p>
        </p:txBody>
      </p:sp>
      <p:sp>
        <p:nvSpPr>
          <p:cNvPr id="21" name="Shape 19"/>
          <p:cNvSpPr/>
          <p:nvPr/>
        </p:nvSpPr>
        <p:spPr>
          <a:xfrm>
            <a:off x="640080" y="5340096"/>
            <a:ext cx="457200" cy="457200"/>
          </a:xfrm>
          <a:prstGeom prst="ellipse">
            <a:avLst/>
          </a:prstGeom>
          <a:solidFill>
            <a:srgbClr val="2E7D5B"/>
          </a:solidFill>
          <a:ln w="12700">
            <a:solidFill>
              <a:srgbClr val="2E7D5B"/>
            </a:solidFill>
            <a:prstDash val="solid"/>
          </a:ln>
        </p:spPr>
      </p:sp>
      <p:sp>
        <p:nvSpPr>
          <p:cNvPr id="22" name="Text 20"/>
          <p:cNvSpPr txBox="1"/>
          <p:nvPr/>
        </p:nvSpPr>
        <p:spPr>
          <a:xfrm>
            <a:off x="640080" y="5404104"/>
            <a:ext cx="457200"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3" name="Text 21"/>
          <p:cNvSpPr txBox="1"/>
          <p:nvPr/>
        </p:nvSpPr>
        <p:spPr>
          <a:xfrm>
            <a:off x="1298448" y="5303520"/>
            <a:ext cx="10241280" cy="274320"/>
          </a:xfrm>
          <a:prstGeom prst="rect">
            <a:avLst/>
          </a:prstGeom>
          <a:noFill/>
          <a:ln/>
        </p:spPr>
        <p:txBody>
          <a:bodyPr wrap="square" lIns="0" tIns="0" rIns="0" bIns="0" rtlCol="0" anchor="ctr"/>
          <a:lstStyle/>
          <a:p>
            <a:pPr indent="0" marL="0">
              <a:buNone/>
            </a:pPr>
            <a:r>
              <a:rPr lang="en-US" sz="1450" b="1" dirty="0">
                <a:solidFill>
                  <a:srgbClr val="0E2F3C"/>
                </a:solidFill>
                <a:latin typeface="Calibri" pitchFamily="34" charset="0"/>
                <a:ea typeface="Calibri" pitchFamily="34" charset="-122"/>
                <a:cs typeface="Calibri" pitchFamily="34" charset="-120"/>
              </a:rPr>
              <a:t>Sensitive work stays sensitive</a:t>
            </a:r>
            <a:endParaRPr lang="en-US" sz="1450" dirty="0"/>
          </a:p>
        </p:txBody>
      </p:sp>
      <p:sp>
        <p:nvSpPr>
          <p:cNvPr id="24" name="Text 22"/>
          <p:cNvSpPr txBox="1"/>
          <p:nvPr/>
        </p:nvSpPr>
        <p:spPr>
          <a:xfrm>
            <a:off x="1298448" y="5586984"/>
            <a:ext cx="10241280" cy="475488"/>
          </a:xfrm>
          <a:prstGeom prst="rect">
            <a:avLst/>
          </a:prstGeom>
          <a:noFill/>
          <a:ln/>
        </p:spPr>
        <p:txBody>
          <a:bodyPr wrap="square" lIns="0" tIns="0" rIns="0" bIns="0" rtlCol="0" anchor="ctr"/>
          <a:lstStyle/>
          <a:p>
            <a:pPr indent="0" marL="0">
              <a:lnSpc>
                <a:spcPct val="110000"/>
              </a:lnSpc>
              <a:buNone/>
            </a:pPr>
            <a:r>
              <a:rPr lang="en-US" sz="1200" dirty="0">
                <a:solidFill>
                  <a:srgbClr val="5C6B73"/>
                </a:solidFill>
                <a:latin typeface="Calibri" pitchFamily="34" charset="0"/>
                <a:ea typeface="Calibri" pitchFamily="34" charset="-122"/>
                <a:cs typeface="Calibri" pitchFamily="34" charset="-120"/>
              </a:rPr>
              <a:t>HR, legal and disciplinary matters are hidden from colleagues — and from system administrators. They remain visible to audit, because a control auditors cannot inspect is not a control.</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MEASUREMENT</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What we look at — and what we refuse to produce</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Five separate things, each read alongside the work behind it.</a:t>
            </a:r>
            <a:endParaRPr lang="en-US" sz="1500" dirty="0"/>
          </a:p>
        </p:txBody>
      </p:sp>
      <p:sp>
        <p:nvSpPr>
          <p:cNvPr id="5" name="Shape 3"/>
          <p:cNvSpPr/>
          <p:nvPr/>
        </p:nvSpPr>
        <p:spPr>
          <a:xfrm>
            <a:off x="640080" y="2103120"/>
            <a:ext cx="6035040" cy="548640"/>
          </a:xfrm>
          <a:prstGeom prst="roundRect">
            <a:avLst>
              <a:gd name="adj" fmla="val 13333"/>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6" name="Text 4"/>
          <p:cNvSpPr txBox="1"/>
          <p:nvPr/>
        </p:nvSpPr>
        <p:spPr>
          <a:xfrm>
            <a:off x="868680" y="2157984"/>
            <a:ext cx="1600200" cy="256032"/>
          </a:xfrm>
          <a:prstGeom prst="rect">
            <a:avLst/>
          </a:prstGeom>
          <a:noFill/>
          <a:ln/>
        </p:spPr>
        <p:txBody>
          <a:bodyPr wrap="square" lIns="0" tIns="0" rIns="0" bIns="0" rtlCol="0" anchor="ctr"/>
          <a:lstStyle/>
          <a:p>
            <a:pPr indent="0" marL="0">
              <a:buNone/>
            </a:pPr>
            <a:r>
              <a:rPr lang="en-US" sz="1350" b="1" dirty="0">
                <a:solidFill>
                  <a:srgbClr val="1F7A8C"/>
                </a:solidFill>
                <a:latin typeface="Calibri" pitchFamily="34" charset="0"/>
                <a:ea typeface="Calibri" pitchFamily="34" charset="-122"/>
                <a:cs typeface="Calibri" pitchFamily="34" charset="-120"/>
              </a:rPr>
              <a:t>Execution</a:t>
            </a:r>
            <a:endParaRPr lang="en-US" sz="1350" dirty="0"/>
          </a:p>
        </p:txBody>
      </p:sp>
      <p:sp>
        <p:nvSpPr>
          <p:cNvPr id="7" name="Text 5"/>
          <p:cNvSpPr txBox="1"/>
          <p:nvPr/>
        </p:nvSpPr>
        <p:spPr>
          <a:xfrm>
            <a:off x="2514600" y="2157984"/>
            <a:ext cx="3977640" cy="457200"/>
          </a:xfrm>
          <a:prstGeom prst="rect">
            <a:avLst/>
          </a:prstGeom>
          <a:noFill/>
          <a:ln/>
        </p:spPr>
        <p:txBody>
          <a:bodyPr wrap="square" lIns="0" tIns="0" rIns="0" bIns="0" rtlCol="0" anchor="ctr"/>
          <a:lstStyle/>
          <a:p>
            <a:pPr indent="0" marL="0">
              <a:lnSpc>
                <a:spcPct val="105000"/>
              </a:lnSpc>
              <a:buNone/>
            </a:pPr>
            <a:r>
              <a:rPr lang="en-US" sz="1150" dirty="0">
                <a:solidFill>
                  <a:srgbClr val="5C6B73"/>
                </a:solidFill>
                <a:latin typeface="Calibri" pitchFamily="34" charset="0"/>
                <a:ea typeface="Calibri" pitchFamily="34" charset="-122"/>
                <a:cs typeface="Calibri" pitchFamily="34" charset="-120"/>
              </a:rPr>
              <a:t>Of what you took on, how much you delivered.</a:t>
            </a:r>
            <a:endParaRPr lang="en-US" sz="1150" dirty="0"/>
          </a:p>
        </p:txBody>
      </p:sp>
      <p:sp>
        <p:nvSpPr>
          <p:cNvPr id="8" name="Shape 6"/>
          <p:cNvSpPr/>
          <p:nvPr/>
        </p:nvSpPr>
        <p:spPr>
          <a:xfrm>
            <a:off x="640080" y="2761488"/>
            <a:ext cx="6035040" cy="548640"/>
          </a:xfrm>
          <a:prstGeom prst="roundRect">
            <a:avLst>
              <a:gd name="adj" fmla="val 13333"/>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9" name="Text 7"/>
          <p:cNvSpPr txBox="1"/>
          <p:nvPr/>
        </p:nvSpPr>
        <p:spPr>
          <a:xfrm>
            <a:off x="868680" y="2816352"/>
            <a:ext cx="1600200" cy="256032"/>
          </a:xfrm>
          <a:prstGeom prst="rect">
            <a:avLst/>
          </a:prstGeom>
          <a:noFill/>
          <a:ln/>
        </p:spPr>
        <p:txBody>
          <a:bodyPr wrap="square" lIns="0" tIns="0" rIns="0" bIns="0" rtlCol="0" anchor="ctr"/>
          <a:lstStyle/>
          <a:p>
            <a:pPr indent="0" marL="0">
              <a:buNone/>
            </a:pPr>
            <a:r>
              <a:rPr lang="en-US" sz="1350" b="1" dirty="0">
                <a:solidFill>
                  <a:srgbClr val="1F7A8C"/>
                </a:solidFill>
                <a:latin typeface="Calibri" pitchFamily="34" charset="0"/>
                <a:ea typeface="Calibri" pitchFamily="34" charset="-122"/>
                <a:cs typeface="Calibri" pitchFamily="34" charset="-120"/>
              </a:rPr>
              <a:t>Timeliness</a:t>
            </a:r>
            <a:endParaRPr lang="en-US" sz="1350" dirty="0"/>
          </a:p>
        </p:txBody>
      </p:sp>
      <p:sp>
        <p:nvSpPr>
          <p:cNvPr id="10" name="Text 8"/>
          <p:cNvSpPr txBox="1"/>
          <p:nvPr/>
        </p:nvSpPr>
        <p:spPr>
          <a:xfrm>
            <a:off x="2514600" y="2816352"/>
            <a:ext cx="3977640" cy="457200"/>
          </a:xfrm>
          <a:prstGeom prst="rect">
            <a:avLst/>
          </a:prstGeom>
          <a:noFill/>
          <a:ln/>
        </p:spPr>
        <p:txBody>
          <a:bodyPr wrap="square" lIns="0" tIns="0" rIns="0" bIns="0" rtlCol="0" anchor="ctr"/>
          <a:lstStyle/>
          <a:p>
            <a:pPr indent="0" marL="0">
              <a:lnSpc>
                <a:spcPct val="105000"/>
              </a:lnSpc>
              <a:buNone/>
            </a:pPr>
            <a:r>
              <a:rPr lang="en-US" sz="1150" dirty="0">
                <a:solidFill>
                  <a:srgbClr val="5C6B73"/>
                </a:solidFill>
                <a:latin typeface="Calibri" pitchFamily="34" charset="0"/>
                <a:ea typeface="Calibri" pitchFamily="34" charset="-122"/>
                <a:cs typeface="Calibri" pitchFamily="34" charset="-120"/>
              </a:rPr>
              <a:t>Of your deadline-bound work, how much was on time — blocked time excluded.</a:t>
            </a:r>
            <a:endParaRPr lang="en-US" sz="1150" dirty="0"/>
          </a:p>
        </p:txBody>
      </p:sp>
      <p:sp>
        <p:nvSpPr>
          <p:cNvPr id="11" name="Shape 9"/>
          <p:cNvSpPr/>
          <p:nvPr/>
        </p:nvSpPr>
        <p:spPr>
          <a:xfrm>
            <a:off x="640080" y="3419856"/>
            <a:ext cx="6035040" cy="548640"/>
          </a:xfrm>
          <a:prstGeom prst="roundRect">
            <a:avLst>
              <a:gd name="adj" fmla="val 13333"/>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2" name="Text 10"/>
          <p:cNvSpPr txBox="1"/>
          <p:nvPr/>
        </p:nvSpPr>
        <p:spPr>
          <a:xfrm>
            <a:off x="868680" y="3474720"/>
            <a:ext cx="1600200" cy="256032"/>
          </a:xfrm>
          <a:prstGeom prst="rect">
            <a:avLst/>
          </a:prstGeom>
          <a:noFill/>
          <a:ln/>
        </p:spPr>
        <p:txBody>
          <a:bodyPr wrap="square" lIns="0" tIns="0" rIns="0" bIns="0" rtlCol="0" anchor="ctr"/>
          <a:lstStyle/>
          <a:p>
            <a:pPr indent="0" marL="0">
              <a:buNone/>
            </a:pPr>
            <a:r>
              <a:rPr lang="en-US" sz="1350" b="1" dirty="0">
                <a:solidFill>
                  <a:srgbClr val="1F7A8C"/>
                </a:solidFill>
                <a:latin typeface="Calibri" pitchFamily="34" charset="0"/>
                <a:ea typeface="Calibri" pitchFamily="34" charset="-122"/>
                <a:cs typeface="Calibri" pitchFamily="34" charset="-120"/>
              </a:rPr>
              <a:t>Quality</a:t>
            </a:r>
            <a:endParaRPr lang="en-US" sz="1350" dirty="0"/>
          </a:p>
        </p:txBody>
      </p:sp>
      <p:sp>
        <p:nvSpPr>
          <p:cNvPr id="13" name="Text 11"/>
          <p:cNvSpPr txBox="1"/>
          <p:nvPr/>
        </p:nvSpPr>
        <p:spPr>
          <a:xfrm>
            <a:off x="2514600" y="3474720"/>
            <a:ext cx="3977640" cy="457200"/>
          </a:xfrm>
          <a:prstGeom prst="rect">
            <a:avLst/>
          </a:prstGeom>
          <a:noFill/>
          <a:ln/>
        </p:spPr>
        <p:txBody>
          <a:bodyPr wrap="square" lIns="0" tIns="0" rIns="0" bIns="0" rtlCol="0" anchor="ctr"/>
          <a:lstStyle/>
          <a:p>
            <a:pPr indent="0" marL="0">
              <a:lnSpc>
                <a:spcPct val="105000"/>
              </a:lnSpc>
              <a:buNone/>
            </a:pPr>
            <a:r>
              <a:rPr lang="en-US" sz="1150" dirty="0">
                <a:solidFill>
                  <a:srgbClr val="5C6B73"/>
                </a:solidFill>
                <a:latin typeface="Calibri" pitchFamily="34" charset="0"/>
                <a:ea typeface="Calibri" pitchFamily="34" charset="-122"/>
                <a:cs typeface="Calibri" pitchFamily="34" charset="-120"/>
              </a:rPr>
              <a:t>Work that held up: not sent back or reopened.</a:t>
            </a:r>
            <a:endParaRPr lang="en-US" sz="1150" dirty="0"/>
          </a:p>
        </p:txBody>
      </p:sp>
      <p:sp>
        <p:nvSpPr>
          <p:cNvPr id="14" name="Shape 12"/>
          <p:cNvSpPr/>
          <p:nvPr/>
        </p:nvSpPr>
        <p:spPr>
          <a:xfrm>
            <a:off x="640080" y="4078224"/>
            <a:ext cx="6035040" cy="548640"/>
          </a:xfrm>
          <a:prstGeom prst="roundRect">
            <a:avLst>
              <a:gd name="adj" fmla="val 13333"/>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5" name="Text 13"/>
          <p:cNvSpPr txBox="1"/>
          <p:nvPr/>
        </p:nvSpPr>
        <p:spPr>
          <a:xfrm>
            <a:off x="868680" y="4133088"/>
            <a:ext cx="1600200" cy="256032"/>
          </a:xfrm>
          <a:prstGeom prst="rect">
            <a:avLst/>
          </a:prstGeom>
          <a:noFill/>
          <a:ln/>
        </p:spPr>
        <p:txBody>
          <a:bodyPr wrap="square" lIns="0" tIns="0" rIns="0" bIns="0" rtlCol="0" anchor="ctr"/>
          <a:lstStyle/>
          <a:p>
            <a:pPr indent="0" marL="0">
              <a:buNone/>
            </a:pPr>
            <a:r>
              <a:rPr lang="en-US" sz="1350" b="1" dirty="0">
                <a:solidFill>
                  <a:srgbClr val="1F7A8C"/>
                </a:solidFill>
                <a:latin typeface="Calibri" pitchFamily="34" charset="0"/>
                <a:ea typeface="Calibri" pitchFamily="34" charset="-122"/>
                <a:cs typeface="Calibri" pitchFamily="34" charset="-120"/>
              </a:rPr>
              <a:t>Governance</a:t>
            </a:r>
            <a:endParaRPr lang="en-US" sz="1350" dirty="0"/>
          </a:p>
        </p:txBody>
      </p:sp>
      <p:sp>
        <p:nvSpPr>
          <p:cNvPr id="16" name="Text 14"/>
          <p:cNvSpPr txBox="1"/>
          <p:nvPr/>
        </p:nvSpPr>
        <p:spPr>
          <a:xfrm>
            <a:off x="2514600" y="4133088"/>
            <a:ext cx="3977640" cy="457200"/>
          </a:xfrm>
          <a:prstGeom prst="rect">
            <a:avLst/>
          </a:prstGeom>
          <a:noFill/>
          <a:ln/>
        </p:spPr>
        <p:txBody>
          <a:bodyPr wrap="square" lIns="0" tIns="0" rIns="0" bIns="0" rtlCol="0" anchor="ctr"/>
          <a:lstStyle/>
          <a:p>
            <a:pPr indent="0" marL="0">
              <a:lnSpc>
                <a:spcPct val="105000"/>
              </a:lnSpc>
              <a:buNone/>
            </a:pPr>
            <a:r>
              <a:rPr lang="en-US" sz="1150" dirty="0">
                <a:solidFill>
                  <a:srgbClr val="5C6B73"/>
                </a:solidFill>
                <a:latin typeface="Calibri" pitchFamily="34" charset="0"/>
                <a:ea typeface="Calibri" pitchFamily="34" charset="-122"/>
                <a:cs typeface="Calibri" pitchFamily="34" charset="-120"/>
              </a:rPr>
              <a:t>The reviews and approvals your role owes.</a:t>
            </a:r>
            <a:endParaRPr lang="en-US" sz="1150" dirty="0"/>
          </a:p>
        </p:txBody>
      </p:sp>
      <p:sp>
        <p:nvSpPr>
          <p:cNvPr id="17" name="Shape 15"/>
          <p:cNvSpPr/>
          <p:nvPr/>
        </p:nvSpPr>
        <p:spPr>
          <a:xfrm>
            <a:off x="640080" y="4736592"/>
            <a:ext cx="6035040" cy="548640"/>
          </a:xfrm>
          <a:prstGeom prst="roundRect">
            <a:avLst>
              <a:gd name="adj" fmla="val 13333"/>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8" name="Text 16"/>
          <p:cNvSpPr txBox="1"/>
          <p:nvPr/>
        </p:nvSpPr>
        <p:spPr>
          <a:xfrm>
            <a:off x="868680" y="4791456"/>
            <a:ext cx="1600200" cy="256032"/>
          </a:xfrm>
          <a:prstGeom prst="rect">
            <a:avLst/>
          </a:prstGeom>
          <a:noFill/>
          <a:ln/>
        </p:spPr>
        <p:txBody>
          <a:bodyPr wrap="square" lIns="0" tIns="0" rIns="0" bIns="0" rtlCol="0" anchor="ctr"/>
          <a:lstStyle/>
          <a:p>
            <a:pPr indent="0" marL="0">
              <a:buNone/>
            </a:pPr>
            <a:r>
              <a:rPr lang="en-US" sz="1350" b="1" dirty="0">
                <a:solidFill>
                  <a:srgbClr val="1F7A8C"/>
                </a:solidFill>
                <a:latin typeface="Calibri" pitchFamily="34" charset="0"/>
                <a:ea typeface="Calibri" pitchFamily="34" charset="-122"/>
                <a:cs typeface="Calibri" pitchFamily="34" charset="-120"/>
              </a:rPr>
              <a:t>Contribution</a:t>
            </a:r>
            <a:endParaRPr lang="en-US" sz="1350" dirty="0"/>
          </a:p>
        </p:txBody>
      </p:sp>
      <p:sp>
        <p:nvSpPr>
          <p:cNvPr id="19" name="Text 17"/>
          <p:cNvSpPr txBox="1"/>
          <p:nvPr/>
        </p:nvSpPr>
        <p:spPr>
          <a:xfrm>
            <a:off x="2514600" y="4791456"/>
            <a:ext cx="3977640" cy="457200"/>
          </a:xfrm>
          <a:prstGeom prst="rect">
            <a:avLst/>
          </a:prstGeom>
          <a:noFill/>
          <a:ln/>
        </p:spPr>
        <p:txBody>
          <a:bodyPr wrap="square" lIns="0" tIns="0" rIns="0" bIns="0" rtlCol="0" anchor="ctr"/>
          <a:lstStyle/>
          <a:p>
            <a:pPr indent="0" marL="0">
              <a:lnSpc>
                <a:spcPct val="105000"/>
              </a:lnSpc>
              <a:buNone/>
            </a:pPr>
            <a:r>
              <a:rPr lang="en-US" sz="1150" dirty="0">
                <a:solidFill>
                  <a:srgbClr val="5C6B73"/>
                </a:solidFill>
                <a:latin typeface="Calibri" pitchFamily="34" charset="0"/>
                <a:ea typeface="Calibri" pitchFamily="34" charset="-122"/>
                <a:cs typeface="Calibri" pitchFamily="34" charset="-120"/>
              </a:rPr>
              <a:t>Work you picked up beyond your own remit.</a:t>
            </a:r>
            <a:endParaRPr lang="en-US" sz="1150" dirty="0"/>
          </a:p>
        </p:txBody>
      </p:sp>
      <p:sp>
        <p:nvSpPr>
          <p:cNvPr id="20" name="Shape 18"/>
          <p:cNvSpPr/>
          <p:nvPr/>
        </p:nvSpPr>
        <p:spPr>
          <a:xfrm>
            <a:off x="7178040" y="2103120"/>
            <a:ext cx="4370832" cy="3712464"/>
          </a:xfrm>
          <a:prstGeom prst="roundRect">
            <a:avLst>
              <a:gd name="adj" fmla="val 1970"/>
            </a:avLst>
          </a:prstGeom>
          <a:solidFill>
            <a:srgbClr val="F7E7E9"/>
          </a:solidFill>
          <a:ln w="12700">
            <a:solidFill>
              <a:srgbClr val="F7E7E9"/>
            </a:solidFill>
            <a:prstDash val="solid"/>
          </a:ln>
          <a:effectLst>
            <a:outerShdw sx="100000" sy="100000" kx="0" ky="0" algn="bl" rotWithShape="0" blurRad="127000" dist="25400" dir="5400000">
              <a:srgbClr val="0E2F3C">
                <a:alpha val="10000"/>
              </a:srgbClr>
            </a:outerShdw>
          </a:effectLst>
        </p:spPr>
      </p:sp>
      <p:sp>
        <p:nvSpPr>
          <p:cNvPr id="21" name="Shape 19"/>
          <p:cNvSpPr/>
          <p:nvPr/>
        </p:nvSpPr>
        <p:spPr>
          <a:xfrm>
            <a:off x="7498080" y="2423160"/>
            <a:ext cx="566928" cy="566928"/>
          </a:xfrm>
          <a:prstGeom prst="ellipse">
            <a:avLst/>
          </a:prstGeom>
          <a:solidFill>
            <a:srgbClr val="A8384A"/>
          </a:solidFill>
          <a:ln w="12700">
            <a:solidFill>
              <a:srgbClr val="A8384A"/>
            </a:solidFill>
            <a:prstDash val="solid"/>
          </a:ln>
        </p:spPr>
      </p:sp>
      <p:pic>
        <p:nvPicPr>
          <p:cNvPr id="22" name="Image 0" descr="preencoded.png">    </p:cNvPr>
          <p:cNvPicPr>
            <a:picLocks noChangeAspect="1"/>
          </p:cNvPicPr>
          <p:nvPr/>
        </p:nvPicPr>
        <p:blipFill>
          <a:blip r:embed="rId1"/>
          <a:stretch>
            <a:fillRect/>
          </a:stretch>
        </p:blipFill>
        <p:spPr>
          <a:xfrm>
            <a:off x="7639812" y="2564892"/>
            <a:ext cx="283464" cy="283464"/>
          </a:xfrm>
          <a:prstGeom prst="rect">
            <a:avLst/>
          </a:prstGeom>
        </p:spPr>
      </p:pic>
      <p:sp>
        <p:nvSpPr>
          <p:cNvPr id="23" name="Text 20"/>
          <p:cNvSpPr txBox="1"/>
          <p:nvPr/>
        </p:nvSpPr>
        <p:spPr>
          <a:xfrm>
            <a:off x="7498080" y="3154680"/>
            <a:ext cx="3749040" cy="566928"/>
          </a:xfrm>
          <a:prstGeom prst="rect">
            <a:avLst/>
          </a:prstGeom>
          <a:noFill/>
          <a:ln/>
        </p:spPr>
        <p:txBody>
          <a:bodyPr wrap="square" lIns="0" tIns="0" rIns="0" bIns="0" rtlCol="0" anchor="ctr"/>
          <a:lstStyle/>
          <a:p>
            <a:pPr indent="0" marL="0">
              <a:lnSpc>
                <a:spcPct val="110000"/>
              </a:lnSpc>
              <a:buNone/>
            </a:pPr>
            <a:r>
              <a:rPr lang="en-US" sz="2000" b="1" dirty="0">
                <a:solidFill>
                  <a:srgbClr val="0E2F3C"/>
                </a:solidFill>
                <a:latin typeface="Cambria" pitchFamily="34" charset="0"/>
                <a:ea typeface="Cambria" pitchFamily="34" charset="-122"/>
                <a:cs typeface="Cambria" pitchFamily="34" charset="-120"/>
              </a:rPr>
              <a:t>There is no overall score</a:t>
            </a:r>
            <a:endParaRPr lang="en-US" sz="2000" dirty="0"/>
          </a:p>
        </p:txBody>
      </p:sp>
      <p:sp>
        <p:nvSpPr>
          <p:cNvPr id="24" name="Text 21"/>
          <p:cNvSpPr txBox="1"/>
          <p:nvPr/>
        </p:nvSpPr>
        <p:spPr>
          <a:xfrm>
            <a:off x="7498080" y="3794760"/>
            <a:ext cx="3749040" cy="1828800"/>
          </a:xfrm>
          <a:prstGeom prst="rect">
            <a:avLst/>
          </a:prstGeom>
          <a:noFill/>
          <a:ln/>
        </p:spPr>
        <p:txBody>
          <a:bodyPr wrap="square" lIns="0" tIns="0" rIns="0" bIns="0" rtlCol="0" anchor="ctr"/>
          <a:lstStyle/>
          <a:p>
            <a:pPr indent="0" marL="0">
              <a:lnSpc>
                <a:spcPct val="112000"/>
              </a:lnSpc>
              <a:buNone/>
            </a:pPr>
            <a:r>
              <a:rPr lang="en-US" sz="1150" dirty="0">
                <a:solidFill>
                  <a:srgbClr val="16232A"/>
                </a:solidFill>
                <a:latin typeface="Calibri" pitchFamily="34" charset="0"/>
                <a:ea typeface="Calibri" pitchFamily="34" charset="-122"/>
                <a:cs typeface="Calibri" pitchFamily="34" charset="-120"/>
              </a:rPr>
              <a:t>We deliberately do not combine these five into a single number that ranks people.</a:t>
            </a:r>
            <a:endParaRPr lang="en-US" sz="1150" dirty="0"/>
          </a:p>
          <a:p>
            <a:pPr indent="0" marL="0">
              <a:lnSpc>
                <a:spcPct val="112000"/>
              </a:lnSpc>
              <a:buNone/>
            </a:pPr>
            <a:endParaRPr lang="en-US" sz="1150" dirty="0"/>
          </a:p>
          <a:p>
            <a:pPr indent="0" marL="0">
              <a:lnSpc>
                <a:spcPct val="112000"/>
              </a:lnSpc>
              <a:buNone/>
            </a:pPr>
            <a:r>
              <a:rPr lang="en-US" sz="1150" dirty="0">
                <a:solidFill>
                  <a:srgbClr val="16232A"/>
                </a:solidFill>
                <a:latin typeface="Calibri" pitchFamily="34" charset="0"/>
                <a:ea typeface="Calibri" pitchFamily="34" charset="-122"/>
                <a:cs typeface="Calibri" pitchFamily="34" charset="-120"/>
              </a:rPr>
              <a:t>A combined score is easy to build and easy to misuse — it gets quoted in a meeting long after everyone has forgotten what went into it.</a:t>
            </a:r>
            <a:endParaRPr lang="en-US" sz="1150" dirty="0"/>
          </a:p>
          <a:p>
            <a:pPr indent="0" marL="0">
              <a:lnSpc>
                <a:spcPct val="112000"/>
              </a:lnSpc>
              <a:buNone/>
            </a:pPr>
            <a:endParaRPr lang="en-US" sz="1150" dirty="0"/>
          </a:p>
          <a:p>
            <a:pPr indent="0" marL="0">
              <a:lnSpc>
                <a:spcPct val="112000"/>
              </a:lnSpc>
              <a:buNone/>
            </a:pPr>
            <a:r>
              <a:rPr lang="en-US" sz="1150" dirty="0">
                <a:solidFill>
                  <a:srgbClr val="16232A"/>
                </a:solidFill>
                <a:latin typeface="Calibri" pitchFamily="34" charset="0"/>
                <a:ea typeface="Calibri" pitchFamily="34" charset="-122"/>
                <a:cs typeface="Calibri" pitchFamily="34" charset="-120"/>
              </a:rPr>
              <a:t>If one is ever introduced, it will be only after HR has agreed it and it has run for a full quarter without counting for anything.</a:t>
            </a:r>
            <a:endParaRPr lang="en-US" sz="1150" dirty="0"/>
          </a:p>
        </p:txBody>
      </p:sp>
      <p:sp>
        <p:nvSpPr>
          <p:cNvPr id="25" name="Text 22"/>
          <p:cNvSpPr txBox="1"/>
          <p:nvPr/>
        </p:nvSpPr>
        <p:spPr>
          <a:xfrm>
            <a:off x="640080" y="5532120"/>
            <a:ext cx="6035040" cy="822960"/>
          </a:xfrm>
          <a:prstGeom prst="rect">
            <a:avLst/>
          </a:prstGeom>
          <a:noFill/>
          <a:ln/>
        </p:spPr>
        <p:txBody>
          <a:bodyPr wrap="square" lIns="0" tIns="0" rIns="0" bIns="0" rtlCol="0" anchor="ctr"/>
          <a:lstStyle/>
          <a:p>
            <a:pPr indent="0" marL="0">
              <a:lnSpc>
                <a:spcPct val="115000"/>
              </a:lnSpc>
              <a:buNone/>
            </a:pPr>
            <a:r>
              <a:rPr lang="en-US" sz="1150" i="1" dirty="0">
                <a:solidFill>
                  <a:srgbClr val="5C6B73"/>
                </a:solidFill>
                <a:latin typeface="Calibri" pitchFamily="34" charset="0"/>
                <a:ea typeface="Calibri" pitchFamily="34" charset="-122"/>
                <a:cs typeface="Calibri" pitchFamily="34" charset="-120"/>
              </a:rPr>
              <a:t>Each of these is a ratio against your own commitments — never against a colleague's volume. A compliance officer filing twelve returns a year and a support executive closing three hundred tickets a month are both measurable, fairly.</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GETTING THERE</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How we are rolling this out</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Department by department, not everyone at once. Dates confirmed nearer the time.</a:t>
            </a:r>
            <a:endParaRPr lang="en-US" sz="1500" dirty="0"/>
          </a:p>
        </p:txBody>
      </p:sp>
      <p:sp>
        <p:nvSpPr>
          <p:cNvPr id="5" name="Shape 3"/>
          <p:cNvSpPr/>
          <p:nvPr/>
        </p:nvSpPr>
        <p:spPr>
          <a:xfrm>
            <a:off x="640080" y="2286000"/>
            <a:ext cx="2103120" cy="2286000"/>
          </a:xfrm>
          <a:prstGeom prst="roundRect">
            <a:avLst>
              <a:gd name="adj" fmla="val 3478"/>
            </a:avLst>
          </a:prstGeom>
          <a:solidFill>
            <a:srgbClr val="0E2F3C"/>
          </a:solidFill>
          <a:ln w="12700">
            <a:solidFill>
              <a:srgbClr val="0E2F3C"/>
            </a:solidFill>
            <a:prstDash val="solid"/>
          </a:ln>
          <a:effectLst>
            <a:outerShdw sx="100000" sy="100000" kx="0" ky="0" algn="bl" rotWithShape="0" blurRad="127000" dist="25400" dir="5400000">
              <a:srgbClr val="0E2F3C">
                <a:alpha val="10000"/>
              </a:srgbClr>
            </a:outerShdw>
          </a:effectLst>
        </p:spPr>
      </p:sp>
      <p:sp>
        <p:nvSpPr>
          <p:cNvPr id="6" name="Text 4"/>
          <p:cNvSpPr txBox="1"/>
          <p:nvPr/>
        </p:nvSpPr>
        <p:spPr>
          <a:xfrm>
            <a:off x="841248" y="2487168"/>
            <a:ext cx="1700784" cy="237744"/>
          </a:xfrm>
          <a:prstGeom prst="rect">
            <a:avLst/>
          </a:prstGeom>
          <a:noFill/>
          <a:ln/>
        </p:spPr>
        <p:txBody>
          <a:bodyPr wrap="square" lIns="0" tIns="0" rIns="0" bIns="0" rtlCol="0" anchor="ctr"/>
          <a:lstStyle/>
          <a:p>
            <a:pPr indent="0" marL="0">
              <a:buNone/>
            </a:pPr>
            <a:r>
              <a:rPr lang="en-US" sz="1000" b="1" spc="160" kern="0" dirty="0">
                <a:solidFill>
                  <a:srgbClr val="D9822B"/>
                </a:solidFill>
                <a:latin typeface="Calibri" pitchFamily="34" charset="0"/>
                <a:ea typeface="Calibri" pitchFamily="34" charset="-122"/>
                <a:cs typeface="Calibri" pitchFamily="34" charset="-120"/>
              </a:rPr>
              <a:t>NOW</a:t>
            </a:r>
            <a:endParaRPr lang="en-US" sz="1000" dirty="0"/>
          </a:p>
        </p:txBody>
      </p:sp>
      <p:sp>
        <p:nvSpPr>
          <p:cNvPr id="7" name="Text 5"/>
          <p:cNvSpPr txBox="1"/>
          <p:nvPr/>
        </p:nvSpPr>
        <p:spPr>
          <a:xfrm>
            <a:off x="841248" y="2761488"/>
            <a:ext cx="1700784" cy="566928"/>
          </a:xfrm>
          <a:prstGeom prst="rect">
            <a:avLst/>
          </a:prstGeom>
          <a:noFill/>
          <a:ln/>
        </p:spPr>
        <p:txBody>
          <a:bodyPr wrap="square" lIns="0" tIns="0" rIns="0" bIns="0" rtlCol="0" anchor="ctr"/>
          <a:lstStyle/>
          <a:p>
            <a:pPr indent="0" marL="0">
              <a:lnSpc>
                <a:spcPct val="108000"/>
              </a:lnSpc>
              <a:buNone/>
            </a:pPr>
            <a:r>
              <a:rPr lang="en-US" sz="1600" b="1" dirty="0">
                <a:solidFill>
                  <a:srgbClr val="FFFFFF"/>
                </a:solidFill>
                <a:latin typeface="Cambria" pitchFamily="34" charset="0"/>
                <a:ea typeface="Cambria" pitchFamily="34" charset="-122"/>
                <a:cs typeface="Cambria" pitchFamily="34" charset="-120"/>
              </a:rPr>
              <a:t>Built and tested</a:t>
            </a:r>
            <a:endParaRPr lang="en-US" sz="1600" dirty="0"/>
          </a:p>
        </p:txBody>
      </p:sp>
      <p:sp>
        <p:nvSpPr>
          <p:cNvPr id="8" name="Text 6"/>
          <p:cNvSpPr txBox="1"/>
          <p:nvPr/>
        </p:nvSpPr>
        <p:spPr>
          <a:xfrm>
            <a:off x="841248" y="3401568"/>
            <a:ext cx="1700784" cy="1005840"/>
          </a:xfrm>
          <a:prstGeom prst="rect">
            <a:avLst/>
          </a:prstGeom>
          <a:noFill/>
          <a:ln/>
        </p:spPr>
        <p:txBody>
          <a:bodyPr wrap="square" lIns="0" tIns="0" rIns="0" bIns="0" rtlCol="0" anchor="ctr"/>
          <a:lstStyle/>
          <a:p>
            <a:pPr indent="0" marL="0">
              <a:lnSpc>
                <a:spcPct val="112000"/>
              </a:lnSpc>
              <a:buNone/>
            </a:pPr>
            <a:r>
              <a:rPr lang="en-US" sz="1150" dirty="0">
                <a:solidFill>
                  <a:srgbClr val="A9C3CC"/>
                </a:solidFill>
                <a:latin typeface="Calibri" pitchFamily="34" charset="0"/>
                <a:ea typeface="Calibri" pitchFamily="34" charset="-122"/>
                <a:cs typeface="Calibri" pitchFamily="34" charset="-120"/>
              </a:rPr>
              <a:t>The platform is complete and verified end to end.</a:t>
            </a:r>
            <a:endParaRPr lang="en-US" sz="1150" dirty="0"/>
          </a:p>
        </p:txBody>
      </p:sp>
      <p:sp>
        <p:nvSpPr>
          <p:cNvPr id="9" name="Shape 7"/>
          <p:cNvSpPr/>
          <p:nvPr/>
        </p:nvSpPr>
        <p:spPr>
          <a:xfrm>
            <a:off x="2962656" y="2286000"/>
            <a:ext cx="2103120" cy="2286000"/>
          </a:xfrm>
          <a:prstGeom prst="roundRect">
            <a:avLst>
              <a:gd name="adj" fmla="val 3478"/>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0" name="Text 8"/>
          <p:cNvSpPr txBox="1"/>
          <p:nvPr/>
        </p:nvSpPr>
        <p:spPr>
          <a:xfrm>
            <a:off x="3163824" y="2487168"/>
            <a:ext cx="1700784" cy="237744"/>
          </a:xfrm>
          <a:prstGeom prst="rect">
            <a:avLst/>
          </a:prstGeom>
          <a:noFill/>
          <a:ln/>
        </p:spPr>
        <p:txBody>
          <a:bodyPr wrap="square" lIns="0" tIns="0" rIns="0" bIns="0" rtlCol="0" anchor="ctr"/>
          <a:lstStyle/>
          <a:p>
            <a:pPr indent="0" marL="0">
              <a:buNone/>
            </a:pPr>
            <a:r>
              <a:rPr lang="en-US" sz="1000" b="1" spc="160" kern="0" dirty="0">
                <a:solidFill>
                  <a:srgbClr val="1F7A8C"/>
                </a:solidFill>
                <a:latin typeface="Calibri" pitchFamily="34" charset="0"/>
                <a:ea typeface="Calibri" pitchFamily="34" charset="-122"/>
                <a:cs typeface="Calibri" pitchFamily="34" charset="-120"/>
              </a:rPr>
              <a:t>STEP 1</a:t>
            </a:r>
            <a:endParaRPr lang="en-US" sz="1000" dirty="0"/>
          </a:p>
        </p:txBody>
      </p:sp>
      <p:sp>
        <p:nvSpPr>
          <p:cNvPr id="11" name="Text 9"/>
          <p:cNvSpPr txBox="1"/>
          <p:nvPr/>
        </p:nvSpPr>
        <p:spPr>
          <a:xfrm>
            <a:off x="3163824" y="2761488"/>
            <a:ext cx="1700784" cy="566928"/>
          </a:xfrm>
          <a:prstGeom prst="rect">
            <a:avLst/>
          </a:prstGeom>
          <a:noFill/>
          <a:ln/>
        </p:spPr>
        <p:txBody>
          <a:bodyPr wrap="square" lIns="0" tIns="0" rIns="0" bIns="0" rtlCol="0" anchor="ctr"/>
          <a:lstStyle/>
          <a:p>
            <a:pPr indent="0" marL="0">
              <a:lnSpc>
                <a:spcPct val="108000"/>
              </a:lnSpc>
              <a:buNone/>
            </a:pPr>
            <a:r>
              <a:rPr lang="en-US" sz="1600" b="1" dirty="0">
                <a:solidFill>
                  <a:srgbClr val="0E2F3C"/>
                </a:solidFill>
                <a:latin typeface="Cambria" pitchFamily="34" charset="0"/>
                <a:ea typeface="Cambria" pitchFamily="34" charset="-122"/>
                <a:cs typeface="Cambria" pitchFamily="34" charset="-120"/>
              </a:rPr>
              <a:t>Pilot department</a:t>
            </a:r>
            <a:endParaRPr lang="en-US" sz="1600" dirty="0"/>
          </a:p>
        </p:txBody>
      </p:sp>
      <p:sp>
        <p:nvSpPr>
          <p:cNvPr id="12" name="Text 10"/>
          <p:cNvSpPr txBox="1"/>
          <p:nvPr/>
        </p:nvSpPr>
        <p:spPr>
          <a:xfrm>
            <a:off x="3163824" y="3401568"/>
            <a:ext cx="1700784" cy="1005840"/>
          </a:xfrm>
          <a:prstGeom prst="rect">
            <a:avLst/>
          </a:prstGeom>
          <a:noFill/>
          <a:ln/>
        </p:spPr>
        <p:txBody>
          <a:bodyPr wrap="square" lIns="0" tIns="0" rIns="0" bIns="0" rtlCol="0" anchor="ctr"/>
          <a:lstStyle/>
          <a:p>
            <a:pPr indent="0" marL="0">
              <a:lnSpc>
                <a:spcPct val="112000"/>
              </a:lnSpc>
              <a:buNone/>
            </a:pPr>
            <a:r>
              <a:rPr lang="en-US" sz="1150" dirty="0">
                <a:solidFill>
                  <a:srgbClr val="5C6B73"/>
                </a:solidFill>
                <a:latin typeface="Calibri" pitchFamily="34" charset="0"/>
                <a:ea typeface="Calibri" pitchFamily="34" charset="-122"/>
                <a:cs typeface="Calibri" pitchFamily="34" charset="-120"/>
              </a:rPr>
              <a:t>One department runs it for a full month. We fix what annoys them.</a:t>
            </a:r>
            <a:endParaRPr lang="en-US" sz="1150" dirty="0"/>
          </a:p>
        </p:txBody>
      </p:sp>
      <p:sp>
        <p:nvSpPr>
          <p:cNvPr id="13" name="Shape 11"/>
          <p:cNvSpPr/>
          <p:nvPr/>
        </p:nvSpPr>
        <p:spPr>
          <a:xfrm>
            <a:off x="5285232" y="2286000"/>
            <a:ext cx="2103120" cy="2286000"/>
          </a:xfrm>
          <a:prstGeom prst="roundRect">
            <a:avLst>
              <a:gd name="adj" fmla="val 3478"/>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4" name="Text 12"/>
          <p:cNvSpPr txBox="1"/>
          <p:nvPr/>
        </p:nvSpPr>
        <p:spPr>
          <a:xfrm>
            <a:off x="5486400" y="2487168"/>
            <a:ext cx="1700784" cy="237744"/>
          </a:xfrm>
          <a:prstGeom prst="rect">
            <a:avLst/>
          </a:prstGeom>
          <a:noFill/>
          <a:ln/>
        </p:spPr>
        <p:txBody>
          <a:bodyPr wrap="square" lIns="0" tIns="0" rIns="0" bIns="0" rtlCol="0" anchor="ctr"/>
          <a:lstStyle/>
          <a:p>
            <a:pPr indent="0" marL="0">
              <a:buNone/>
            </a:pPr>
            <a:r>
              <a:rPr lang="en-US" sz="1000" b="1" spc="160" kern="0" dirty="0">
                <a:solidFill>
                  <a:srgbClr val="1F7A8C"/>
                </a:solidFill>
                <a:latin typeface="Calibri" pitchFamily="34" charset="0"/>
                <a:ea typeface="Calibri" pitchFamily="34" charset="-122"/>
                <a:cs typeface="Calibri" pitchFamily="34" charset="-120"/>
              </a:rPr>
              <a:t>STEP 2</a:t>
            </a:r>
            <a:endParaRPr lang="en-US" sz="1000" dirty="0"/>
          </a:p>
        </p:txBody>
      </p:sp>
      <p:sp>
        <p:nvSpPr>
          <p:cNvPr id="15" name="Text 13"/>
          <p:cNvSpPr txBox="1"/>
          <p:nvPr/>
        </p:nvSpPr>
        <p:spPr>
          <a:xfrm>
            <a:off x="5486400" y="2761488"/>
            <a:ext cx="1700784" cy="566928"/>
          </a:xfrm>
          <a:prstGeom prst="rect">
            <a:avLst/>
          </a:prstGeom>
          <a:noFill/>
          <a:ln/>
        </p:spPr>
        <p:txBody>
          <a:bodyPr wrap="square" lIns="0" tIns="0" rIns="0" bIns="0" rtlCol="0" anchor="ctr"/>
          <a:lstStyle/>
          <a:p>
            <a:pPr indent="0" marL="0">
              <a:lnSpc>
                <a:spcPct val="108000"/>
              </a:lnSpc>
              <a:buNone/>
            </a:pPr>
            <a:r>
              <a:rPr lang="en-US" sz="1600" b="1" dirty="0">
                <a:solidFill>
                  <a:srgbClr val="0E2F3C"/>
                </a:solidFill>
                <a:latin typeface="Cambria" pitchFamily="34" charset="0"/>
                <a:ea typeface="Cambria" pitchFamily="34" charset="-122"/>
                <a:cs typeface="Cambria" pitchFamily="34" charset="-120"/>
              </a:rPr>
              <a:t>Desk cards</a:t>
            </a:r>
            <a:endParaRPr lang="en-US" sz="1600" dirty="0"/>
          </a:p>
        </p:txBody>
      </p:sp>
      <p:sp>
        <p:nvSpPr>
          <p:cNvPr id="16" name="Text 14"/>
          <p:cNvSpPr txBox="1"/>
          <p:nvPr/>
        </p:nvSpPr>
        <p:spPr>
          <a:xfrm>
            <a:off x="5486400" y="3401568"/>
            <a:ext cx="1700784" cy="1005840"/>
          </a:xfrm>
          <a:prstGeom prst="rect">
            <a:avLst/>
          </a:prstGeom>
          <a:noFill/>
          <a:ln/>
        </p:spPr>
        <p:txBody>
          <a:bodyPr wrap="square" lIns="0" tIns="0" rIns="0" bIns="0" rtlCol="0" anchor="ctr"/>
          <a:lstStyle/>
          <a:p>
            <a:pPr indent="0" marL="0">
              <a:lnSpc>
                <a:spcPct val="112000"/>
              </a:lnSpc>
              <a:buNone/>
            </a:pPr>
            <a:r>
              <a:rPr lang="en-US" sz="1150" dirty="0">
                <a:solidFill>
                  <a:srgbClr val="5C6B73"/>
                </a:solidFill>
                <a:latin typeface="Calibri" pitchFamily="34" charset="0"/>
                <a:ea typeface="Calibri" pitchFamily="34" charset="-122"/>
                <a:cs typeface="Calibri" pitchFamily="34" charset="-120"/>
              </a:rPr>
              <a:t>Every manager drafts desk cards with their team. This is the real work of the rollout.</a:t>
            </a:r>
            <a:endParaRPr lang="en-US" sz="1150" dirty="0"/>
          </a:p>
        </p:txBody>
      </p:sp>
      <p:sp>
        <p:nvSpPr>
          <p:cNvPr id="17" name="Shape 15"/>
          <p:cNvSpPr/>
          <p:nvPr/>
        </p:nvSpPr>
        <p:spPr>
          <a:xfrm>
            <a:off x="7607808" y="2286000"/>
            <a:ext cx="2103120" cy="2286000"/>
          </a:xfrm>
          <a:prstGeom prst="roundRect">
            <a:avLst>
              <a:gd name="adj" fmla="val 3478"/>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8" name="Text 16"/>
          <p:cNvSpPr txBox="1"/>
          <p:nvPr/>
        </p:nvSpPr>
        <p:spPr>
          <a:xfrm>
            <a:off x="7808976" y="2487168"/>
            <a:ext cx="1700784" cy="237744"/>
          </a:xfrm>
          <a:prstGeom prst="rect">
            <a:avLst/>
          </a:prstGeom>
          <a:noFill/>
          <a:ln/>
        </p:spPr>
        <p:txBody>
          <a:bodyPr wrap="square" lIns="0" tIns="0" rIns="0" bIns="0" rtlCol="0" anchor="ctr"/>
          <a:lstStyle/>
          <a:p>
            <a:pPr indent="0" marL="0">
              <a:buNone/>
            </a:pPr>
            <a:r>
              <a:rPr lang="en-US" sz="1000" b="1" spc="160" kern="0" dirty="0">
                <a:solidFill>
                  <a:srgbClr val="1F7A8C"/>
                </a:solidFill>
                <a:latin typeface="Calibri" pitchFamily="34" charset="0"/>
                <a:ea typeface="Calibri" pitchFamily="34" charset="-122"/>
                <a:cs typeface="Calibri" pitchFamily="34" charset="-120"/>
              </a:rPr>
              <a:t>STEP 3</a:t>
            </a:r>
            <a:endParaRPr lang="en-US" sz="1000" dirty="0"/>
          </a:p>
        </p:txBody>
      </p:sp>
      <p:sp>
        <p:nvSpPr>
          <p:cNvPr id="19" name="Text 17"/>
          <p:cNvSpPr txBox="1"/>
          <p:nvPr/>
        </p:nvSpPr>
        <p:spPr>
          <a:xfrm>
            <a:off x="7808976" y="2761488"/>
            <a:ext cx="1700784" cy="566928"/>
          </a:xfrm>
          <a:prstGeom prst="rect">
            <a:avLst/>
          </a:prstGeom>
          <a:noFill/>
          <a:ln/>
        </p:spPr>
        <p:txBody>
          <a:bodyPr wrap="square" lIns="0" tIns="0" rIns="0" bIns="0" rtlCol="0" anchor="ctr"/>
          <a:lstStyle/>
          <a:p>
            <a:pPr indent="0" marL="0">
              <a:lnSpc>
                <a:spcPct val="108000"/>
              </a:lnSpc>
              <a:buNone/>
            </a:pPr>
            <a:r>
              <a:rPr lang="en-US" sz="1600" b="1" dirty="0">
                <a:solidFill>
                  <a:srgbClr val="0E2F3C"/>
                </a:solidFill>
                <a:latin typeface="Cambria" pitchFamily="34" charset="0"/>
                <a:ea typeface="Cambria" pitchFamily="34" charset="-122"/>
                <a:cs typeface="Cambria" pitchFamily="34" charset="-120"/>
              </a:rPr>
              <a:t>Phased go-live</a:t>
            </a:r>
            <a:endParaRPr lang="en-US" sz="1600" dirty="0"/>
          </a:p>
        </p:txBody>
      </p:sp>
      <p:sp>
        <p:nvSpPr>
          <p:cNvPr id="20" name="Text 18"/>
          <p:cNvSpPr txBox="1"/>
          <p:nvPr/>
        </p:nvSpPr>
        <p:spPr>
          <a:xfrm>
            <a:off x="7808976" y="3401568"/>
            <a:ext cx="1700784" cy="1005840"/>
          </a:xfrm>
          <a:prstGeom prst="rect">
            <a:avLst/>
          </a:prstGeom>
          <a:noFill/>
          <a:ln/>
        </p:spPr>
        <p:txBody>
          <a:bodyPr wrap="square" lIns="0" tIns="0" rIns="0" bIns="0" rtlCol="0" anchor="ctr"/>
          <a:lstStyle/>
          <a:p>
            <a:pPr indent="0" marL="0">
              <a:lnSpc>
                <a:spcPct val="112000"/>
              </a:lnSpc>
              <a:buNone/>
            </a:pPr>
            <a:r>
              <a:rPr lang="en-US" sz="1150" dirty="0">
                <a:solidFill>
                  <a:srgbClr val="5C6B73"/>
                </a:solidFill>
                <a:latin typeface="Calibri" pitchFamily="34" charset="0"/>
                <a:ea typeface="Calibri" pitchFamily="34" charset="-122"/>
                <a:cs typeface="Calibri" pitchFamily="34" charset="-120"/>
              </a:rPr>
              <a:t>Department by department, with training and a named helper in each.</a:t>
            </a:r>
            <a:endParaRPr lang="en-US" sz="1150" dirty="0"/>
          </a:p>
        </p:txBody>
      </p:sp>
      <p:sp>
        <p:nvSpPr>
          <p:cNvPr id="21" name="Shape 19"/>
          <p:cNvSpPr/>
          <p:nvPr/>
        </p:nvSpPr>
        <p:spPr>
          <a:xfrm>
            <a:off x="9930384" y="2286000"/>
            <a:ext cx="2103120" cy="2286000"/>
          </a:xfrm>
          <a:prstGeom prst="roundRect">
            <a:avLst>
              <a:gd name="adj" fmla="val 3478"/>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22" name="Text 20"/>
          <p:cNvSpPr txBox="1"/>
          <p:nvPr/>
        </p:nvSpPr>
        <p:spPr>
          <a:xfrm>
            <a:off x="10131552" y="2487168"/>
            <a:ext cx="1700784" cy="237744"/>
          </a:xfrm>
          <a:prstGeom prst="rect">
            <a:avLst/>
          </a:prstGeom>
          <a:noFill/>
          <a:ln/>
        </p:spPr>
        <p:txBody>
          <a:bodyPr wrap="square" lIns="0" tIns="0" rIns="0" bIns="0" rtlCol="0" anchor="ctr"/>
          <a:lstStyle/>
          <a:p>
            <a:pPr indent="0" marL="0">
              <a:buNone/>
            </a:pPr>
            <a:r>
              <a:rPr lang="en-US" sz="1000" b="1" spc="160" kern="0" dirty="0">
                <a:solidFill>
                  <a:srgbClr val="1F7A8C"/>
                </a:solidFill>
                <a:latin typeface="Calibri" pitchFamily="34" charset="0"/>
                <a:ea typeface="Calibri" pitchFamily="34" charset="-122"/>
                <a:cs typeface="Calibri" pitchFamily="34" charset="-120"/>
              </a:rPr>
              <a:t>STEP 4</a:t>
            </a:r>
            <a:endParaRPr lang="en-US" sz="1000" dirty="0"/>
          </a:p>
        </p:txBody>
      </p:sp>
      <p:sp>
        <p:nvSpPr>
          <p:cNvPr id="23" name="Text 21"/>
          <p:cNvSpPr txBox="1"/>
          <p:nvPr/>
        </p:nvSpPr>
        <p:spPr>
          <a:xfrm>
            <a:off x="10131552" y="2761488"/>
            <a:ext cx="1700784" cy="566928"/>
          </a:xfrm>
          <a:prstGeom prst="rect">
            <a:avLst/>
          </a:prstGeom>
          <a:noFill/>
          <a:ln/>
        </p:spPr>
        <p:txBody>
          <a:bodyPr wrap="square" lIns="0" tIns="0" rIns="0" bIns="0" rtlCol="0" anchor="ctr"/>
          <a:lstStyle/>
          <a:p>
            <a:pPr indent="0" marL="0">
              <a:lnSpc>
                <a:spcPct val="108000"/>
              </a:lnSpc>
              <a:buNone/>
            </a:pPr>
            <a:r>
              <a:rPr lang="en-US" sz="1600" b="1" dirty="0">
                <a:solidFill>
                  <a:srgbClr val="0E2F3C"/>
                </a:solidFill>
                <a:latin typeface="Cambria" pitchFamily="34" charset="0"/>
                <a:ea typeface="Cambria" pitchFamily="34" charset="-122"/>
                <a:cs typeface="Cambria" pitchFamily="34" charset="-120"/>
              </a:rPr>
              <a:t>Reporting on</a:t>
            </a:r>
            <a:endParaRPr lang="en-US" sz="1600" dirty="0"/>
          </a:p>
        </p:txBody>
      </p:sp>
      <p:sp>
        <p:nvSpPr>
          <p:cNvPr id="24" name="Text 22"/>
          <p:cNvSpPr txBox="1"/>
          <p:nvPr/>
        </p:nvSpPr>
        <p:spPr>
          <a:xfrm>
            <a:off x="10131552" y="3401568"/>
            <a:ext cx="1700784" cy="1005840"/>
          </a:xfrm>
          <a:prstGeom prst="rect">
            <a:avLst/>
          </a:prstGeom>
          <a:noFill/>
          <a:ln/>
        </p:spPr>
        <p:txBody>
          <a:bodyPr wrap="square" lIns="0" tIns="0" rIns="0" bIns="0" rtlCol="0" anchor="ctr"/>
          <a:lstStyle/>
          <a:p>
            <a:pPr indent="0" marL="0">
              <a:lnSpc>
                <a:spcPct val="112000"/>
              </a:lnSpc>
              <a:buNone/>
            </a:pPr>
            <a:r>
              <a:rPr lang="en-US" sz="1150" dirty="0">
                <a:solidFill>
                  <a:srgbClr val="5C6B73"/>
                </a:solidFill>
                <a:latin typeface="Calibri" pitchFamily="34" charset="0"/>
                <a:ea typeface="Calibri" pitchFamily="34" charset="-122"/>
                <a:cs typeface="Calibri" pitchFamily="34" charset="-120"/>
              </a:rPr>
              <a:t>Analytics only after everyone has used it long enough for the data to mean something.</a:t>
            </a:r>
            <a:endParaRPr lang="en-US" sz="1150" dirty="0"/>
          </a:p>
        </p:txBody>
      </p:sp>
      <p:sp>
        <p:nvSpPr>
          <p:cNvPr id="25" name="Shape 23"/>
          <p:cNvSpPr/>
          <p:nvPr/>
        </p:nvSpPr>
        <p:spPr>
          <a:xfrm>
            <a:off x="640080" y="4864608"/>
            <a:ext cx="10911535" cy="987552"/>
          </a:xfrm>
          <a:prstGeom prst="roundRect">
            <a:avLst>
              <a:gd name="adj" fmla="val 7407"/>
            </a:avLst>
          </a:prstGeom>
          <a:solidFill>
            <a:srgbClr val="FBEEDC"/>
          </a:solidFill>
          <a:ln w="12700">
            <a:solidFill>
              <a:srgbClr val="FBEEDC"/>
            </a:solidFill>
            <a:prstDash val="solid"/>
          </a:ln>
          <a:effectLst>
            <a:outerShdw sx="100000" sy="100000" kx="0" ky="0" algn="bl" rotWithShape="0" blurRad="127000" dist="25400" dir="5400000">
              <a:srgbClr val="0E2F3C">
                <a:alpha val="10000"/>
              </a:srgbClr>
            </a:outerShdw>
          </a:effectLst>
        </p:spPr>
      </p:sp>
      <p:sp>
        <p:nvSpPr>
          <p:cNvPr id="26" name="Shape 24"/>
          <p:cNvSpPr/>
          <p:nvPr/>
        </p:nvSpPr>
        <p:spPr>
          <a:xfrm>
            <a:off x="932688" y="5102352"/>
            <a:ext cx="493776" cy="493776"/>
          </a:xfrm>
          <a:prstGeom prst="ellipse">
            <a:avLst/>
          </a:prstGeom>
          <a:solidFill>
            <a:srgbClr val="FFFFFF"/>
          </a:solidFill>
          <a:ln w="12700">
            <a:solidFill>
              <a:srgbClr val="FFFFFF"/>
            </a:solidFill>
            <a:prstDash val="solid"/>
          </a:ln>
        </p:spPr>
      </p:sp>
      <p:pic>
        <p:nvPicPr>
          <p:cNvPr id="27" name="Image 0" descr="preencoded.png">    </p:cNvPr>
          <p:cNvPicPr>
            <a:picLocks noChangeAspect="1"/>
          </p:cNvPicPr>
          <p:nvPr/>
        </p:nvPicPr>
        <p:blipFill>
          <a:blip r:embed="rId1"/>
          <a:stretch>
            <a:fillRect/>
          </a:stretch>
        </p:blipFill>
        <p:spPr>
          <a:xfrm>
            <a:off x="1006754" y="5171481"/>
            <a:ext cx="355519" cy="355519"/>
          </a:xfrm>
          <a:prstGeom prst="rect">
            <a:avLst/>
          </a:prstGeom>
        </p:spPr>
      </p:pic>
      <p:sp>
        <p:nvSpPr>
          <p:cNvPr id="28" name="Text 25"/>
          <p:cNvSpPr txBox="1"/>
          <p:nvPr/>
        </p:nvSpPr>
        <p:spPr>
          <a:xfrm>
            <a:off x="1572768" y="5138928"/>
            <a:ext cx="9601200" cy="457200"/>
          </a:xfrm>
          <a:prstGeom prst="rect">
            <a:avLst/>
          </a:prstGeom>
          <a:noFill/>
          <a:ln/>
        </p:spPr>
        <p:txBody>
          <a:bodyPr wrap="square" lIns="0" tIns="0" rIns="0" bIns="0" rtlCol="0" anchor="ctr"/>
          <a:lstStyle/>
          <a:p>
            <a:pPr indent="0" marL="0">
              <a:lnSpc>
                <a:spcPct val="110000"/>
              </a:lnSpc>
              <a:buNone/>
            </a:pPr>
            <a:r>
              <a:rPr lang="en-US" sz="1350" b="1" dirty="0">
                <a:solidFill>
                  <a:srgbClr val="0E2F3C"/>
                </a:solidFill>
                <a:latin typeface="Calibri" pitchFamily="34" charset="0"/>
                <a:ea typeface="Calibri" pitchFamily="34" charset="-122"/>
                <a:cs typeface="Calibri" pitchFamily="34" charset="-120"/>
              </a:rPr>
              <a:t>Nobody is measured on a period they did not know they were being measured in. Reporting is the last step, not the first.</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YOUR PART</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What we need from you</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Four asks. Three of them are small.</a:t>
            </a:r>
            <a:endParaRPr lang="en-US" sz="1500" dirty="0"/>
          </a:p>
        </p:txBody>
      </p:sp>
      <p:sp>
        <p:nvSpPr>
          <p:cNvPr id="5" name="Shape 3"/>
          <p:cNvSpPr/>
          <p:nvPr/>
        </p:nvSpPr>
        <p:spPr>
          <a:xfrm>
            <a:off x="640080" y="2148840"/>
            <a:ext cx="5303520" cy="1536192"/>
          </a:xfrm>
          <a:prstGeom prst="roundRect">
            <a:avLst>
              <a:gd name="adj" fmla="val 4762"/>
            </a:avLst>
          </a:prstGeom>
          <a:solidFill>
            <a:srgbClr val="E3EFF2"/>
          </a:solidFill>
          <a:ln w="12700">
            <a:solidFill>
              <a:srgbClr val="E3EFF2"/>
            </a:solidFill>
            <a:prstDash val="solid"/>
          </a:ln>
          <a:effectLst>
            <a:outerShdw sx="100000" sy="100000" kx="0" ky="0" algn="bl" rotWithShape="0" blurRad="127000" dist="25400" dir="5400000">
              <a:srgbClr val="0E2F3C">
                <a:alpha val="10000"/>
              </a:srgbClr>
            </a:outerShdw>
          </a:effectLst>
        </p:spPr>
      </p:sp>
      <p:sp>
        <p:nvSpPr>
          <p:cNvPr id="6" name="Shape 4"/>
          <p:cNvSpPr/>
          <p:nvPr/>
        </p:nvSpPr>
        <p:spPr>
          <a:xfrm>
            <a:off x="932688" y="2423160"/>
            <a:ext cx="530352" cy="530352"/>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1012241" y="2497409"/>
            <a:ext cx="381853" cy="381853"/>
          </a:xfrm>
          <a:prstGeom prst="rect">
            <a:avLst/>
          </a:prstGeom>
        </p:spPr>
      </p:pic>
      <p:sp>
        <p:nvSpPr>
          <p:cNvPr id="8" name="Text 5"/>
          <p:cNvSpPr txBox="1"/>
          <p:nvPr/>
        </p:nvSpPr>
        <p:spPr>
          <a:xfrm>
            <a:off x="1609344" y="2423160"/>
            <a:ext cx="4114800" cy="292608"/>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If you do the work</a:t>
            </a:r>
            <a:endParaRPr lang="en-US" sz="1500" dirty="0"/>
          </a:p>
        </p:txBody>
      </p:sp>
      <p:sp>
        <p:nvSpPr>
          <p:cNvPr id="9" name="Text 6"/>
          <p:cNvSpPr txBox="1"/>
          <p:nvPr/>
        </p:nvSpPr>
        <p:spPr>
          <a:xfrm>
            <a:off x="932688" y="2990088"/>
            <a:ext cx="4754880" cy="603504"/>
          </a:xfrm>
          <a:prstGeom prst="rect">
            <a:avLst/>
          </a:prstGeom>
          <a:noFill/>
          <a:ln/>
        </p:spPr>
        <p:txBody>
          <a:bodyPr wrap="square" lIns="0" tIns="0" rIns="0" bIns="0" rtlCol="0" anchor="ctr"/>
          <a:lstStyle/>
          <a:p>
            <a:pPr indent="0" marL="0">
              <a:lnSpc>
                <a:spcPct val="114000"/>
              </a:lnSpc>
              <a:buNone/>
            </a:pPr>
            <a:r>
              <a:rPr lang="en-US" sz="1250" dirty="0">
                <a:solidFill>
                  <a:srgbClr val="16232A"/>
                </a:solidFill>
                <a:latin typeface="Calibri" pitchFamily="34" charset="0"/>
                <a:ea typeface="Calibri" pitchFamily="34" charset="-122"/>
                <a:cs typeface="Calibri" pitchFamily="34" charset="-120"/>
              </a:rPr>
              <a:t>Open it daily and keep your tasks honest. A status that is wrong is worse than no status at all.</a:t>
            </a:r>
            <a:endParaRPr lang="en-US" sz="1250" dirty="0"/>
          </a:p>
        </p:txBody>
      </p:sp>
      <p:sp>
        <p:nvSpPr>
          <p:cNvPr id="10" name="Shape 7"/>
          <p:cNvSpPr/>
          <p:nvPr/>
        </p:nvSpPr>
        <p:spPr>
          <a:xfrm>
            <a:off x="6263640" y="2148840"/>
            <a:ext cx="5303520" cy="1536192"/>
          </a:xfrm>
          <a:prstGeom prst="roundRect">
            <a:avLst>
              <a:gd name="adj" fmla="val 4762"/>
            </a:avLst>
          </a:prstGeom>
          <a:solidFill>
            <a:srgbClr val="FBEEDC"/>
          </a:solidFill>
          <a:ln w="12700">
            <a:solidFill>
              <a:srgbClr val="FBEEDC"/>
            </a:solidFill>
            <a:prstDash val="solid"/>
          </a:ln>
          <a:effectLst>
            <a:outerShdw sx="100000" sy="100000" kx="0" ky="0" algn="bl" rotWithShape="0" blurRad="127000" dist="25400" dir="5400000">
              <a:srgbClr val="0E2F3C">
                <a:alpha val="10000"/>
              </a:srgbClr>
            </a:outerShdw>
          </a:effectLst>
        </p:spPr>
      </p:sp>
      <p:sp>
        <p:nvSpPr>
          <p:cNvPr id="11" name="Shape 8"/>
          <p:cNvSpPr/>
          <p:nvPr/>
        </p:nvSpPr>
        <p:spPr>
          <a:xfrm>
            <a:off x="6556248" y="2423160"/>
            <a:ext cx="530352" cy="530352"/>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6635801" y="2497409"/>
            <a:ext cx="381853" cy="381853"/>
          </a:xfrm>
          <a:prstGeom prst="rect">
            <a:avLst/>
          </a:prstGeom>
        </p:spPr>
      </p:pic>
      <p:sp>
        <p:nvSpPr>
          <p:cNvPr id="13" name="Text 9"/>
          <p:cNvSpPr txBox="1"/>
          <p:nvPr/>
        </p:nvSpPr>
        <p:spPr>
          <a:xfrm>
            <a:off x="7232904" y="2423160"/>
            <a:ext cx="4114800" cy="292608"/>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If you manage people</a:t>
            </a:r>
            <a:endParaRPr lang="en-US" sz="1500" dirty="0"/>
          </a:p>
        </p:txBody>
      </p:sp>
      <p:sp>
        <p:nvSpPr>
          <p:cNvPr id="14" name="Text 10"/>
          <p:cNvSpPr txBox="1"/>
          <p:nvPr/>
        </p:nvSpPr>
        <p:spPr>
          <a:xfrm>
            <a:off x="6556248" y="2990088"/>
            <a:ext cx="4754880" cy="603504"/>
          </a:xfrm>
          <a:prstGeom prst="rect">
            <a:avLst/>
          </a:prstGeom>
          <a:noFill/>
          <a:ln/>
        </p:spPr>
        <p:txBody>
          <a:bodyPr wrap="square" lIns="0" tIns="0" rIns="0" bIns="0" rtlCol="0" anchor="ctr"/>
          <a:lstStyle/>
          <a:p>
            <a:pPr indent="0" marL="0">
              <a:lnSpc>
                <a:spcPct val="114000"/>
              </a:lnSpc>
              <a:buNone/>
            </a:pPr>
            <a:r>
              <a:rPr lang="en-US" sz="1250" dirty="0">
                <a:solidFill>
                  <a:srgbClr val="16232A"/>
                </a:solidFill>
                <a:latin typeface="Calibri" pitchFamily="34" charset="0"/>
                <a:ea typeface="Calibri" pitchFamily="34" charset="-122"/>
                <a:cs typeface="Calibri" pitchFamily="34" charset="-120"/>
              </a:rPr>
              <a:t>Sit down with each person and write their desk card. This is the one genuinely time-consuming ask, and everything else depends on it.</a:t>
            </a:r>
            <a:endParaRPr lang="en-US" sz="1250" dirty="0"/>
          </a:p>
        </p:txBody>
      </p:sp>
      <p:sp>
        <p:nvSpPr>
          <p:cNvPr id="15" name="Shape 11"/>
          <p:cNvSpPr/>
          <p:nvPr/>
        </p:nvSpPr>
        <p:spPr>
          <a:xfrm>
            <a:off x="640080" y="3931920"/>
            <a:ext cx="5303520" cy="1536192"/>
          </a:xfrm>
          <a:prstGeom prst="roundRect">
            <a:avLst>
              <a:gd name="adj" fmla="val 4762"/>
            </a:avLst>
          </a:prstGeom>
          <a:solidFill>
            <a:srgbClr val="E3EFF2"/>
          </a:solidFill>
          <a:ln w="12700">
            <a:solidFill>
              <a:srgbClr val="E3EFF2"/>
            </a:solidFill>
            <a:prstDash val="solid"/>
          </a:ln>
          <a:effectLst>
            <a:outerShdw sx="100000" sy="100000" kx="0" ky="0" algn="bl" rotWithShape="0" blurRad="127000" dist="25400" dir="5400000">
              <a:srgbClr val="0E2F3C">
                <a:alpha val="10000"/>
              </a:srgbClr>
            </a:outerShdw>
          </a:effectLst>
        </p:spPr>
      </p:sp>
      <p:sp>
        <p:nvSpPr>
          <p:cNvPr id="16" name="Shape 12"/>
          <p:cNvSpPr/>
          <p:nvPr/>
        </p:nvSpPr>
        <p:spPr>
          <a:xfrm>
            <a:off x="932688" y="4206240"/>
            <a:ext cx="530352" cy="530352"/>
          </a:xfrm>
          <a:prstGeom prst="ellipse">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3"/>
          <a:stretch>
            <a:fillRect/>
          </a:stretch>
        </p:blipFill>
        <p:spPr>
          <a:xfrm>
            <a:off x="1012241" y="4280489"/>
            <a:ext cx="381853" cy="381853"/>
          </a:xfrm>
          <a:prstGeom prst="rect">
            <a:avLst/>
          </a:prstGeom>
        </p:spPr>
      </p:pic>
      <p:sp>
        <p:nvSpPr>
          <p:cNvPr id="18" name="Text 13"/>
          <p:cNvSpPr txBox="1"/>
          <p:nvPr/>
        </p:nvSpPr>
        <p:spPr>
          <a:xfrm>
            <a:off x="1609344" y="4206240"/>
            <a:ext cx="4114800" cy="292608"/>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If you lead a function</a:t>
            </a:r>
            <a:endParaRPr lang="en-US" sz="1500" dirty="0"/>
          </a:p>
        </p:txBody>
      </p:sp>
      <p:sp>
        <p:nvSpPr>
          <p:cNvPr id="19" name="Text 14"/>
          <p:cNvSpPr txBox="1"/>
          <p:nvPr/>
        </p:nvSpPr>
        <p:spPr>
          <a:xfrm>
            <a:off x="932688" y="4773168"/>
            <a:ext cx="4754880" cy="603504"/>
          </a:xfrm>
          <a:prstGeom prst="rect">
            <a:avLst/>
          </a:prstGeom>
          <a:noFill/>
          <a:ln/>
        </p:spPr>
        <p:txBody>
          <a:bodyPr wrap="square" lIns="0" tIns="0" rIns="0" bIns="0" rtlCol="0" anchor="ctr"/>
          <a:lstStyle/>
          <a:p>
            <a:pPr indent="0" marL="0">
              <a:lnSpc>
                <a:spcPct val="114000"/>
              </a:lnSpc>
              <a:buNone/>
            </a:pPr>
            <a:r>
              <a:rPr lang="en-US" sz="1250" dirty="0">
                <a:solidFill>
                  <a:srgbClr val="16232A"/>
                </a:solidFill>
                <a:latin typeface="Calibri" pitchFamily="34" charset="0"/>
                <a:ea typeface="Calibri" pitchFamily="34" charset="-122"/>
                <a:cs typeface="Calibri" pitchFamily="34" charset="-120"/>
              </a:rPr>
              <a:t>Tell us the thresholds that matter to you, so alerts fire when you would want to know — not sooner.</a:t>
            </a:r>
            <a:endParaRPr lang="en-US" sz="1250" dirty="0"/>
          </a:p>
        </p:txBody>
      </p:sp>
      <p:sp>
        <p:nvSpPr>
          <p:cNvPr id="20" name="Shape 15"/>
          <p:cNvSpPr/>
          <p:nvPr/>
        </p:nvSpPr>
        <p:spPr>
          <a:xfrm>
            <a:off x="6263640" y="3931920"/>
            <a:ext cx="5303520" cy="1536192"/>
          </a:xfrm>
          <a:prstGeom prst="roundRect">
            <a:avLst>
              <a:gd name="adj" fmla="val 4762"/>
            </a:avLst>
          </a:prstGeom>
          <a:solidFill>
            <a:srgbClr val="E3F0EA"/>
          </a:solidFill>
          <a:ln w="12700">
            <a:solidFill>
              <a:srgbClr val="E3F0EA"/>
            </a:solidFill>
            <a:prstDash val="solid"/>
          </a:ln>
          <a:effectLst>
            <a:outerShdw sx="100000" sy="100000" kx="0" ky="0" algn="bl" rotWithShape="0" blurRad="127000" dist="25400" dir="5400000">
              <a:srgbClr val="0E2F3C">
                <a:alpha val="10000"/>
              </a:srgbClr>
            </a:outerShdw>
          </a:effectLst>
        </p:spPr>
      </p:sp>
      <p:sp>
        <p:nvSpPr>
          <p:cNvPr id="21" name="Shape 16"/>
          <p:cNvSpPr/>
          <p:nvPr/>
        </p:nvSpPr>
        <p:spPr>
          <a:xfrm>
            <a:off x="6556248" y="4206240"/>
            <a:ext cx="530352" cy="530352"/>
          </a:xfrm>
          <a:prstGeom prst="ellipse">
            <a:avLst/>
          </a:prstGeom>
          <a:solidFill>
            <a:srgbClr val="FFFFFF"/>
          </a:solidFill>
          <a:ln w="12700">
            <a:solidFill>
              <a:srgbClr val="FFFFFF"/>
            </a:solidFill>
            <a:prstDash val="solid"/>
          </a:ln>
        </p:spPr>
      </p:sp>
      <p:pic>
        <p:nvPicPr>
          <p:cNvPr id="22" name="Image 3" descr="preencoded.png">    </p:cNvPr>
          <p:cNvPicPr>
            <a:picLocks noChangeAspect="1"/>
          </p:cNvPicPr>
          <p:nvPr/>
        </p:nvPicPr>
        <p:blipFill>
          <a:blip r:embed="rId4"/>
          <a:stretch>
            <a:fillRect/>
          </a:stretch>
        </p:blipFill>
        <p:spPr>
          <a:xfrm>
            <a:off x="6635801" y="4280489"/>
            <a:ext cx="381853" cy="381853"/>
          </a:xfrm>
          <a:prstGeom prst="rect">
            <a:avLst/>
          </a:prstGeom>
        </p:spPr>
      </p:pic>
      <p:sp>
        <p:nvSpPr>
          <p:cNvPr id="23" name="Text 17"/>
          <p:cNvSpPr txBox="1"/>
          <p:nvPr/>
        </p:nvSpPr>
        <p:spPr>
          <a:xfrm>
            <a:off x="7232904" y="4206240"/>
            <a:ext cx="4114800" cy="292608"/>
          </a:xfrm>
          <a:prstGeom prst="rect">
            <a:avLst/>
          </a:prstGeom>
          <a:noFill/>
          <a:ln/>
        </p:spPr>
        <p:txBody>
          <a:bodyPr wrap="square" lIns="0" tIns="0" rIns="0" bIns="0" rtlCol="0" anchor="ctr"/>
          <a:lstStyle/>
          <a:p>
            <a:pPr indent="0" marL="0">
              <a:buNone/>
            </a:pPr>
            <a:r>
              <a:rPr lang="en-US" sz="1500" b="1" dirty="0">
                <a:solidFill>
                  <a:srgbClr val="0E2F3C"/>
                </a:solidFill>
                <a:latin typeface="Calibri" pitchFamily="34" charset="0"/>
                <a:ea typeface="Calibri" pitchFamily="34" charset="-122"/>
                <a:cs typeface="Calibri" pitchFamily="34" charset="-120"/>
              </a:rPr>
              <a:t>Everyone</a:t>
            </a:r>
            <a:endParaRPr lang="en-US" sz="1500" dirty="0"/>
          </a:p>
        </p:txBody>
      </p:sp>
      <p:sp>
        <p:nvSpPr>
          <p:cNvPr id="24" name="Text 18"/>
          <p:cNvSpPr txBox="1"/>
          <p:nvPr/>
        </p:nvSpPr>
        <p:spPr>
          <a:xfrm>
            <a:off x="6556248" y="4773168"/>
            <a:ext cx="4754880" cy="603504"/>
          </a:xfrm>
          <a:prstGeom prst="rect">
            <a:avLst/>
          </a:prstGeom>
          <a:noFill/>
          <a:ln/>
        </p:spPr>
        <p:txBody>
          <a:bodyPr wrap="square" lIns="0" tIns="0" rIns="0" bIns="0" rtlCol="0" anchor="ctr"/>
          <a:lstStyle/>
          <a:p>
            <a:pPr indent="0" marL="0">
              <a:lnSpc>
                <a:spcPct val="114000"/>
              </a:lnSpc>
              <a:buNone/>
            </a:pPr>
            <a:r>
              <a:rPr lang="en-US" sz="1250" dirty="0">
                <a:solidFill>
                  <a:srgbClr val="16232A"/>
                </a:solidFill>
                <a:latin typeface="Calibri" pitchFamily="34" charset="0"/>
                <a:ea typeface="Calibri" pitchFamily="34" charset="-122"/>
                <a:cs typeface="Calibri" pitchFamily="34" charset="-120"/>
              </a:rPr>
              <a:t>Tell us what is clumsy. We would rather fix it in month one than find out in the appraisal cycle.</a:t>
            </a:r>
            <a:endParaRPr lang="en-US" sz="1250" dirty="0"/>
          </a:p>
        </p:txBody>
      </p:sp>
      <p:sp>
        <p:nvSpPr>
          <p:cNvPr id="25" name="Text 19"/>
          <p:cNvSpPr txBox="1"/>
          <p:nvPr/>
        </p:nvSpPr>
        <p:spPr>
          <a:xfrm>
            <a:off x="640080" y="5806440"/>
            <a:ext cx="10911535" cy="365760"/>
          </a:xfrm>
          <a:prstGeom prst="rect">
            <a:avLst/>
          </a:prstGeom>
          <a:noFill/>
          <a:ln/>
        </p:spPr>
        <p:txBody>
          <a:bodyPr wrap="square" lIns="0" tIns="0" rIns="0" bIns="0" rtlCol="0" anchor="ctr"/>
          <a:lstStyle/>
          <a:p>
            <a:pPr indent="0" marL="0">
              <a:buNone/>
            </a:pPr>
            <a:r>
              <a:rPr lang="en-US" sz="1500" i="1" dirty="0">
                <a:solidFill>
                  <a:srgbClr val="0E2F3C"/>
                </a:solidFill>
                <a:latin typeface="Cambria" pitchFamily="34" charset="0"/>
                <a:ea typeface="Cambria" pitchFamily="34" charset="-122"/>
                <a:cs typeface="Cambria" pitchFamily="34" charset="-120"/>
              </a:rPr>
              <a:t>Desk cards are the whole game. A good one takes about forty minutes per person, once.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256032"/>
          </a:xfrm>
          <a:prstGeom prst="rect">
            <a:avLst/>
          </a:prstGeom>
          <a:noFill/>
          <a:ln/>
        </p:spPr>
        <p:txBody>
          <a:bodyPr wrap="square" lIns="0" tIns="0" rIns="0" bIns="0" rtlCol="0" anchor="ctr"/>
          <a:lstStyle/>
          <a:p>
            <a:pPr indent="0" marL="0">
              <a:buNone/>
            </a:pPr>
            <a:r>
              <a:rPr lang="en-US" sz="1100" b="1" spc="200" kern="0" dirty="0">
                <a:solidFill>
                  <a:srgbClr val="1F7A8C"/>
                </a:solidFill>
                <a:latin typeface="Calibri" pitchFamily="34" charset="0"/>
                <a:ea typeface="Calibri" pitchFamily="34" charset="-122"/>
                <a:cs typeface="Calibri" pitchFamily="34" charset="-120"/>
              </a:rPr>
              <a:t>STRAIGHT ANSWERS</a:t>
            </a:r>
            <a:endParaRPr lang="en-US" sz="1100" dirty="0"/>
          </a:p>
        </p:txBody>
      </p:sp>
      <p:sp>
        <p:nvSpPr>
          <p:cNvPr id="3" name="Text 1"/>
          <p:cNvSpPr txBox="1"/>
          <p:nvPr/>
        </p:nvSpPr>
        <p:spPr>
          <a:xfrm>
            <a:off x="640080" y="676656"/>
            <a:ext cx="10911535" cy="713232"/>
          </a:xfrm>
          <a:prstGeom prst="rect">
            <a:avLst/>
          </a:prstGeom>
          <a:noFill/>
          <a:ln/>
        </p:spPr>
        <p:txBody>
          <a:bodyPr wrap="square" lIns="0" tIns="0" rIns="0" bIns="0" rtlCol="0" anchor="t"/>
          <a:lstStyle/>
          <a:p>
            <a:pPr indent="0" marL="0">
              <a:buNone/>
            </a:pPr>
            <a:r>
              <a:rPr lang="en-US" sz="3400" b="1" dirty="0">
                <a:solidFill>
                  <a:srgbClr val="0E2F3C"/>
                </a:solidFill>
                <a:latin typeface="Cambria" pitchFamily="34" charset="0"/>
                <a:ea typeface="Cambria" pitchFamily="34" charset="-122"/>
                <a:cs typeface="Cambria" pitchFamily="34" charset="-120"/>
              </a:rPr>
              <a:t>The questions we are asked most</a:t>
            </a:r>
            <a:endParaRPr lang="en-US" sz="3400" dirty="0"/>
          </a:p>
        </p:txBody>
      </p:sp>
      <p:sp>
        <p:nvSpPr>
          <p:cNvPr id="4" name="Text 2"/>
          <p:cNvSpPr txBox="1"/>
          <p:nvPr/>
        </p:nvSpPr>
        <p:spPr>
          <a:xfrm>
            <a:off x="640080" y="1389888"/>
            <a:ext cx="9692640" cy="457200"/>
          </a:xfrm>
          <a:prstGeom prst="rect">
            <a:avLst/>
          </a:prstGeom>
          <a:noFill/>
          <a:ln/>
        </p:spPr>
        <p:txBody>
          <a:bodyPr wrap="square" lIns="0" tIns="0" rIns="0" bIns="0" rtlCol="0" anchor="t"/>
          <a:lstStyle/>
          <a:p>
            <a:pPr indent="0" marL="0">
              <a:buNone/>
            </a:pPr>
            <a:r>
              <a:rPr lang="en-US" sz="1500" dirty="0">
                <a:solidFill>
                  <a:srgbClr val="5C6B73"/>
                </a:solidFill>
                <a:latin typeface="Calibri" pitchFamily="34" charset="0"/>
                <a:ea typeface="Calibri" pitchFamily="34" charset="-122"/>
                <a:cs typeface="Calibri" pitchFamily="34" charset="-120"/>
              </a:rPr>
              <a:t>If yours is not here, ask it at the end — we will add it and reissue this deck.</a:t>
            </a:r>
            <a:endParaRPr lang="en-US" sz="1500" dirty="0"/>
          </a:p>
        </p:txBody>
      </p:sp>
      <p:sp>
        <p:nvSpPr>
          <p:cNvPr id="5" name="Shape 3"/>
          <p:cNvSpPr/>
          <p:nvPr/>
        </p:nvSpPr>
        <p:spPr>
          <a:xfrm>
            <a:off x="640080" y="1783080"/>
            <a:ext cx="5303520" cy="1298448"/>
          </a:xfrm>
          <a:prstGeom prst="roundRect">
            <a:avLst>
              <a:gd name="adj" fmla="val 5634"/>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6" name="Text 4"/>
          <p:cNvSpPr txBox="1"/>
          <p:nvPr/>
        </p:nvSpPr>
        <p:spPr>
          <a:xfrm>
            <a:off x="914400" y="1929384"/>
            <a:ext cx="4754880" cy="292608"/>
          </a:xfrm>
          <a:prstGeom prst="rect">
            <a:avLst/>
          </a:prstGeom>
          <a:noFill/>
          <a:ln/>
        </p:spPr>
        <p:txBody>
          <a:bodyPr wrap="square" lIns="0" tIns="0" rIns="0" bIns="0" rtlCol="0" anchor="ctr"/>
          <a:lstStyle/>
          <a:p>
            <a:pPr indent="0" marL="0">
              <a:buNone/>
            </a:pPr>
            <a:r>
              <a:rPr lang="en-US" sz="1450" b="1" dirty="0">
                <a:solidFill>
                  <a:srgbClr val="0E2F3C"/>
                </a:solidFill>
                <a:latin typeface="Cambria" pitchFamily="34" charset="0"/>
                <a:ea typeface="Cambria" pitchFamily="34" charset="-122"/>
                <a:cs typeface="Cambria" pitchFamily="34" charset="-120"/>
              </a:rPr>
              <a:t>“Will this be used in my appraisal?”</a:t>
            </a:r>
            <a:endParaRPr lang="en-US" sz="1450" dirty="0"/>
          </a:p>
        </p:txBody>
      </p:sp>
      <p:sp>
        <p:nvSpPr>
          <p:cNvPr id="7" name="Text 5"/>
          <p:cNvSpPr txBox="1"/>
          <p:nvPr/>
        </p:nvSpPr>
        <p:spPr>
          <a:xfrm>
            <a:off x="914400" y="2276856"/>
            <a:ext cx="4754880" cy="713232"/>
          </a:xfrm>
          <a:prstGeom prst="rect">
            <a:avLst/>
          </a:prstGeom>
          <a:noFill/>
          <a:ln/>
        </p:spPr>
        <p:txBody>
          <a:bodyPr wrap="square" lIns="0" tIns="0" rIns="0" bIns="0" rtlCol="0" anchor="ctr"/>
          <a:lstStyle/>
          <a:p>
            <a:pPr indent="0" marL="0">
              <a:lnSpc>
                <a:spcPct val="114000"/>
              </a:lnSpc>
              <a:buNone/>
            </a:pPr>
            <a:r>
              <a:rPr lang="en-US" sz="1200" dirty="0">
                <a:solidFill>
                  <a:srgbClr val="5C6B73"/>
                </a:solidFill>
                <a:latin typeface="Calibri" pitchFamily="34" charset="0"/>
                <a:ea typeface="Calibri" pitchFamily="34" charset="-122"/>
                <a:cs typeface="Calibri" pitchFamily="34" charset="-120"/>
              </a:rPr>
              <a:t>Eventually, as evidence — alongside everything your manager already considers. Never as a score, and never for a period before you were told.</a:t>
            </a:r>
            <a:endParaRPr lang="en-US" sz="1200" dirty="0"/>
          </a:p>
        </p:txBody>
      </p:sp>
      <p:sp>
        <p:nvSpPr>
          <p:cNvPr id="8" name="Shape 6"/>
          <p:cNvSpPr/>
          <p:nvPr/>
        </p:nvSpPr>
        <p:spPr>
          <a:xfrm>
            <a:off x="6263640" y="1783080"/>
            <a:ext cx="5303520" cy="1298448"/>
          </a:xfrm>
          <a:prstGeom prst="roundRect">
            <a:avLst>
              <a:gd name="adj" fmla="val 5634"/>
            </a:avLst>
          </a:prstGeom>
          <a:solidFill>
            <a:srgbClr val="FFFFFF"/>
          </a:solidFill>
          <a:ln w="12700">
            <a:solidFill>
              <a:srgbClr val="FFFFFF"/>
            </a:solidFill>
            <a:prstDash val="solid"/>
          </a:ln>
          <a:effectLst>
            <a:outerShdw sx="100000" sy="100000" kx="0" ky="0" algn="bl" rotWithShape="0" blurRad="127000" dist="25400" dir="5400000">
              <a:srgbClr val="0E2F3C">
                <a:alpha val="10000"/>
              </a:srgbClr>
            </a:outerShdw>
          </a:effectLst>
        </p:spPr>
      </p:sp>
      <p:sp>
        <p:nvSpPr>
          <p:cNvPr id="9" name="Text 7"/>
          <p:cNvSpPr txBox="1"/>
          <p:nvPr/>
        </p:nvSpPr>
        <p:spPr>
          <a:xfrm>
            <a:off x="6537960" y="1929384"/>
            <a:ext cx="4754880" cy="292608"/>
          </a:xfrm>
          <a:prstGeom prst="rect">
            <a:avLst/>
          </a:prstGeom>
          <a:noFill/>
          <a:ln/>
        </p:spPr>
        <p:txBody>
          <a:bodyPr wrap="square" lIns="0" tIns="0" rIns="0" bIns="0" rtlCol="0" anchor="ctr"/>
          <a:lstStyle/>
          <a:p>
            <a:pPr indent="0" marL="0">
              <a:buNone/>
            </a:pPr>
            <a:r>
              <a:rPr lang="en-US" sz="1450" b="1" dirty="0">
                <a:solidFill>
                  <a:srgbClr val="0E2F3C"/>
                </a:solidFill>
                <a:latin typeface="Cambria" pitchFamily="34" charset="0"/>
                <a:ea typeface="Cambria" pitchFamily="34" charset="-122"/>
                <a:cs typeface="Cambria" pitchFamily="34" charset="-120"/>
              </a:rPr>
              <a:t>“What if my manager assigns me impossible work?”</a:t>
            </a:r>
            <a:endParaRPr lang="en-US" sz="1450" dirty="0"/>
          </a:p>
        </p:txBody>
      </p:sp>
      <p:sp>
        <p:nvSpPr>
          <p:cNvPr id="10" name="Text 8"/>
          <p:cNvSpPr txBox="1"/>
          <p:nvPr/>
        </p:nvSpPr>
        <p:spPr>
          <a:xfrm>
            <a:off x="6537960" y="2276856"/>
            <a:ext cx="4754880" cy="713232"/>
          </a:xfrm>
          <a:prstGeom prst="rect">
            <a:avLst/>
          </a:prstGeom>
          <a:noFill/>
          <a:ln/>
        </p:spPr>
        <p:txBody>
          <a:bodyPr wrap="square" lIns="0" tIns="0" rIns="0" bIns="0" rtlCol="0" anchor="ctr"/>
          <a:lstStyle/>
          <a:p>
            <a:pPr indent="0" marL="0">
              <a:lnSpc>
                <a:spcPct val="114000"/>
              </a:lnSpc>
              <a:buNone/>
            </a:pPr>
            <a:r>
              <a:rPr lang="en-US" sz="1200" dirty="0">
                <a:solidFill>
                  <a:srgbClr val="5C6B73"/>
                </a:solidFill>
                <a:latin typeface="Calibri" pitchFamily="34" charset="0"/>
                <a:ea typeface="Calibri" pitchFamily="34" charset="-122"/>
                <a:cs typeface="Calibri" pitchFamily="34" charset="-120"/>
              </a:rPr>
              <a:t>It is on the record, with dates. That conversation becomes easier to have, not harder.</a:t>
            </a:r>
            <a:endParaRPr lang="en-US" sz="1200" dirty="0"/>
          </a:p>
        </p:txBody>
      </p:sp>
      <p:sp>
        <p:nvSpPr>
          <p:cNvPr id="11" name="Shape 9"/>
          <p:cNvSpPr/>
          <p:nvPr/>
        </p:nvSpPr>
        <p:spPr>
          <a:xfrm>
            <a:off x="640080" y="3264408"/>
            <a:ext cx="5303520" cy="1298448"/>
          </a:xfrm>
          <a:prstGeom prst="roundRect">
            <a:avLst>
              <a:gd name="adj" fmla="val 5634"/>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2" name="Text 10"/>
          <p:cNvSpPr txBox="1"/>
          <p:nvPr/>
        </p:nvSpPr>
        <p:spPr>
          <a:xfrm>
            <a:off x="914400" y="3410712"/>
            <a:ext cx="4754880" cy="292608"/>
          </a:xfrm>
          <a:prstGeom prst="rect">
            <a:avLst/>
          </a:prstGeom>
          <a:noFill/>
          <a:ln/>
        </p:spPr>
        <p:txBody>
          <a:bodyPr wrap="square" lIns="0" tIns="0" rIns="0" bIns="0" rtlCol="0" anchor="ctr"/>
          <a:lstStyle/>
          <a:p>
            <a:pPr indent="0" marL="0">
              <a:buNone/>
            </a:pPr>
            <a:r>
              <a:rPr lang="en-US" sz="1450" b="1" dirty="0">
                <a:solidFill>
                  <a:srgbClr val="0E2F3C"/>
                </a:solidFill>
                <a:latin typeface="Cambria" pitchFamily="34" charset="0"/>
                <a:ea typeface="Cambria" pitchFamily="34" charset="-122"/>
                <a:cs typeface="Cambria" pitchFamily="34" charset="-120"/>
              </a:rPr>
              <a:t>“I work on things that never become tasks.”</a:t>
            </a:r>
            <a:endParaRPr lang="en-US" sz="1450" dirty="0"/>
          </a:p>
        </p:txBody>
      </p:sp>
      <p:sp>
        <p:nvSpPr>
          <p:cNvPr id="13" name="Text 11"/>
          <p:cNvSpPr txBox="1"/>
          <p:nvPr/>
        </p:nvSpPr>
        <p:spPr>
          <a:xfrm>
            <a:off x="914400" y="3758184"/>
            <a:ext cx="4754880" cy="713232"/>
          </a:xfrm>
          <a:prstGeom prst="rect">
            <a:avLst/>
          </a:prstGeom>
          <a:noFill/>
          <a:ln/>
        </p:spPr>
        <p:txBody>
          <a:bodyPr wrap="square" lIns="0" tIns="0" rIns="0" bIns="0" rtlCol="0" anchor="ctr"/>
          <a:lstStyle/>
          <a:p>
            <a:pPr indent="0" marL="0">
              <a:lnSpc>
                <a:spcPct val="114000"/>
              </a:lnSpc>
              <a:buNone/>
            </a:pPr>
            <a:r>
              <a:rPr lang="en-US" sz="1200" dirty="0">
                <a:solidFill>
                  <a:srgbClr val="5C6B73"/>
                </a:solidFill>
                <a:latin typeface="Calibri" pitchFamily="34" charset="0"/>
                <a:ea typeface="Calibri" pitchFamily="34" charset="-122"/>
                <a:cs typeface="Calibri" pitchFamily="34" charset="-120"/>
              </a:rPr>
              <a:t>Then your desk card is incomplete. Tell your manager — that is exactly what the exercise is for.</a:t>
            </a:r>
            <a:endParaRPr lang="en-US" sz="1200" dirty="0"/>
          </a:p>
        </p:txBody>
      </p:sp>
      <p:sp>
        <p:nvSpPr>
          <p:cNvPr id="14" name="Shape 12"/>
          <p:cNvSpPr/>
          <p:nvPr/>
        </p:nvSpPr>
        <p:spPr>
          <a:xfrm>
            <a:off x="6263640" y="3264408"/>
            <a:ext cx="5303520" cy="1298448"/>
          </a:xfrm>
          <a:prstGeom prst="roundRect">
            <a:avLst>
              <a:gd name="adj" fmla="val 5634"/>
            </a:avLst>
          </a:prstGeom>
          <a:solidFill>
            <a:srgbClr val="FFFFFF"/>
          </a:solidFill>
          <a:ln w="12700">
            <a:solidFill>
              <a:srgbClr val="FFFFFF"/>
            </a:solidFill>
            <a:prstDash val="solid"/>
          </a:ln>
          <a:effectLst>
            <a:outerShdw sx="100000" sy="100000" kx="0" ky="0" algn="bl" rotWithShape="0" blurRad="127000" dist="25400" dir="5400000">
              <a:srgbClr val="0E2F3C">
                <a:alpha val="10000"/>
              </a:srgbClr>
            </a:outerShdw>
          </a:effectLst>
        </p:spPr>
      </p:sp>
      <p:sp>
        <p:nvSpPr>
          <p:cNvPr id="15" name="Text 13"/>
          <p:cNvSpPr txBox="1"/>
          <p:nvPr/>
        </p:nvSpPr>
        <p:spPr>
          <a:xfrm>
            <a:off x="6537960" y="3410712"/>
            <a:ext cx="4754880" cy="292608"/>
          </a:xfrm>
          <a:prstGeom prst="rect">
            <a:avLst/>
          </a:prstGeom>
          <a:noFill/>
          <a:ln/>
        </p:spPr>
        <p:txBody>
          <a:bodyPr wrap="square" lIns="0" tIns="0" rIns="0" bIns="0" rtlCol="0" anchor="ctr"/>
          <a:lstStyle/>
          <a:p>
            <a:pPr indent="0" marL="0">
              <a:buNone/>
            </a:pPr>
            <a:r>
              <a:rPr lang="en-US" sz="1450" b="1" dirty="0">
                <a:solidFill>
                  <a:srgbClr val="0E2F3C"/>
                </a:solidFill>
                <a:latin typeface="Cambria" pitchFamily="34" charset="0"/>
                <a:ea typeface="Cambria" pitchFamily="34" charset="-122"/>
                <a:cs typeface="Cambria" pitchFamily="34" charset="-120"/>
              </a:rPr>
              <a:t>“What if I forget to update something?”</a:t>
            </a:r>
            <a:endParaRPr lang="en-US" sz="1450" dirty="0"/>
          </a:p>
        </p:txBody>
      </p:sp>
      <p:sp>
        <p:nvSpPr>
          <p:cNvPr id="16" name="Text 14"/>
          <p:cNvSpPr txBox="1"/>
          <p:nvPr/>
        </p:nvSpPr>
        <p:spPr>
          <a:xfrm>
            <a:off x="6537960" y="3758184"/>
            <a:ext cx="4754880" cy="713232"/>
          </a:xfrm>
          <a:prstGeom prst="rect">
            <a:avLst/>
          </a:prstGeom>
          <a:noFill/>
          <a:ln/>
        </p:spPr>
        <p:txBody>
          <a:bodyPr wrap="square" lIns="0" tIns="0" rIns="0" bIns="0" rtlCol="0" anchor="ctr"/>
          <a:lstStyle/>
          <a:p>
            <a:pPr indent="0" marL="0">
              <a:lnSpc>
                <a:spcPct val="114000"/>
              </a:lnSpc>
              <a:buNone/>
            </a:pPr>
            <a:r>
              <a:rPr lang="en-US" sz="1200" dirty="0">
                <a:solidFill>
                  <a:srgbClr val="5C6B73"/>
                </a:solidFill>
                <a:latin typeface="Calibri" pitchFamily="34" charset="0"/>
                <a:ea typeface="Calibri" pitchFamily="34" charset="-122"/>
                <a:cs typeface="Calibri" pitchFamily="34" charset="-120"/>
              </a:rPr>
              <a:t>Nothing happens to you. The figures will be wrong, which helps nobody, so we would rather you kept it current.</a:t>
            </a:r>
            <a:endParaRPr lang="en-US" sz="1200" dirty="0"/>
          </a:p>
        </p:txBody>
      </p:sp>
      <p:sp>
        <p:nvSpPr>
          <p:cNvPr id="17" name="Shape 15"/>
          <p:cNvSpPr/>
          <p:nvPr/>
        </p:nvSpPr>
        <p:spPr>
          <a:xfrm>
            <a:off x="640080" y="4745736"/>
            <a:ext cx="5303520" cy="1298448"/>
          </a:xfrm>
          <a:prstGeom prst="roundRect">
            <a:avLst>
              <a:gd name="adj" fmla="val 5634"/>
            </a:avLst>
          </a:prstGeom>
          <a:solidFill>
            <a:srgbClr val="F2F5F6"/>
          </a:solidFill>
          <a:ln w="12700">
            <a:solidFill>
              <a:srgbClr val="F2F5F6"/>
            </a:solidFill>
            <a:prstDash val="solid"/>
          </a:ln>
          <a:effectLst>
            <a:outerShdw sx="100000" sy="100000" kx="0" ky="0" algn="bl" rotWithShape="0" blurRad="127000" dist="25400" dir="5400000">
              <a:srgbClr val="0E2F3C">
                <a:alpha val="10000"/>
              </a:srgbClr>
            </a:outerShdw>
          </a:effectLst>
        </p:spPr>
      </p:sp>
      <p:sp>
        <p:nvSpPr>
          <p:cNvPr id="18" name="Text 16"/>
          <p:cNvSpPr txBox="1"/>
          <p:nvPr/>
        </p:nvSpPr>
        <p:spPr>
          <a:xfrm>
            <a:off x="914400" y="4892040"/>
            <a:ext cx="4754880" cy="292608"/>
          </a:xfrm>
          <a:prstGeom prst="rect">
            <a:avLst/>
          </a:prstGeom>
          <a:noFill/>
          <a:ln/>
        </p:spPr>
        <p:txBody>
          <a:bodyPr wrap="square" lIns="0" tIns="0" rIns="0" bIns="0" rtlCol="0" anchor="ctr"/>
          <a:lstStyle/>
          <a:p>
            <a:pPr indent="0" marL="0">
              <a:buNone/>
            </a:pPr>
            <a:r>
              <a:rPr lang="en-US" sz="1450" b="1" dirty="0">
                <a:solidFill>
                  <a:srgbClr val="0E2F3C"/>
                </a:solidFill>
                <a:latin typeface="Cambria" pitchFamily="34" charset="0"/>
                <a:ea typeface="Cambria" pitchFamily="34" charset="-122"/>
                <a:cs typeface="Cambria" pitchFamily="34" charset="-120"/>
              </a:rPr>
              <a:t>“Can my colleagues see my tasks?”</a:t>
            </a:r>
            <a:endParaRPr lang="en-US" sz="1450" dirty="0"/>
          </a:p>
        </p:txBody>
      </p:sp>
      <p:sp>
        <p:nvSpPr>
          <p:cNvPr id="19" name="Text 17"/>
          <p:cNvSpPr txBox="1"/>
          <p:nvPr/>
        </p:nvSpPr>
        <p:spPr>
          <a:xfrm>
            <a:off x="914400" y="5239512"/>
            <a:ext cx="4754880" cy="713232"/>
          </a:xfrm>
          <a:prstGeom prst="rect">
            <a:avLst/>
          </a:prstGeom>
          <a:noFill/>
          <a:ln/>
        </p:spPr>
        <p:txBody>
          <a:bodyPr wrap="square" lIns="0" tIns="0" rIns="0" bIns="0" rtlCol="0" anchor="ctr"/>
          <a:lstStyle/>
          <a:p>
            <a:pPr indent="0" marL="0">
              <a:lnSpc>
                <a:spcPct val="114000"/>
              </a:lnSpc>
              <a:buNone/>
            </a:pPr>
            <a:r>
              <a:rPr lang="en-US" sz="1200" dirty="0">
                <a:solidFill>
                  <a:srgbClr val="5C6B73"/>
                </a:solidFill>
                <a:latin typeface="Calibri" pitchFamily="34" charset="0"/>
                <a:ea typeface="Calibri" pitchFamily="34" charset="-122"/>
                <a:cs typeface="Calibri" pitchFamily="34" charset="-120"/>
              </a:rPr>
              <a:t>Your team's work is visible within the team. Confidential matters are visible only to the people involved.</a:t>
            </a:r>
            <a:endParaRPr lang="en-US" sz="1200" dirty="0"/>
          </a:p>
        </p:txBody>
      </p:sp>
      <p:sp>
        <p:nvSpPr>
          <p:cNvPr id="20" name="Shape 18"/>
          <p:cNvSpPr/>
          <p:nvPr/>
        </p:nvSpPr>
        <p:spPr>
          <a:xfrm>
            <a:off x="6263640" y="4745736"/>
            <a:ext cx="5303520" cy="1298448"/>
          </a:xfrm>
          <a:prstGeom prst="roundRect">
            <a:avLst>
              <a:gd name="adj" fmla="val 5634"/>
            </a:avLst>
          </a:prstGeom>
          <a:solidFill>
            <a:srgbClr val="FFFFFF"/>
          </a:solidFill>
          <a:ln w="12700">
            <a:solidFill>
              <a:srgbClr val="FFFFFF"/>
            </a:solidFill>
            <a:prstDash val="solid"/>
          </a:ln>
          <a:effectLst>
            <a:outerShdw sx="100000" sy="100000" kx="0" ky="0" algn="bl" rotWithShape="0" blurRad="127000" dist="25400" dir="5400000">
              <a:srgbClr val="0E2F3C">
                <a:alpha val="10000"/>
              </a:srgbClr>
            </a:outerShdw>
          </a:effectLst>
        </p:spPr>
      </p:sp>
      <p:sp>
        <p:nvSpPr>
          <p:cNvPr id="21" name="Text 19"/>
          <p:cNvSpPr txBox="1"/>
          <p:nvPr/>
        </p:nvSpPr>
        <p:spPr>
          <a:xfrm>
            <a:off x="6537960" y="4892040"/>
            <a:ext cx="4754880" cy="292608"/>
          </a:xfrm>
          <a:prstGeom prst="rect">
            <a:avLst/>
          </a:prstGeom>
          <a:noFill/>
          <a:ln/>
        </p:spPr>
        <p:txBody>
          <a:bodyPr wrap="square" lIns="0" tIns="0" rIns="0" bIns="0" rtlCol="0" anchor="ctr"/>
          <a:lstStyle/>
          <a:p>
            <a:pPr indent="0" marL="0">
              <a:buNone/>
            </a:pPr>
            <a:r>
              <a:rPr lang="en-US" sz="1450" b="1" dirty="0">
                <a:solidFill>
                  <a:srgbClr val="0E2F3C"/>
                </a:solidFill>
                <a:latin typeface="Cambria" pitchFamily="34" charset="0"/>
                <a:ea typeface="Cambria" pitchFamily="34" charset="-122"/>
                <a:cs typeface="Cambria" pitchFamily="34" charset="-120"/>
              </a:rPr>
              <a:t>“Who can see my numbers?”</a:t>
            </a:r>
            <a:endParaRPr lang="en-US" sz="1450" dirty="0"/>
          </a:p>
        </p:txBody>
      </p:sp>
      <p:sp>
        <p:nvSpPr>
          <p:cNvPr id="22" name="Text 20"/>
          <p:cNvSpPr txBox="1"/>
          <p:nvPr/>
        </p:nvSpPr>
        <p:spPr>
          <a:xfrm>
            <a:off x="6537960" y="5239512"/>
            <a:ext cx="4754880" cy="713232"/>
          </a:xfrm>
          <a:prstGeom prst="rect">
            <a:avLst/>
          </a:prstGeom>
          <a:noFill/>
          <a:ln/>
        </p:spPr>
        <p:txBody>
          <a:bodyPr wrap="square" lIns="0" tIns="0" rIns="0" bIns="0" rtlCol="0" anchor="ctr"/>
          <a:lstStyle/>
          <a:p>
            <a:pPr indent="0" marL="0">
              <a:lnSpc>
                <a:spcPct val="114000"/>
              </a:lnSpc>
              <a:buNone/>
            </a:pPr>
            <a:r>
              <a:rPr lang="en-US" sz="1200" dirty="0">
                <a:solidFill>
                  <a:srgbClr val="5C6B73"/>
                </a:solidFill>
                <a:latin typeface="Calibri" pitchFamily="34" charset="0"/>
                <a:ea typeface="Calibri" pitchFamily="34" charset="-122"/>
                <a:cs typeface="Calibri" pitchFamily="34" charset="-120"/>
              </a:rPr>
              <a:t>You, your manager, HR and audit. Exactly the same figures, on the same screen.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2F3C"/>
        </a:solidFill>
      </p:bgPr>
    </p:bg>
    <p:spTree>
      <p:nvGrpSpPr>
        <p:cNvPr id="1" name=""/>
        <p:cNvGrpSpPr/>
        <p:nvPr/>
      </p:nvGrpSpPr>
      <p:grpSpPr>
        <a:xfrm>
          <a:off x="0" y="0"/>
          <a:ext cx="0" cy="0"/>
          <a:chOff x="0" y="0"/>
          <a:chExt cx="0" cy="0"/>
        </a:xfrm>
      </p:grpSpPr>
      <p:sp>
        <p:nvSpPr>
          <p:cNvPr id="2" name="Shape 0"/>
          <p:cNvSpPr/>
          <p:nvPr/>
        </p:nvSpPr>
        <p:spPr>
          <a:xfrm>
            <a:off x="9144000" y="3840480"/>
            <a:ext cx="4754880" cy="4754880"/>
          </a:xfrm>
          <a:prstGeom prst="ellipse">
            <a:avLst/>
          </a:prstGeom>
          <a:solidFill>
            <a:srgbClr val="16455A"/>
          </a:solidFill>
          <a:ln w="12700">
            <a:solidFill>
              <a:srgbClr val="16455A"/>
            </a:solidFill>
            <a:prstDash val="solid"/>
          </a:ln>
        </p:spPr>
      </p:sp>
      <p:sp>
        <p:nvSpPr>
          <p:cNvPr id="3" name="Text 1"/>
          <p:cNvSpPr txBox="1"/>
          <p:nvPr/>
        </p:nvSpPr>
        <p:spPr>
          <a:xfrm>
            <a:off x="640080" y="1600200"/>
            <a:ext cx="822960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Questions</a:t>
            </a:r>
            <a:endParaRPr lang="en-US" sz="4400" dirty="0"/>
          </a:p>
        </p:txBody>
      </p:sp>
      <p:sp>
        <p:nvSpPr>
          <p:cNvPr id="4" name="Text 2"/>
          <p:cNvSpPr txBox="1"/>
          <p:nvPr/>
        </p:nvSpPr>
        <p:spPr>
          <a:xfrm>
            <a:off x="640080" y="2514600"/>
            <a:ext cx="8412480" cy="1188720"/>
          </a:xfrm>
          <a:prstGeom prst="rect">
            <a:avLst/>
          </a:prstGeom>
          <a:noFill/>
          <a:ln/>
        </p:spPr>
        <p:txBody>
          <a:bodyPr wrap="square" lIns="0" tIns="0" rIns="0" bIns="0" rtlCol="0" anchor="ctr"/>
          <a:lstStyle/>
          <a:p>
            <a:pPr indent="0" marL="0">
              <a:lnSpc>
                <a:spcPct val="130000"/>
              </a:lnSpc>
              <a:buNone/>
            </a:pPr>
            <a:r>
              <a:rPr lang="en-US" sz="1550" dirty="0">
                <a:solidFill>
                  <a:srgbClr val="A9C3CC"/>
                </a:solidFill>
                <a:latin typeface="Calibri" pitchFamily="34" charset="0"/>
                <a:ea typeface="Calibri" pitchFamily="34" charset="-122"/>
                <a:cs typeface="Calibri" pitchFamily="34" charset="-120"/>
              </a:rPr>
              <a:t>If you take one thing away: workPulse exists so that work is visible, so that</a:t>
            </a:r>
            <a:endParaRPr lang="en-US" sz="1550" dirty="0"/>
          </a:p>
          <a:p>
            <a:pPr indent="0" marL="0">
              <a:lnSpc>
                <a:spcPct val="130000"/>
              </a:lnSpc>
              <a:buNone/>
            </a:pPr>
            <a:r>
              <a:rPr lang="en-US" sz="1550" dirty="0">
                <a:solidFill>
                  <a:srgbClr val="A9C3CC"/>
                </a:solidFill>
                <a:latin typeface="Calibri" pitchFamily="34" charset="0"/>
                <a:ea typeface="Calibri" pitchFamily="34" charset="-122"/>
                <a:cs typeface="Calibri" pitchFamily="34" charset="-120"/>
              </a:rPr>
              <a:t>nobody is blamed for a delay that was never theirs, and so that what you do</a:t>
            </a:r>
            <a:endParaRPr lang="en-US" sz="1550" dirty="0"/>
          </a:p>
          <a:p>
            <a:pPr indent="0" marL="0">
              <a:lnSpc>
                <a:spcPct val="130000"/>
              </a:lnSpc>
              <a:buNone/>
            </a:pPr>
            <a:r>
              <a:rPr lang="en-US" sz="1550" dirty="0">
                <a:solidFill>
                  <a:srgbClr val="A9C3CC"/>
                </a:solidFill>
                <a:latin typeface="Calibri" pitchFamily="34" charset="0"/>
                <a:ea typeface="Calibri" pitchFamily="34" charset="-122"/>
                <a:cs typeface="Calibri" pitchFamily="34" charset="-120"/>
              </a:rPr>
              <a:t>is on the record when it matters.</a:t>
            </a:r>
            <a:endParaRPr lang="en-US" sz="1550" dirty="0"/>
          </a:p>
        </p:txBody>
      </p:sp>
      <p:sp>
        <p:nvSpPr>
          <p:cNvPr id="5" name="Shape 3"/>
          <p:cNvSpPr/>
          <p:nvPr/>
        </p:nvSpPr>
        <p:spPr>
          <a:xfrm>
            <a:off x="640080" y="4078224"/>
            <a:ext cx="365760" cy="365760"/>
          </a:xfrm>
          <a:prstGeom prst="ellipse">
            <a:avLst/>
          </a:prstGeom>
          <a:solidFill>
            <a:srgbClr val="D9822B"/>
          </a:solidFill>
          <a:ln w="12700">
            <a:solidFill>
              <a:srgbClr val="D9822B"/>
            </a:solidFill>
            <a:prstDash val="solid"/>
          </a:ln>
        </p:spPr>
      </p:sp>
      <p:sp>
        <p:nvSpPr>
          <p:cNvPr id="6" name="Text 4"/>
          <p:cNvSpPr txBox="1"/>
          <p:nvPr/>
        </p:nvSpPr>
        <p:spPr>
          <a:xfrm>
            <a:off x="1188720" y="4023360"/>
            <a:ext cx="49377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Your department's workPulse helper</a:t>
            </a:r>
            <a:endParaRPr lang="en-US" sz="1400" dirty="0"/>
          </a:p>
        </p:txBody>
      </p:sp>
      <p:sp>
        <p:nvSpPr>
          <p:cNvPr id="7" name="Text 5"/>
          <p:cNvSpPr txBox="1"/>
          <p:nvPr/>
        </p:nvSpPr>
        <p:spPr>
          <a:xfrm>
            <a:off x="1188720" y="4297680"/>
            <a:ext cx="6035040" cy="274320"/>
          </a:xfrm>
          <a:prstGeom prst="rect">
            <a:avLst/>
          </a:prstGeom>
          <a:noFill/>
          <a:ln/>
        </p:spPr>
        <p:txBody>
          <a:bodyPr wrap="square" lIns="0" tIns="0" rIns="0" bIns="0" rtlCol="0" anchor="ctr"/>
          <a:lstStyle/>
          <a:p>
            <a:pPr indent="0" marL="0">
              <a:buNone/>
            </a:pPr>
            <a:r>
              <a:rPr lang="en-US" sz="1200" dirty="0">
                <a:solidFill>
                  <a:srgbClr val="A9C3CC"/>
                </a:solidFill>
                <a:latin typeface="Calibri" pitchFamily="34" charset="0"/>
                <a:ea typeface="Calibri" pitchFamily="34" charset="-122"/>
                <a:cs typeface="Calibri" pitchFamily="34" charset="-120"/>
              </a:rPr>
              <a:t>Named before your team goes live.</a:t>
            </a:r>
            <a:endParaRPr lang="en-US" sz="1200" dirty="0"/>
          </a:p>
        </p:txBody>
      </p:sp>
      <p:sp>
        <p:nvSpPr>
          <p:cNvPr id="8" name="Shape 6"/>
          <p:cNvSpPr/>
          <p:nvPr/>
        </p:nvSpPr>
        <p:spPr>
          <a:xfrm>
            <a:off x="640080" y="4736592"/>
            <a:ext cx="365760" cy="365760"/>
          </a:xfrm>
          <a:prstGeom prst="ellipse">
            <a:avLst/>
          </a:prstGeom>
          <a:solidFill>
            <a:srgbClr val="D9822B"/>
          </a:solidFill>
          <a:ln w="12700">
            <a:solidFill>
              <a:srgbClr val="D9822B"/>
            </a:solidFill>
            <a:prstDash val="solid"/>
          </a:ln>
        </p:spPr>
      </p:sp>
      <p:sp>
        <p:nvSpPr>
          <p:cNvPr id="9" name="Text 7"/>
          <p:cNvSpPr txBox="1"/>
          <p:nvPr/>
        </p:nvSpPr>
        <p:spPr>
          <a:xfrm>
            <a:off x="1188720" y="4681728"/>
            <a:ext cx="49377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Product &amp; AI Office</a:t>
            </a:r>
            <a:endParaRPr lang="en-US" sz="1400" dirty="0"/>
          </a:p>
        </p:txBody>
      </p:sp>
      <p:sp>
        <p:nvSpPr>
          <p:cNvPr id="10" name="Text 8"/>
          <p:cNvSpPr txBox="1"/>
          <p:nvPr/>
        </p:nvSpPr>
        <p:spPr>
          <a:xfrm>
            <a:off x="1188720" y="4956048"/>
            <a:ext cx="6035040" cy="274320"/>
          </a:xfrm>
          <a:prstGeom prst="rect">
            <a:avLst/>
          </a:prstGeom>
          <a:noFill/>
          <a:ln/>
        </p:spPr>
        <p:txBody>
          <a:bodyPr wrap="square" lIns="0" tIns="0" rIns="0" bIns="0" rtlCol="0" anchor="ctr"/>
          <a:lstStyle/>
          <a:p>
            <a:pPr indent="0" marL="0">
              <a:buNone/>
            </a:pPr>
            <a:r>
              <a:rPr lang="en-US" sz="1200" dirty="0">
                <a:solidFill>
                  <a:srgbClr val="A9C3CC"/>
                </a:solidFill>
                <a:latin typeface="Calibri" pitchFamily="34" charset="0"/>
                <a:ea typeface="Calibri" pitchFamily="34" charset="-122"/>
                <a:cs typeface="Calibri" pitchFamily="34" charset="-120"/>
              </a:rPr>
              <a:t>For anything the helper cannot answer.</a:t>
            </a:r>
            <a:endParaRPr lang="en-US" sz="1200" dirty="0"/>
          </a:p>
        </p:txBody>
      </p:sp>
      <p:sp>
        <p:nvSpPr>
          <p:cNvPr id="11" name="Shape 9"/>
          <p:cNvSpPr/>
          <p:nvPr/>
        </p:nvSpPr>
        <p:spPr>
          <a:xfrm>
            <a:off x="640080" y="5394960"/>
            <a:ext cx="365760" cy="365760"/>
          </a:xfrm>
          <a:prstGeom prst="ellipse">
            <a:avLst/>
          </a:prstGeom>
          <a:solidFill>
            <a:srgbClr val="D9822B"/>
          </a:solidFill>
          <a:ln w="12700">
            <a:solidFill>
              <a:srgbClr val="D9822B"/>
            </a:solidFill>
            <a:prstDash val="solid"/>
          </a:ln>
        </p:spPr>
      </p:sp>
      <p:sp>
        <p:nvSpPr>
          <p:cNvPr id="12" name="Text 10"/>
          <p:cNvSpPr txBox="1"/>
          <p:nvPr/>
        </p:nvSpPr>
        <p:spPr>
          <a:xfrm>
            <a:off x="1188720" y="5340096"/>
            <a:ext cx="4937760"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Fairness concerns</a:t>
            </a:r>
            <a:endParaRPr lang="en-US" sz="1400" dirty="0"/>
          </a:p>
        </p:txBody>
      </p:sp>
      <p:sp>
        <p:nvSpPr>
          <p:cNvPr id="13" name="Text 11"/>
          <p:cNvSpPr txBox="1"/>
          <p:nvPr/>
        </p:nvSpPr>
        <p:spPr>
          <a:xfrm>
            <a:off x="1188720" y="5614416"/>
            <a:ext cx="6035040" cy="274320"/>
          </a:xfrm>
          <a:prstGeom prst="rect">
            <a:avLst/>
          </a:prstGeom>
          <a:noFill/>
          <a:ln/>
        </p:spPr>
        <p:txBody>
          <a:bodyPr wrap="square" lIns="0" tIns="0" rIns="0" bIns="0" rtlCol="0" anchor="ctr"/>
          <a:lstStyle/>
          <a:p>
            <a:pPr indent="0" marL="0">
              <a:buNone/>
            </a:pPr>
            <a:r>
              <a:rPr lang="en-US" sz="1200" dirty="0">
                <a:solidFill>
                  <a:srgbClr val="A9C3CC"/>
                </a:solidFill>
                <a:latin typeface="Calibri" pitchFamily="34" charset="0"/>
                <a:ea typeface="Calibri" pitchFamily="34" charset="-122"/>
                <a:cs typeface="Calibri" pitchFamily="34" charset="-120"/>
              </a:rPr>
              <a:t>Raise with HR or audit directly. That route is deliberate.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Shah Investors Home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workPulse — All-staff briefing</dc:title>
  <dc:subject>PptxGenJS Presentation</dc:subject>
  <dc:creator>Product &amp; AI Office, SIHL</dc:creator>
  <cp:lastModifiedBy>Product &amp; AI Office, SIHL</cp:lastModifiedBy>
  <cp:revision>1</cp:revision>
  <dcterms:created xsi:type="dcterms:W3CDTF">2026-09-15T06:42:31Z</dcterms:created>
  <dcterms:modified xsi:type="dcterms:W3CDTF">2026-09-15T06:42:31Z</dcterms:modified>
</cp:coreProperties>
</file>